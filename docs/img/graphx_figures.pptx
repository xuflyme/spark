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CAWF06GI797Q05BGRVRNRLJN7ZQMOYYREJ0XHJEEXGH8TDLT6DBRVCJAFYRTPB8RXSM69OL9ZH578LJJQOFTQF8C8RZ0WMLB8OOD0HB3DCB44373B4BCBA91F6B313D5A6A6DEFF" Type="http://schemas.microsoft.com/office/2006/relationships/officeDocumentMain" Target="NULL"/><Relationship Id="CQWMG6BT797Q00HGQPRNILJN7NZMOSGR9X0XXJDAXGORTQWT6DBRVCJFFYSTP8RRBNMXEOLKZIXD8LNJQOFT6FFN8RNMWIWBAFOOPHB3972E82285FC9D6906E02EAB3BD27F056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160" d="100"/>
          <a:sy n="160" d="100"/>
        </p:scale>
        <p:origin x="-880" y="-96"/>
      </p:cViewPr>
      <p:guideLst>
        <p:guide orient="horz" pos="18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4482270598528"/>
          <c:y val="0.163015709206175"/>
          <c:w val="0.692629689671144"/>
          <c:h val="0.50512763406302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dLbl>
              <c:idx val="1"/>
              <c:layout>
                <c:manualLayout>
                  <c:x val="0.0996732026143791"/>
                  <c:y val="-0.004111421203002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357843137254902"/>
                  <c:y val="0.01261301525188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GraphLab + Spark</c:v>
                </c:pt>
                <c:pt idx="1">
                  <c:v>GraphX</c:v>
                </c:pt>
                <c:pt idx="2">
                  <c:v>Giraph + Spark</c:v>
                </c:pt>
                <c:pt idx="3">
                  <c:v>Naïve Spark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1">
                  <c:v>342.0</c:v>
                </c:pt>
                <c:pt idx="3">
                  <c:v>1492.0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GraphLab + Spark</c:v>
                </c:pt>
                <c:pt idx="1">
                  <c:v>GraphX</c:v>
                </c:pt>
                <c:pt idx="2">
                  <c:v>Giraph + Spark</c:v>
                </c:pt>
                <c:pt idx="3">
                  <c:v>Naïve Spark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315.0</c:v>
                </c:pt>
                <c:pt idx="2">
                  <c:v>315.0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Cmpute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100000"/>
                    <a:shade val="100000"/>
                    <a:satMod val="13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GraphLab + Spark</c:v>
                </c:pt>
                <c:pt idx="1">
                  <c:v>GraphX</c:v>
                </c:pt>
                <c:pt idx="2">
                  <c:v>Giraph + Spark</c:v>
                </c:pt>
                <c:pt idx="3">
                  <c:v>Naïve Spark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43.0</c:v>
                </c:pt>
                <c:pt idx="2">
                  <c:v>275.0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Summarize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GraphLab + Spark</c:v>
                </c:pt>
                <c:pt idx="1">
                  <c:v>GraphX</c:v>
                </c:pt>
                <c:pt idx="2">
                  <c:v>Giraph + Spark</c:v>
                </c:pt>
                <c:pt idx="3">
                  <c:v>Naïve Spark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17.0</c:v>
                </c:pt>
                <c:pt idx="2">
                  <c:v>17.0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-2070089768"/>
        <c:axId val="-2070086552"/>
      </c:barChart>
      <c:catAx>
        <c:axId val="-2070089768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-2070086552"/>
        <c:crosses val="autoZero"/>
        <c:auto val="1"/>
        <c:lblAlgn val="ctr"/>
        <c:lblOffset val="100"/>
        <c:noMultiLvlLbl val="0"/>
      </c:catAx>
      <c:valAx>
        <c:axId val="-207008655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Total Runtime (in Seconds)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343091194483042"/>
              <c:y val="0.8144052203458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700"/>
            </a:pPr>
            <a:endParaRPr lang="en-US"/>
          </a:p>
        </c:txPr>
        <c:crossAx val="-2070089768"/>
        <c:crosses val="autoZero"/>
        <c:crossBetween val="between"/>
        <c:majorUnit val="200.0"/>
        <c:minorUnit val="20.0"/>
      </c:valAx>
    </c:plotArea>
    <c:plotVisOnly val="1"/>
    <c:dispBlanksAs val="gap"/>
    <c:showDLblsOverMax val="0"/>
  </c:chart>
  <c:txPr>
    <a:bodyPr/>
    <a:lstStyle/>
    <a:p>
      <a:pPr>
        <a:defRPr sz="1800">
          <a:latin typeface="Gill Sans Light"/>
          <a:cs typeface="Gill Sans Ligh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1E048-4332-8C4A-AAA6-85670467F3CA}" type="datetimeFigureOut">
              <a:rPr lang="en-US" smtClean="0"/>
              <a:t>1/10/14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3A3AE-A197-6E41-940C-D7CD5B898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6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3A3AE-A197-6E41-940C-D7CD5B8989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0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2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28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3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6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5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1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1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5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1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553E7-0457-2943-A953-90EB1F894CB3}" type="datetimeFigureOut">
              <a:rPr lang="en-US" smtClean="0"/>
              <a:t>1/10/14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0991-1E27-FB41-8FB1-6FDA01E7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0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86399" y="971490"/>
            <a:ext cx="4881009" cy="5091629"/>
            <a:chOff x="286399" y="971490"/>
            <a:chExt cx="4881009" cy="5091629"/>
          </a:xfrm>
        </p:grpSpPr>
        <p:sp>
          <p:nvSpPr>
            <p:cNvPr id="5" name="Rectangle 4"/>
            <p:cNvSpPr/>
            <p:nvPr/>
          </p:nvSpPr>
          <p:spPr>
            <a:xfrm>
              <a:off x="304800" y="1295401"/>
              <a:ext cx="4862608" cy="476771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6399" y="971490"/>
              <a:ext cx="15824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Gill Sans Light"/>
                  <a:cs typeface="Gill Sans Light"/>
                </a:rPr>
                <a:t>Preprocessing</a:t>
              </a:r>
              <a:endParaRPr lang="en-US" sz="2000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167408" y="971490"/>
            <a:ext cx="1919192" cy="5091629"/>
            <a:chOff x="5167408" y="971490"/>
            <a:chExt cx="1919192" cy="5091629"/>
          </a:xfrm>
        </p:grpSpPr>
        <p:sp>
          <p:nvSpPr>
            <p:cNvPr id="8" name="Rectangle 7"/>
            <p:cNvSpPr/>
            <p:nvPr/>
          </p:nvSpPr>
          <p:spPr>
            <a:xfrm>
              <a:off x="5181601" y="1295401"/>
              <a:ext cx="1904999" cy="4767718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67408" y="971490"/>
              <a:ext cx="1151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Gill Sans Light"/>
                  <a:cs typeface="Gill Sans Light"/>
                </a:rPr>
                <a:t>Compute</a:t>
              </a:r>
              <a:endParaRPr lang="en-US" sz="2000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086656" y="971490"/>
            <a:ext cx="1828744" cy="5091628"/>
            <a:chOff x="7086656" y="971490"/>
            <a:chExt cx="1828744" cy="5091628"/>
          </a:xfrm>
        </p:grpSpPr>
        <p:sp>
          <p:nvSpPr>
            <p:cNvPr id="11" name="Rectangle 10"/>
            <p:cNvSpPr/>
            <p:nvPr/>
          </p:nvSpPr>
          <p:spPr>
            <a:xfrm>
              <a:off x="7086656" y="1295400"/>
              <a:ext cx="1828744" cy="476771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11205" y="971490"/>
              <a:ext cx="11949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Gill Sans Light"/>
                  <a:cs typeface="Gill Sans Light"/>
                </a:rPr>
                <a:t>Post Proc.</a:t>
              </a:r>
              <a:endParaRPr lang="en-US" sz="2000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3540" y="2519906"/>
            <a:ext cx="1166725" cy="1166725"/>
            <a:chOff x="2152952" y="1572381"/>
            <a:chExt cx="1562705" cy="1562705"/>
          </a:xfrm>
        </p:grpSpPr>
        <p:sp>
          <p:nvSpPr>
            <p:cNvPr id="14" name="Folded Corner 13"/>
            <p:cNvSpPr/>
            <p:nvPr/>
          </p:nvSpPr>
          <p:spPr>
            <a:xfrm>
              <a:off x="2152952" y="1572381"/>
              <a:ext cx="1257905" cy="1257905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&lt; / &gt;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15" name="Folded Corner 14"/>
            <p:cNvSpPr/>
            <p:nvPr/>
          </p:nvSpPr>
          <p:spPr>
            <a:xfrm>
              <a:off x="2305352" y="1724781"/>
              <a:ext cx="1257905" cy="1257905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&lt; / &gt;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16" name="Folded Corner 15"/>
            <p:cNvSpPr/>
            <p:nvPr/>
          </p:nvSpPr>
          <p:spPr>
            <a:xfrm>
              <a:off x="2457752" y="1877181"/>
              <a:ext cx="1257905" cy="1257905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&lt; / &gt;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57751" y="2732133"/>
              <a:ext cx="953105" cy="39085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Helvetica"/>
                  <a:cs typeface="Helvetica"/>
                </a:rPr>
                <a:t>XML</a:t>
              </a:r>
              <a:endParaRPr lang="en-US" sz="1400" dirty="0">
                <a:latin typeface="Helvetica"/>
                <a:cs typeface="Helvetica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33400" y="4071501"/>
            <a:ext cx="9625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latin typeface="Gill Sans Light"/>
                <a:cs typeface="Gill Sans Light"/>
              </a:rPr>
              <a:t>Raw</a:t>
            </a:r>
          </a:p>
          <a:p>
            <a:pPr algn="ctr"/>
            <a:r>
              <a:rPr lang="en-US" sz="3200" dirty="0" smtClean="0">
                <a:latin typeface="Gill Sans Light"/>
                <a:cs typeface="Gill Sans Light"/>
              </a:rPr>
              <a:t>Data</a:t>
            </a:r>
            <a:endParaRPr lang="en-US" sz="3200" dirty="0">
              <a:latin typeface="Gill Sans Light"/>
              <a:cs typeface="Gill Sans Light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741453" y="4153821"/>
            <a:ext cx="1564586" cy="9136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ETL</a:t>
            </a:r>
            <a:endParaRPr lang="en-US" sz="2800" dirty="0">
              <a:latin typeface="Gill Sans Light"/>
              <a:cs typeface="Gill Sans Light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341652" y="4158857"/>
            <a:ext cx="1825756" cy="9136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Slice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67408" y="4158857"/>
            <a:ext cx="1908044" cy="9136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Compute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935459" y="4615318"/>
            <a:ext cx="5816390" cy="2093165"/>
            <a:chOff x="2783059" y="4724399"/>
            <a:chExt cx="5816390" cy="2093165"/>
          </a:xfrm>
        </p:grpSpPr>
        <p:sp>
          <p:nvSpPr>
            <p:cNvPr id="23" name="U-Turn Arrow 22"/>
            <p:cNvSpPr/>
            <p:nvPr/>
          </p:nvSpPr>
          <p:spPr>
            <a:xfrm flipH="1" flipV="1">
              <a:off x="2783059" y="4724399"/>
              <a:ext cx="5816390" cy="2093165"/>
            </a:xfrm>
            <a:prstGeom prst="uturnArrow">
              <a:avLst>
                <a:gd name="adj1" fmla="val 21765"/>
                <a:gd name="adj2" fmla="val 19328"/>
                <a:gd name="adj3" fmla="val 21759"/>
                <a:gd name="adj4" fmla="val 25836"/>
                <a:gd name="adj5" fmla="val 47255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endParaRPr lang="en-US" sz="2800" dirty="0">
                <a:latin typeface="Gill Sans Light"/>
                <a:cs typeface="Gill Sans Ligh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105400" y="6319441"/>
              <a:ext cx="1179129" cy="4756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800" dirty="0" smtClean="0">
                  <a:solidFill>
                    <a:prstClr val="white"/>
                  </a:solidFill>
                  <a:latin typeface="Gill Sans Light"/>
                  <a:ea typeface="+mn-ea"/>
                  <a:cs typeface="Gill Sans Light"/>
                </a:rPr>
                <a:t>Repeat</a:t>
              </a:r>
              <a:endParaRPr lang="en-US" sz="2800" dirty="0">
                <a:solidFill>
                  <a:prstClr val="white"/>
                </a:solidFill>
                <a:latin typeface="Gill Sans Light"/>
                <a:ea typeface="+mn-ea"/>
                <a:cs typeface="Gill Sans Light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512253" y="1371601"/>
            <a:ext cx="1658199" cy="4377574"/>
            <a:chOff x="3359853" y="947282"/>
            <a:chExt cx="1658199" cy="4377574"/>
          </a:xfrm>
        </p:grpSpPr>
        <p:grpSp>
          <p:nvGrpSpPr>
            <p:cNvPr id="26" name="Group 25"/>
            <p:cNvGrpSpPr/>
            <p:nvPr/>
          </p:nvGrpSpPr>
          <p:grpSpPr>
            <a:xfrm>
              <a:off x="3408116" y="1848589"/>
              <a:ext cx="1305136" cy="1660721"/>
              <a:chOff x="6490911" y="2213026"/>
              <a:chExt cx="1361000" cy="1731805"/>
            </a:xfrm>
          </p:grpSpPr>
          <p:cxnSp>
            <p:nvCxnSpPr>
              <p:cNvPr id="30" name="Straight Connector 29"/>
              <p:cNvCxnSpPr>
                <a:stCxn id="36" idx="5"/>
                <a:endCxn id="37" idx="1"/>
              </p:cNvCxnSpPr>
              <p:nvPr/>
            </p:nvCxnSpPr>
            <p:spPr>
              <a:xfrm>
                <a:off x="7160342" y="2912117"/>
                <a:ext cx="132322" cy="2138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38" idx="3"/>
                <a:endCxn id="37" idx="7"/>
              </p:cNvCxnSpPr>
              <p:nvPr/>
            </p:nvCxnSpPr>
            <p:spPr>
              <a:xfrm flipH="1">
                <a:off x="7453644" y="2961614"/>
                <a:ext cx="203949" cy="16435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40" idx="1"/>
                <a:endCxn id="37" idx="5"/>
              </p:cNvCxnSpPr>
              <p:nvPr/>
            </p:nvCxnSpPr>
            <p:spPr>
              <a:xfrm flipH="1" flipV="1">
                <a:off x="7453643" y="3286943"/>
                <a:ext cx="123461" cy="4635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35" idx="5"/>
                <a:endCxn id="39" idx="1"/>
              </p:cNvCxnSpPr>
              <p:nvPr/>
            </p:nvCxnSpPr>
            <p:spPr>
              <a:xfrm>
                <a:off x="6685229" y="3139774"/>
                <a:ext cx="275846" cy="35737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37" idx="3"/>
                <a:endCxn id="39" idx="7"/>
              </p:cNvCxnSpPr>
              <p:nvPr/>
            </p:nvCxnSpPr>
            <p:spPr>
              <a:xfrm flipH="1">
                <a:off x="7122053" y="3286943"/>
                <a:ext cx="170612" cy="2102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Oval 34"/>
              <p:cNvSpPr/>
              <p:nvPr/>
            </p:nvSpPr>
            <p:spPr>
              <a:xfrm>
                <a:off x="6490911" y="2945456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966024" y="2717798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7259325" y="3092625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624253" y="2767295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6927735" y="3463807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543764" y="3717173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7160342" y="2213026"/>
                <a:ext cx="227658" cy="22765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42" name="Straight Connector 41"/>
              <p:cNvCxnSpPr>
                <a:stCxn id="41" idx="5"/>
                <a:endCxn id="38" idx="1"/>
              </p:cNvCxnSpPr>
              <p:nvPr/>
            </p:nvCxnSpPr>
            <p:spPr>
              <a:xfrm>
                <a:off x="7354660" y="2407344"/>
                <a:ext cx="302933" cy="39329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39" idx="6"/>
                <a:endCxn id="40" idx="2"/>
              </p:cNvCxnSpPr>
              <p:nvPr/>
            </p:nvCxnSpPr>
            <p:spPr>
              <a:xfrm>
                <a:off x="7155393" y="3577636"/>
                <a:ext cx="388371" cy="25336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/>
            <p:cNvSpPr txBox="1"/>
            <p:nvPr/>
          </p:nvSpPr>
          <p:spPr>
            <a:xfrm>
              <a:off x="3359853" y="4561582"/>
              <a:ext cx="15062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 smtClean="0">
                  <a:latin typeface="Gill Sans Light"/>
                  <a:cs typeface="Gill Sans Light"/>
                </a:rPr>
                <a:t>Subgraph</a:t>
              </a:r>
              <a:endParaRPr lang="en-US" sz="2800" dirty="0">
                <a:latin typeface="Gill Sans Light"/>
                <a:cs typeface="Gill Sans Light"/>
              </a:endParaRPr>
            </a:p>
          </p:txBody>
        </p:sp>
        <p:cxnSp>
          <p:nvCxnSpPr>
            <p:cNvPr id="28" name="Straight Connector 27"/>
            <p:cNvCxnSpPr/>
            <p:nvPr/>
          </p:nvCxnSpPr>
          <p:spPr>
            <a:xfrm flipV="1">
              <a:off x="5018052" y="1676400"/>
              <a:ext cx="0" cy="36484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98535" y="947282"/>
              <a:ext cx="797265" cy="805318"/>
            </a:xfrm>
            <a:prstGeom prst="rect">
              <a:avLst/>
            </a:prstGeom>
          </p:spPr>
        </p:pic>
      </p:grpSp>
      <p:grpSp>
        <p:nvGrpSpPr>
          <p:cNvPr id="44" name="Group 43"/>
          <p:cNvGrpSpPr/>
          <p:nvPr/>
        </p:nvGrpSpPr>
        <p:grpSpPr>
          <a:xfrm>
            <a:off x="5181600" y="1385557"/>
            <a:ext cx="1954778" cy="4363618"/>
            <a:chOff x="5029200" y="961237"/>
            <a:chExt cx="1954778" cy="4363619"/>
          </a:xfrm>
        </p:grpSpPr>
        <p:grpSp>
          <p:nvGrpSpPr>
            <p:cNvPr id="45" name="Group 44"/>
            <p:cNvGrpSpPr/>
            <p:nvPr/>
          </p:nvGrpSpPr>
          <p:grpSpPr>
            <a:xfrm>
              <a:off x="5324264" y="1848589"/>
              <a:ext cx="1305136" cy="1660721"/>
              <a:chOff x="6490911" y="2213026"/>
              <a:chExt cx="1361000" cy="1731805"/>
            </a:xfrm>
          </p:grpSpPr>
          <p:cxnSp>
            <p:nvCxnSpPr>
              <p:cNvPr id="49" name="Straight Connector 48"/>
              <p:cNvCxnSpPr>
                <a:stCxn id="55" idx="5"/>
                <a:endCxn id="56" idx="1"/>
              </p:cNvCxnSpPr>
              <p:nvPr/>
            </p:nvCxnSpPr>
            <p:spPr>
              <a:xfrm>
                <a:off x="7160342" y="2912117"/>
                <a:ext cx="132322" cy="2138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>
                <a:stCxn id="57" idx="3"/>
                <a:endCxn id="56" idx="7"/>
              </p:cNvCxnSpPr>
              <p:nvPr/>
            </p:nvCxnSpPr>
            <p:spPr>
              <a:xfrm flipH="1">
                <a:off x="7453644" y="2961614"/>
                <a:ext cx="203949" cy="16435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>
                <a:stCxn id="59" idx="1"/>
                <a:endCxn id="56" idx="5"/>
              </p:cNvCxnSpPr>
              <p:nvPr/>
            </p:nvCxnSpPr>
            <p:spPr>
              <a:xfrm flipH="1" flipV="1">
                <a:off x="7453643" y="3286943"/>
                <a:ext cx="123461" cy="4635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4" idx="5"/>
                <a:endCxn id="58" idx="1"/>
              </p:cNvCxnSpPr>
              <p:nvPr/>
            </p:nvCxnSpPr>
            <p:spPr>
              <a:xfrm>
                <a:off x="6685229" y="3139774"/>
                <a:ext cx="275846" cy="35737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>
                <a:stCxn id="56" idx="3"/>
                <a:endCxn id="58" idx="7"/>
              </p:cNvCxnSpPr>
              <p:nvPr/>
            </p:nvCxnSpPr>
            <p:spPr>
              <a:xfrm flipH="1">
                <a:off x="7122053" y="3286943"/>
                <a:ext cx="170612" cy="2102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Oval 53"/>
              <p:cNvSpPr/>
              <p:nvPr/>
            </p:nvSpPr>
            <p:spPr>
              <a:xfrm>
                <a:off x="6490911" y="2945456"/>
                <a:ext cx="227658" cy="22765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6966024" y="2717798"/>
                <a:ext cx="227658" cy="22765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7259325" y="3092625"/>
                <a:ext cx="227658" cy="22765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7624253" y="2767295"/>
                <a:ext cx="227658" cy="22765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6927735" y="3463807"/>
                <a:ext cx="227658" cy="22765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7543764" y="3717173"/>
                <a:ext cx="227658" cy="22765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7160342" y="2213026"/>
                <a:ext cx="227658" cy="22765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61" name="Straight Connector 60"/>
              <p:cNvCxnSpPr>
                <a:stCxn id="60" idx="5"/>
                <a:endCxn id="57" idx="1"/>
              </p:cNvCxnSpPr>
              <p:nvPr/>
            </p:nvCxnSpPr>
            <p:spPr>
              <a:xfrm>
                <a:off x="7354660" y="2407344"/>
                <a:ext cx="302933" cy="39329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stCxn id="58" idx="6"/>
                <a:endCxn id="59" idx="2"/>
              </p:cNvCxnSpPr>
              <p:nvPr/>
            </p:nvCxnSpPr>
            <p:spPr>
              <a:xfrm>
                <a:off x="7155393" y="3577636"/>
                <a:ext cx="388371" cy="25336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5190432" y="4561582"/>
              <a:ext cx="15440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PageRank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6923052" y="1676400"/>
              <a:ext cx="0" cy="36484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0" y="961237"/>
              <a:ext cx="1954778" cy="715163"/>
            </a:xfrm>
            <a:prstGeom prst="rect">
              <a:avLst/>
            </a:prstGeom>
          </p:spPr>
        </p:pic>
      </p:grpSp>
      <p:grpSp>
        <p:nvGrpSpPr>
          <p:cNvPr id="63" name="Group 62"/>
          <p:cNvGrpSpPr/>
          <p:nvPr/>
        </p:nvGrpSpPr>
        <p:grpSpPr>
          <a:xfrm>
            <a:off x="1741452" y="1371601"/>
            <a:ext cx="1600200" cy="4568407"/>
            <a:chOff x="1589052" y="947282"/>
            <a:chExt cx="1600200" cy="4568407"/>
          </a:xfrm>
        </p:grpSpPr>
        <p:sp>
          <p:nvSpPr>
            <p:cNvPr id="64" name="TextBox 63"/>
            <p:cNvSpPr txBox="1"/>
            <p:nvPr/>
          </p:nvSpPr>
          <p:spPr>
            <a:xfrm>
              <a:off x="1805672" y="4561582"/>
              <a:ext cx="108375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Initial </a:t>
              </a:r>
            </a:p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Graph</a:t>
              </a:r>
              <a:endParaRPr lang="en-US" sz="2800" dirty="0">
                <a:latin typeface="Gill Sans Light"/>
                <a:cs typeface="Gill Sans Light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741452" y="1848589"/>
              <a:ext cx="1339701" cy="1660721"/>
              <a:chOff x="2013099" y="2147633"/>
              <a:chExt cx="1339701" cy="1660721"/>
            </a:xfrm>
          </p:grpSpPr>
          <p:cxnSp>
            <p:nvCxnSpPr>
              <p:cNvPr id="69" name="Straight Connector 68"/>
              <p:cNvCxnSpPr>
                <a:stCxn id="77" idx="5"/>
                <a:endCxn id="78" idx="1"/>
              </p:cNvCxnSpPr>
              <p:nvPr/>
            </p:nvCxnSpPr>
            <p:spPr>
              <a:xfrm>
                <a:off x="2655052" y="2818029"/>
                <a:ext cx="126891" cy="2050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79" idx="3"/>
                <a:endCxn id="78" idx="7"/>
              </p:cNvCxnSpPr>
              <p:nvPr/>
            </p:nvCxnSpPr>
            <p:spPr>
              <a:xfrm flipH="1">
                <a:off x="2936315" y="2865494"/>
                <a:ext cx="195578" cy="15760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>
                <a:stCxn id="81" idx="1"/>
                <a:endCxn id="78" idx="5"/>
              </p:cNvCxnSpPr>
              <p:nvPr/>
            </p:nvCxnSpPr>
            <p:spPr>
              <a:xfrm flipH="1" flipV="1">
                <a:off x="2936314" y="3177470"/>
                <a:ext cx="118393" cy="444542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>
                <a:stCxn id="77" idx="4"/>
                <a:endCxn id="80" idx="0"/>
              </p:cNvCxnSpPr>
              <p:nvPr/>
            </p:nvCxnSpPr>
            <p:spPr>
              <a:xfrm flipH="1">
                <a:off x="2541151" y="2850000"/>
                <a:ext cx="36716" cy="49707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76" idx="5"/>
                <a:endCxn id="80" idx="1"/>
              </p:cNvCxnSpPr>
              <p:nvPr/>
            </p:nvCxnSpPr>
            <p:spPr>
              <a:xfrm>
                <a:off x="2199441" y="3036342"/>
                <a:ext cx="264524" cy="3427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stCxn id="77" idx="2"/>
                <a:endCxn id="76" idx="7"/>
              </p:cNvCxnSpPr>
              <p:nvPr/>
            </p:nvCxnSpPr>
            <p:spPr>
              <a:xfrm flipH="1">
                <a:off x="2199442" y="2740843"/>
                <a:ext cx="269268" cy="14112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>
                <a:stCxn id="78" idx="3"/>
                <a:endCxn id="80" idx="7"/>
              </p:cNvCxnSpPr>
              <p:nvPr/>
            </p:nvCxnSpPr>
            <p:spPr>
              <a:xfrm flipH="1">
                <a:off x="2618335" y="3177470"/>
                <a:ext cx="163609" cy="20157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Oval 75"/>
              <p:cNvSpPr/>
              <p:nvPr/>
            </p:nvSpPr>
            <p:spPr>
              <a:xfrm>
                <a:off x="2013099" y="2850000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2468710" y="263168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2749972" y="2991128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099922" y="2679151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431993" y="3347074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22736" y="3590040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655052" y="2147633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83" name="Straight Connector 82"/>
              <p:cNvCxnSpPr>
                <a:stCxn id="82" idx="3"/>
                <a:endCxn id="77" idx="0"/>
              </p:cNvCxnSpPr>
              <p:nvPr/>
            </p:nvCxnSpPr>
            <p:spPr>
              <a:xfrm flipH="1">
                <a:off x="2577867" y="2333975"/>
                <a:ext cx="109157" cy="29771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>
                <a:stCxn id="82" idx="5"/>
                <a:endCxn id="79" idx="1"/>
              </p:cNvCxnSpPr>
              <p:nvPr/>
            </p:nvCxnSpPr>
            <p:spPr>
              <a:xfrm>
                <a:off x="2841394" y="2333975"/>
                <a:ext cx="290499" cy="3771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>
                <a:stCxn id="80" idx="6"/>
                <a:endCxn id="81" idx="2"/>
              </p:cNvCxnSpPr>
              <p:nvPr/>
            </p:nvCxnSpPr>
            <p:spPr>
              <a:xfrm>
                <a:off x="2650306" y="3456231"/>
                <a:ext cx="372430" cy="24296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6" name="Oval 85"/>
              <p:cNvSpPr/>
              <p:nvPr/>
            </p:nvSpPr>
            <p:spPr>
              <a:xfrm>
                <a:off x="3134487" y="309666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2122255" y="2224818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88" name="Straight Connector 87"/>
              <p:cNvCxnSpPr>
                <a:stCxn id="87" idx="6"/>
                <a:endCxn id="79" idx="2"/>
              </p:cNvCxnSpPr>
              <p:nvPr/>
            </p:nvCxnSpPr>
            <p:spPr>
              <a:xfrm>
                <a:off x="2340568" y="2333975"/>
                <a:ext cx="759354" cy="45433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>
                <a:stCxn id="79" idx="4"/>
                <a:endCxn id="86" idx="0"/>
              </p:cNvCxnSpPr>
              <p:nvPr/>
            </p:nvCxnSpPr>
            <p:spPr>
              <a:xfrm>
                <a:off x="3209079" y="2897465"/>
                <a:ext cx="34565" cy="19920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>
                <a:stCxn id="87" idx="3"/>
                <a:endCxn id="76" idx="1"/>
              </p:cNvCxnSpPr>
              <p:nvPr/>
            </p:nvCxnSpPr>
            <p:spPr>
              <a:xfrm flipH="1">
                <a:off x="2045070" y="2411161"/>
                <a:ext cx="109156" cy="47081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>
                <a:stCxn id="87" idx="5"/>
                <a:endCxn id="77" idx="1"/>
              </p:cNvCxnSpPr>
              <p:nvPr/>
            </p:nvCxnSpPr>
            <p:spPr>
              <a:xfrm>
                <a:off x="2308597" y="2411161"/>
                <a:ext cx="192084" cy="25249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Straight Connector 65"/>
            <p:cNvCxnSpPr/>
            <p:nvPr/>
          </p:nvCxnSpPr>
          <p:spPr>
            <a:xfrm flipV="1">
              <a:off x="1589052" y="1676400"/>
              <a:ext cx="0" cy="36484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3189252" y="1676400"/>
              <a:ext cx="0" cy="36484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07781" y="947282"/>
              <a:ext cx="797265" cy="805318"/>
            </a:xfrm>
            <a:prstGeom prst="rect">
              <a:avLst/>
            </a:prstGeom>
          </p:spPr>
        </p:pic>
      </p:grpSp>
      <p:sp>
        <p:nvSpPr>
          <p:cNvPr id="92" name="Right Arrow 91"/>
          <p:cNvSpPr/>
          <p:nvPr/>
        </p:nvSpPr>
        <p:spPr>
          <a:xfrm>
            <a:off x="7086656" y="4153821"/>
            <a:ext cx="1665196" cy="9136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Analyze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7220721" y="1447801"/>
            <a:ext cx="1323989" cy="4492207"/>
            <a:chOff x="7068321" y="1023482"/>
            <a:chExt cx="1323989" cy="4492207"/>
          </a:xfrm>
        </p:grpSpPr>
        <p:grpSp>
          <p:nvGrpSpPr>
            <p:cNvPr id="94" name="Group 93"/>
            <p:cNvGrpSpPr/>
            <p:nvPr/>
          </p:nvGrpSpPr>
          <p:grpSpPr>
            <a:xfrm>
              <a:off x="7151652" y="1896320"/>
              <a:ext cx="1240658" cy="1565259"/>
              <a:chOff x="4673759" y="4955940"/>
              <a:chExt cx="1563771" cy="1565259"/>
            </a:xfrm>
          </p:grpSpPr>
          <p:sp>
            <p:nvSpPr>
              <p:cNvPr id="97" name="Folded Corner 96"/>
              <p:cNvSpPr/>
              <p:nvPr/>
            </p:nvSpPr>
            <p:spPr>
              <a:xfrm>
                <a:off x="4673759" y="4957428"/>
                <a:ext cx="1563771" cy="1563771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/>
              <p:cNvCxnSpPr/>
              <p:nvPr/>
            </p:nvCxnSpPr>
            <p:spPr>
              <a:xfrm>
                <a:off x="4673759" y="5519259"/>
                <a:ext cx="15637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4673759" y="5821083"/>
                <a:ext cx="15637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4673759" y="6122907"/>
                <a:ext cx="156377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/>
              <p:cNvSpPr/>
              <p:nvPr/>
            </p:nvSpPr>
            <p:spPr>
              <a:xfrm>
                <a:off x="4673759" y="4955940"/>
                <a:ext cx="1563771" cy="33620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Connector 101"/>
              <p:cNvCxnSpPr/>
              <p:nvPr/>
            </p:nvCxnSpPr>
            <p:spPr>
              <a:xfrm flipV="1">
                <a:off x="5167336" y="4957428"/>
                <a:ext cx="0" cy="15637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flipV="1">
                <a:off x="5755521" y="4957428"/>
                <a:ext cx="0" cy="156377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/>
            <p:cNvSpPr txBox="1"/>
            <p:nvPr/>
          </p:nvSpPr>
          <p:spPr>
            <a:xfrm>
              <a:off x="7068321" y="4561582"/>
              <a:ext cx="99556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Top</a:t>
              </a:r>
            </a:p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Users</a:t>
              </a:r>
            </a:p>
          </p:txBody>
        </p:sp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297850" y="1023482"/>
              <a:ext cx="837273" cy="803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9338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9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990600" y="3068985"/>
            <a:ext cx="2246167" cy="1600200"/>
            <a:chOff x="1335233" y="2971800"/>
            <a:chExt cx="2246167" cy="1600200"/>
          </a:xfrm>
        </p:grpSpPr>
        <p:grpSp>
          <p:nvGrpSpPr>
            <p:cNvPr id="3" name="Group 2"/>
            <p:cNvGrpSpPr/>
            <p:nvPr/>
          </p:nvGrpSpPr>
          <p:grpSpPr>
            <a:xfrm>
              <a:off x="1335233" y="3050051"/>
              <a:ext cx="1273220" cy="1447800"/>
              <a:chOff x="6748405" y="2362200"/>
              <a:chExt cx="1273220" cy="1447800"/>
            </a:xfrm>
          </p:grpSpPr>
          <p:sp>
            <p:nvSpPr>
              <p:cNvPr id="16" name="Folded Corner 15"/>
              <p:cNvSpPr/>
              <p:nvPr/>
            </p:nvSpPr>
            <p:spPr>
              <a:xfrm>
                <a:off x="6749847" y="2362200"/>
                <a:ext cx="1271778" cy="1447800"/>
              </a:xfrm>
              <a:prstGeom prst="foldedCorner">
                <a:avLst>
                  <a:gd name="adj" fmla="val 13340"/>
                </a:avLst>
              </a:prstGeom>
              <a:solidFill>
                <a:sysClr val="window" lastClr="FFFFFF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749848" y="2798119"/>
                <a:ext cx="331619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081467" y="2798119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394853" y="2798119"/>
                <a:ext cx="313386" cy="254951"/>
              </a:xfrm>
              <a:prstGeom prst="rect">
                <a:avLst/>
              </a:prstGeom>
              <a:solidFill>
                <a:srgbClr val="FF0000"/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708239" y="2798119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748405" y="2537530"/>
                <a:ext cx="331619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7080024" y="2537530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7393410" y="2537530"/>
                <a:ext cx="313386" cy="254951"/>
              </a:xfrm>
              <a:prstGeom prst="rect">
                <a:avLst/>
              </a:prstGeom>
              <a:solidFill>
                <a:srgbClr val="F79646"/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7706796" y="2537530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748405" y="3044579"/>
                <a:ext cx="331619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080024" y="3044579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393410" y="3044579"/>
                <a:ext cx="313386" cy="254951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706796" y="3044579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749848" y="3291834"/>
                <a:ext cx="331619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081467" y="3291834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7394853" y="3291834"/>
                <a:ext cx="313386" cy="254951"/>
              </a:xfrm>
              <a:prstGeom prst="rect">
                <a:avLst/>
              </a:prstGeom>
              <a:solidFill>
                <a:srgbClr val="FC9A99"/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7708239" y="3291834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748405" y="3555049"/>
                <a:ext cx="331619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7080024" y="3555049"/>
                <a:ext cx="313386" cy="254951"/>
              </a:xfrm>
              <a:prstGeom prst="rect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393410" y="3555049"/>
                <a:ext cx="313386" cy="254951"/>
              </a:xfrm>
              <a:prstGeom prst="rect">
                <a:avLst/>
              </a:prstGeom>
              <a:solidFill>
                <a:srgbClr val="9BBB59"/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6749849" y="2368737"/>
                <a:ext cx="1270334" cy="168793"/>
              </a:xfrm>
              <a:prstGeom prst="rect">
                <a:avLst/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25400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rbel"/>
                  <a:ea typeface="+mn-ea"/>
                  <a:cs typeface="+mn-cs"/>
                </a:endParaRP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2303162" y="2971800"/>
              <a:ext cx="457200" cy="1600200"/>
            </a:xfrm>
            <a:prstGeom prst="rect">
              <a:avLst/>
            </a:prstGeom>
            <a:gradFill flip="none" rotWithShape="1">
              <a:gsLst>
                <a:gs pos="0">
                  <a:sysClr val="window" lastClr="FFFFFF">
                    <a:alpha val="82000"/>
                  </a:sysClr>
                </a:gs>
                <a:gs pos="81000">
                  <a:sysClr val="window" lastClr="FFFFFF"/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cxnSp>
          <p:nvCxnSpPr>
            <p:cNvPr id="5" name="Straight Connector 4"/>
            <p:cNvCxnSpPr>
              <a:stCxn id="24" idx="1"/>
              <a:endCxn id="10" idx="1"/>
            </p:cNvCxnSpPr>
            <p:nvPr/>
          </p:nvCxnSpPr>
          <p:spPr>
            <a:xfrm>
              <a:off x="2293624" y="3352857"/>
              <a:ext cx="692537" cy="282362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" name="Straight Connector 5"/>
            <p:cNvCxnSpPr>
              <a:stCxn id="11" idx="4"/>
              <a:endCxn id="10" idx="7"/>
            </p:cNvCxnSpPr>
            <p:nvPr/>
          </p:nvCxnSpPr>
          <p:spPr>
            <a:xfrm flipH="1">
              <a:off x="3141506" y="3376644"/>
              <a:ext cx="146867" cy="258575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" name="Straight Connector 6"/>
            <p:cNvCxnSpPr>
              <a:stCxn id="13" idx="1"/>
              <a:endCxn id="10" idx="5"/>
            </p:cNvCxnSpPr>
            <p:nvPr/>
          </p:nvCxnSpPr>
          <p:spPr>
            <a:xfrm flipH="1" flipV="1">
              <a:off x="3141506" y="3790564"/>
              <a:ext cx="252376" cy="21632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" name="Straight Connector 7"/>
            <p:cNvCxnSpPr>
              <a:stCxn id="31" idx="3"/>
              <a:endCxn id="12" idx="1"/>
            </p:cNvCxnSpPr>
            <p:nvPr/>
          </p:nvCxnSpPr>
          <p:spPr>
            <a:xfrm>
              <a:off x="2295067" y="4107161"/>
              <a:ext cx="563462" cy="203172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" name="Straight Connector 8"/>
            <p:cNvCxnSpPr>
              <a:stCxn id="10" idx="3"/>
              <a:endCxn id="12" idx="0"/>
            </p:cNvCxnSpPr>
            <p:nvPr/>
          </p:nvCxnSpPr>
          <p:spPr>
            <a:xfrm flipH="1">
              <a:off x="2936202" y="3790564"/>
              <a:ext cx="49959" cy="487596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0" name="Oval 9"/>
            <p:cNvSpPr/>
            <p:nvPr/>
          </p:nvSpPr>
          <p:spPr>
            <a:xfrm>
              <a:off x="2953988" y="3603046"/>
              <a:ext cx="219691" cy="219691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Light"/>
                <a:ea typeface="+mn-ea"/>
                <a:cs typeface="Gill Sans Light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178527" y="3156953"/>
              <a:ext cx="219691" cy="219691"/>
            </a:xfrm>
            <a:prstGeom prst="ellipse">
              <a:avLst/>
            </a:prstGeom>
            <a:solidFill>
              <a:srgbClr val="8064A2">
                <a:lumMod val="75000"/>
              </a:srgbClr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Light"/>
                <a:ea typeface="+mn-ea"/>
                <a:cs typeface="Gill Sans Light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826356" y="4278160"/>
              <a:ext cx="219691" cy="219691"/>
            </a:xfrm>
            <a:prstGeom prst="ellipse">
              <a:avLst/>
            </a:prstGeom>
            <a:solidFill>
              <a:srgbClr val="C0504D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Light"/>
                <a:ea typeface="+mn-ea"/>
                <a:cs typeface="Gill Sans Light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361709" y="3974714"/>
              <a:ext cx="219691" cy="219691"/>
            </a:xfrm>
            <a:prstGeom prst="ellipse">
              <a:avLst/>
            </a:prstGeom>
            <a:solidFill>
              <a:srgbClr val="9BBB59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Light"/>
                <a:ea typeface="+mn-ea"/>
                <a:cs typeface="Gill Sans Light"/>
              </a:endParaRPr>
            </a:p>
          </p:txBody>
        </p:sp>
        <p:cxnSp>
          <p:nvCxnSpPr>
            <p:cNvPr id="14" name="Straight Connector 13"/>
            <p:cNvCxnSpPr>
              <a:stCxn id="28" idx="1"/>
              <a:endCxn id="11" idx="2"/>
            </p:cNvCxnSpPr>
            <p:nvPr/>
          </p:nvCxnSpPr>
          <p:spPr>
            <a:xfrm flipV="1">
              <a:off x="2293624" y="3266799"/>
              <a:ext cx="884903" cy="593107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" name="Straight Connector 14"/>
            <p:cNvCxnSpPr>
              <a:stCxn id="12" idx="6"/>
              <a:endCxn id="13" idx="2"/>
            </p:cNvCxnSpPr>
            <p:nvPr/>
          </p:nvCxnSpPr>
          <p:spPr>
            <a:xfrm flipV="1">
              <a:off x="3046047" y="4084560"/>
              <a:ext cx="315662" cy="303446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37" name="TextBox 36"/>
          <p:cNvSpPr txBox="1"/>
          <p:nvPr/>
        </p:nvSpPr>
        <p:spPr>
          <a:xfrm>
            <a:off x="3186818" y="3322739"/>
            <a:ext cx="41129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i="1" dirty="0" smtClean="0">
                <a:latin typeface="Gill Sans Light"/>
                <a:cs typeface="Gill Sans Light"/>
              </a:rPr>
              <a:t>Graph</a:t>
            </a:r>
            <a:r>
              <a:rPr lang="en-US" sz="9600" i="1" dirty="0" smtClean="0">
                <a:latin typeface="Savoye LET Plain:1.0"/>
                <a:cs typeface="Savoye LET Plain:1.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29908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/>
          <p:cNvSpPr/>
          <p:nvPr/>
        </p:nvSpPr>
        <p:spPr>
          <a:xfrm>
            <a:off x="6402336" y="2209800"/>
            <a:ext cx="894882" cy="533400"/>
          </a:xfrm>
          <a:prstGeom prst="can">
            <a:avLst>
              <a:gd name="adj" fmla="val 37698"/>
            </a:avLst>
          </a:prstGeom>
          <a:ln>
            <a:headEnd type="none" w="med" len="med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Gill Sans Light"/>
                <a:cs typeface="Gill Sans Light"/>
              </a:rPr>
              <a:t>HDFS</a:t>
            </a:r>
            <a:endParaRPr lang="en-US" sz="2000" dirty="0">
              <a:latin typeface="Gill Sans Light"/>
              <a:cs typeface="Gill Sans Light"/>
            </a:endParaRPr>
          </a:p>
        </p:txBody>
      </p:sp>
      <p:sp>
        <p:nvSpPr>
          <p:cNvPr id="3" name="Can 2"/>
          <p:cNvSpPr/>
          <p:nvPr/>
        </p:nvSpPr>
        <p:spPr>
          <a:xfrm>
            <a:off x="4180934" y="2209800"/>
            <a:ext cx="894882" cy="533400"/>
          </a:xfrm>
          <a:prstGeom prst="can">
            <a:avLst>
              <a:gd name="adj" fmla="val 37698"/>
            </a:avLst>
          </a:prstGeom>
          <a:ln>
            <a:headEnd type="none" w="med" len="med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Gill Sans Light"/>
                <a:cs typeface="Gill Sans Light"/>
              </a:rPr>
              <a:t>HDFS</a:t>
            </a:r>
            <a:endParaRPr lang="en-US" sz="2000" dirty="0">
              <a:latin typeface="Gill Sans Light"/>
              <a:cs typeface="Gill Sans Light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24399" y="2895600"/>
            <a:ext cx="2125377" cy="685800"/>
          </a:xfrm>
          <a:prstGeom prst="rightArrow">
            <a:avLst>
              <a:gd name="adj1" fmla="val 52470"/>
              <a:gd name="adj2" fmla="val 38889"/>
            </a:avLst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Compute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953787" y="2895600"/>
            <a:ext cx="3770613" cy="685800"/>
          </a:xfrm>
          <a:prstGeom prst="rightArrow">
            <a:avLst>
              <a:gd name="adj1" fmla="val 52470"/>
              <a:gd name="adj2" fmla="val 38889"/>
            </a:avLst>
          </a:prstGeom>
          <a:ln>
            <a:headEnd type="none" w="med" len="med"/>
            <a:tailEnd type="non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Spark Preprocess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6849777" y="2895600"/>
            <a:ext cx="1837023" cy="685800"/>
          </a:xfrm>
          <a:prstGeom prst="rightArrow">
            <a:avLst>
              <a:gd name="adj1" fmla="val 52470"/>
              <a:gd name="adj2" fmla="val 38889"/>
            </a:avLst>
          </a:prstGeom>
          <a:ln>
            <a:headEnd type="none" w="med" len="med"/>
            <a:tailEnd type="non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Spark Post.</a:t>
            </a:r>
            <a:endParaRPr lang="en-US" dirty="0">
              <a:latin typeface="Gill Sans Light"/>
              <a:cs typeface="Gill Sans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81000" y="1219200"/>
            <a:ext cx="1975120" cy="1481448"/>
            <a:chOff x="381000" y="1371600"/>
            <a:chExt cx="1975120" cy="1481448"/>
          </a:xfrm>
        </p:grpSpPr>
        <p:sp>
          <p:nvSpPr>
            <p:cNvPr id="8" name="TextBox 7"/>
            <p:cNvSpPr txBox="1"/>
            <p:nvPr/>
          </p:nvSpPr>
          <p:spPr>
            <a:xfrm>
              <a:off x="381000" y="1371600"/>
              <a:ext cx="19751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Gill Sans Light"/>
                  <a:cs typeface="Gill Sans Light"/>
                </a:rPr>
                <a:t>Raw Wikipedia 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858409" y="1875042"/>
              <a:ext cx="978006" cy="978006"/>
              <a:chOff x="473540" y="2519906"/>
              <a:chExt cx="1166725" cy="1166725"/>
            </a:xfrm>
          </p:grpSpPr>
          <p:sp>
            <p:nvSpPr>
              <p:cNvPr id="10" name="Folded Corner 9"/>
              <p:cNvSpPr/>
              <p:nvPr/>
            </p:nvSpPr>
            <p:spPr>
              <a:xfrm>
                <a:off x="473540" y="2519906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latin typeface="Helvetica"/>
                    <a:cs typeface="Helvetica"/>
                  </a:rPr>
                  <a:t>&lt; / &gt;</a:t>
                </a:r>
                <a:endParaRPr lang="en-US" sz="2000" dirty="0">
                  <a:latin typeface="Helvetica"/>
                  <a:cs typeface="Helvetica"/>
                </a:endParaRPr>
              </a:p>
            </p:txBody>
          </p:sp>
          <p:sp>
            <p:nvSpPr>
              <p:cNvPr id="11" name="Folded Corner 10"/>
              <p:cNvSpPr/>
              <p:nvPr/>
            </p:nvSpPr>
            <p:spPr>
              <a:xfrm>
                <a:off x="587323" y="2633689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latin typeface="Helvetica"/>
                    <a:cs typeface="Helvetica"/>
                  </a:rPr>
                  <a:t>&lt; / &gt;</a:t>
                </a:r>
                <a:endParaRPr lang="en-US" sz="2000" dirty="0">
                  <a:latin typeface="Helvetica"/>
                  <a:cs typeface="Helvetica"/>
                </a:endParaRPr>
              </a:p>
            </p:txBody>
          </p:sp>
          <p:sp>
            <p:nvSpPr>
              <p:cNvPr id="12" name="Folded Corner 11"/>
              <p:cNvSpPr/>
              <p:nvPr/>
            </p:nvSpPr>
            <p:spPr>
              <a:xfrm>
                <a:off x="701106" y="2747472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latin typeface="Helvetica"/>
                    <a:cs typeface="Helvetica"/>
                  </a:rPr>
                  <a:t>&lt; / &gt;</a:t>
                </a:r>
                <a:endParaRPr lang="en-US" sz="2000" dirty="0">
                  <a:latin typeface="Helvetica"/>
                  <a:cs typeface="Helvetica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01105" y="3385784"/>
                <a:ext cx="711594" cy="29181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latin typeface="Helvetica"/>
                    <a:cs typeface="Helvetica"/>
                  </a:rPr>
                  <a:t>XML</a:t>
                </a:r>
                <a:endParaRPr lang="en-US" sz="1200" dirty="0">
                  <a:latin typeface="Helvetica"/>
                  <a:cs typeface="Helvetica"/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2819400" y="1219200"/>
            <a:ext cx="1460406" cy="1600200"/>
            <a:chOff x="2648314" y="1371600"/>
            <a:chExt cx="1460406" cy="1600200"/>
          </a:xfrm>
        </p:grpSpPr>
        <p:sp>
          <p:nvSpPr>
            <p:cNvPr id="15" name="TextBox 14"/>
            <p:cNvSpPr txBox="1"/>
            <p:nvPr/>
          </p:nvSpPr>
          <p:spPr>
            <a:xfrm>
              <a:off x="2648314" y="1371600"/>
              <a:ext cx="1460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Gill Sans Light"/>
                  <a:cs typeface="Gill Sans Light"/>
                </a:rPr>
                <a:t>Hyperlinks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819400" y="1875042"/>
              <a:ext cx="1036376" cy="1096758"/>
              <a:chOff x="2013099" y="2147633"/>
              <a:chExt cx="1339701" cy="1417755"/>
            </a:xfrm>
          </p:grpSpPr>
          <p:cxnSp>
            <p:nvCxnSpPr>
              <p:cNvPr id="17" name="Straight Connector 16"/>
              <p:cNvCxnSpPr>
                <a:stCxn id="24" idx="5"/>
                <a:endCxn id="25" idx="1"/>
              </p:cNvCxnSpPr>
              <p:nvPr/>
            </p:nvCxnSpPr>
            <p:spPr>
              <a:xfrm>
                <a:off x="2655052" y="2818029"/>
                <a:ext cx="126891" cy="2050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26" idx="3"/>
                <a:endCxn id="25" idx="7"/>
              </p:cNvCxnSpPr>
              <p:nvPr/>
            </p:nvCxnSpPr>
            <p:spPr>
              <a:xfrm flipH="1">
                <a:off x="2936315" y="2865494"/>
                <a:ext cx="195578" cy="15760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24" idx="4"/>
                <a:endCxn id="27" idx="0"/>
              </p:cNvCxnSpPr>
              <p:nvPr/>
            </p:nvCxnSpPr>
            <p:spPr>
              <a:xfrm flipH="1">
                <a:off x="2541151" y="2850000"/>
                <a:ext cx="36716" cy="49707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23" idx="5"/>
                <a:endCxn id="27" idx="1"/>
              </p:cNvCxnSpPr>
              <p:nvPr/>
            </p:nvCxnSpPr>
            <p:spPr>
              <a:xfrm>
                <a:off x="2199441" y="3036342"/>
                <a:ext cx="264524" cy="3427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24" idx="2"/>
                <a:endCxn id="23" idx="7"/>
              </p:cNvCxnSpPr>
              <p:nvPr/>
            </p:nvCxnSpPr>
            <p:spPr>
              <a:xfrm flipH="1">
                <a:off x="2199442" y="2740843"/>
                <a:ext cx="269268" cy="14112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25" idx="3"/>
                <a:endCxn id="27" idx="7"/>
              </p:cNvCxnSpPr>
              <p:nvPr/>
            </p:nvCxnSpPr>
            <p:spPr>
              <a:xfrm flipH="1">
                <a:off x="2618335" y="3177470"/>
                <a:ext cx="163609" cy="20157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2013099" y="2850000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468710" y="263168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2749972" y="2991128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3099922" y="2679151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2431993" y="3347074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655052" y="2147633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29" name="Straight Connector 28"/>
              <p:cNvCxnSpPr>
                <a:stCxn id="28" idx="3"/>
                <a:endCxn id="24" idx="0"/>
              </p:cNvCxnSpPr>
              <p:nvPr/>
            </p:nvCxnSpPr>
            <p:spPr>
              <a:xfrm flipH="1">
                <a:off x="2577867" y="2333975"/>
                <a:ext cx="109157" cy="29771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28" idx="5"/>
                <a:endCxn id="26" idx="1"/>
              </p:cNvCxnSpPr>
              <p:nvPr/>
            </p:nvCxnSpPr>
            <p:spPr>
              <a:xfrm>
                <a:off x="2841394" y="2333975"/>
                <a:ext cx="290499" cy="3771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27" idx="6"/>
                <a:endCxn id="32" idx="3"/>
              </p:cNvCxnSpPr>
              <p:nvPr/>
            </p:nvCxnSpPr>
            <p:spPr>
              <a:xfrm flipV="1">
                <a:off x="2650305" y="3283008"/>
                <a:ext cx="516152" cy="1732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Oval 31"/>
              <p:cNvSpPr/>
              <p:nvPr/>
            </p:nvSpPr>
            <p:spPr>
              <a:xfrm>
                <a:off x="3134487" y="309666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122255" y="2224818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34" name="Straight Connector 33"/>
              <p:cNvCxnSpPr>
                <a:stCxn id="33" idx="6"/>
                <a:endCxn id="26" idx="2"/>
              </p:cNvCxnSpPr>
              <p:nvPr/>
            </p:nvCxnSpPr>
            <p:spPr>
              <a:xfrm>
                <a:off x="2340568" y="2333975"/>
                <a:ext cx="759354" cy="45433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26" idx="4"/>
                <a:endCxn id="32" idx="0"/>
              </p:cNvCxnSpPr>
              <p:nvPr/>
            </p:nvCxnSpPr>
            <p:spPr>
              <a:xfrm>
                <a:off x="3209079" y="2897465"/>
                <a:ext cx="34565" cy="19920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33" idx="3"/>
                <a:endCxn id="23" idx="1"/>
              </p:cNvCxnSpPr>
              <p:nvPr/>
            </p:nvCxnSpPr>
            <p:spPr>
              <a:xfrm flipH="1">
                <a:off x="2045070" y="2411161"/>
                <a:ext cx="109156" cy="47081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33" idx="5"/>
                <a:endCxn id="24" idx="1"/>
              </p:cNvCxnSpPr>
              <p:nvPr/>
            </p:nvCxnSpPr>
            <p:spPr>
              <a:xfrm>
                <a:off x="2308597" y="2411161"/>
                <a:ext cx="192084" cy="25249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oup 37"/>
          <p:cNvGrpSpPr/>
          <p:nvPr/>
        </p:nvGrpSpPr>
        <p:grpSpPr>
          <a:xfrm>
            <a:off x="5019558" y="1219200"/>
            <a:ext cx="1351652" cy="1600200"/>
            <a:chOff x="4248514" y="1371600"/>
            <a:chExt cx="1351652" cy="1600200"/>
          </a:xfrm>
        </p:grpSpPr>
        <p:sp>
          <p:nvSpPr>
            <p:cNvPr id="39" name="TextBox 38"/>
            <p:cNvSpPr txBox="1"/>
            <p:nvPr/>
          </p:nvSpPr>
          <p:spPr>
            <a:xfrm>
              <a:off x="4248514" y="1371600"/>
              <a:ext cx="13516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Gill Sans Light"/>
                  <a:cs typeface="Gill Sans Light"/>
                </a:rPr>
                <a:t>PageRank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4419600" y="1875042"/>
              <a:ext cx="1036376" cy="1096758"/>
              <a:chOff x="2013099" y="2147633"/>
              <a:chExt cx="1339701" cy="1417755"/>
            </a:xfrm>
          </p:grpSpPr>
          <p:cxnSp>
            <p:nvCxnSpPr>
              <p:cNvPr id="41" name="Straight Connector 40"/>
              <p:cNvCxnSpPr>
                <a:stCxn id="48" idx="5"/>
                <a:endCxn id="49" idx="1"/>
              </p:cNvCxnSpPr>
              <p:nvPr/>
            </p:nvCxnSpPr>
            <p:spPr>
              <a:xfrm>
                <a:off x="2655052" y="2818029"/>
                <a:ext cx="126891" cy="2050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50" idx="3"/>
                <a:endCxn id="49" idx="7"/>
              </p:cNvCxnSpPr>
              <p:nvPr/>
            </p:nvCxnSpPr>
            <p:spPr>
              <a:xfrm flipH="1">
                <a:off x="2936315" y="2865494"/>
                <a:ext cx="195578" cy="15760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48" idx="4"/>
                <a:endCxn id="51" idx="0"/>
              </p:cNvCxnSpPr>
              <p:nvPr/>
            </p:nvCxnSpPr>
            <p:spPr>
              <a:xfrm flipH="1">
                <a:off x="2541151" y="2850000"/>
                <a:ext cx="36716" cy="49707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47" idx="5"/>
                <a:endCxn id="51" idx="1"/>
              </p:cNvCxnSpPr>
              <p:nvPr/>
            </p:nvCxnSpPr>
            <p:spPr>
              <a:xfrm>
                <a:off x="2199441" y="3036342"/>
                <a:ext cx="264524" cy="3427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>
                <a:stCxn id="48" idx="2"/>
                <a:endCxn id="47" idx="7"/>
              </p:cNvCxnSpPr>
              <p:nvPr/>
            </p:nvCxnSpPr>
            <p:spPr>
              <a:xfrm flipH="1">
                <a:off x="2199442" y="2740843"/>
                <a:ext cx="269268" cy="14112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49" idx="3"/>
                <a:endCxn id="51" idx="7"/>
              </p:cNvCxnSpPr>
              <p:nvPr/>
            </p:nvCxnSpPr>
            <p:spPr>
              <a:xfrm flipH="1">
                <a:off x="2618335" y="3177470"/>
                <a:ext cx="163609" cy="20157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Oval 46"/>
              <p:cNvSpPr/>
              <p:nvPr/>
            </p:nvSpPr>
            <p:spPr>
              <a:xfrm>
                <a:off x="2013099" y="2850000"/>
                <a:ext cx="218313" cy="218314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468710" y="2631686"/>
                <a:ext cx="218313" cy="218314"/>
              </a:xfrm>
              <a:prstGeom prst="ellipse">
                <a:avLst/>
              </a:prstGeom>
              <a:solidFill>
                <a:srgbClr val="0000FF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749972" y="2991128"/>
                <a:ext cx="218313" cy="218314"/>
              </a:xfrm>
              <a:prstGeom prst="ellipse">
                <a:avLst/>
              </a:prstGeom>
              <a:solidFill>
                <a:srgbClr val="FF00FF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099922" y="2679151"/>
                <a:ext cx="218313" cy="21831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2431993" y="3347074"/>
                <a:ext cx="218313" cy="21831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655052" y="2147633"/>
                <a:ext cx="218313" cy="218314"/>
              </a:xfrm>
              <a:prstGeom prst="ellipse">
                <a:avLst/>
              </a:prstGeom>
              <a:solidFill>
                <a:srgbClr val="9BBB59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53" name="Straight Connector 52"/>
              <p:cNvCxnSpPr>
                <a:stCxn id="52" idx="3"/>
                <a:endCxn id="48" idx="0"/>
              </p:cNvCxnSpPr>
              <p:nvPr/>
            </p:nvCxnSpPr>
            <p:spPr>
              <a:xfrm flipH="1">
                <a:off x="2577867" y="2333975"/>
                <a:ext cx="109157" cy="29771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stCxn id="52" idx="5"/>
                <a:endCxn id="50" idx="1"/>
              </p:cNvCxnSpPr>
              <p:nvPr/>
            </p:nvCxnSpPr>
            <p:spPr>
              <a:xfrm>
                <a:off x="2841394" y="2333975"/>
                <a:ext cx="290499" cy="3771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51" idx="6"/>
                <a:endCxn id="56" idx="3"/>
              </p:cNvCxnSpPr>
              <p:nvPr/>
            </p:nvCxnSpPr>
            <p:spPr>
              <a:xfrm flipV="1">
                <a:off x="2650305" y="3283008"/>
                <a:ext cx="516152" cy="1732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Oval 55"/>
              <p:cNvSpPr/>
              <p:nvPr/>
            </p:nvSpPr>
            <p:spPr>
              <a:xfrm>
                <a:off x="3134487" y="3096666"/>
                <a:ext cx="218313" cy="218314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2122255" y="2224818"/>
                <a:ext cx="218313" cy="21831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58" name="Straight Connector 57"/>
              <p:cNvCxnSpPr>
                <a:stCxn id="57" idx="6"/>
                <a:endCxn id="50" idx="2"/>
              </p:cNvCxnSpPr>
              <p:nvPr/>
            </p:nvCxnSpPr>
            <p:spPr>
              <a:xfrm>
                <a:off x="2340568" y="2333975"/>
                <a:ext cx="759354" cy="45433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50" idx="4"/>
                <a:endCxn id="56" idx="0"/>
              </p:cNvCxnSpPr>
              <p:nvPr/>
            </p:nvCxnSpPr>
            <p:spPr>
              <a:xfrm>
                <a:off x="3209079" y="2897465"/>
                <a:ext cx="34565" cy="19920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>
                <a:stCxn id="57" idx="3"/>
                <a:endCxn id="47" idx="1"/>
              </p:cNvCxnSpPr>
              <p:nvPr/>
            </p:nvCxnSpPr>
            <p:spPr>
              <a:xfrm flipH="1">
                <a:off x="2045070" y="2411161"/>
                <a:ext cx="109156" cy="47081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>
                <a:stCxn id="57" idx="5"/>
                <a:endCxn id="48" idx="1"/>
              </p:cNvCxnSpPr>
              <p:nvPr/>
            </p:nvCxnSpPr>
            <p:spPr>
              <a:xfrm>
                <a:off x="2308597" y="2411161"/>
                <a:ext cx="192084" cy="25249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/>
          <p:cNvGrpSpPr/>
          <p:nvPr/>
        </p:nvGrpSpPr>
        <p:grpSpPr>
          <a:xfrm>
            <a:off x="7048926" y="1219200"/>
            <a:ext cx="1790274" cy="1456573"/>
            <a:chOff x="6052246" y="1371600"/>
            <a:chExt cx="1790274" cy="1456573"/>
          </a:xfrm>
        </p:grpSpPr>
        <p:grpSp>
          <p:nvGrpSpPr>
            <p:cNvPr id="63" name="Group 62"/>
            <p:cNvGrpSpPr/>
            <p:nvPr/>
          </p:nvGrpSpPr>
          <p:grpSpPr>
            <a:xfrm>
              <a:off x="6528283" y="1875042"/>
              <a:ext cx="838200" cy="953131"/>
              <a:chOff x="5181600" y="3312504"/>
              <a:chExt cx="1273220" cy="1447800"/>
            </a:xfrm>
          </p:grpSpPr>
          <p:sp>
            <p:nvSpPr>
              <p:cNvPr id="65" name="Folded Corner 64"/>
              <p:cNvSpPr/>
              <p:nvPr/>
            </p:nvSpPr>
            <p:spPr>
              <a:xfrm>
                <a:off x="5183042" y="3312504"/>
                <a:ext cx="1271778" cy="1447800"/>
              </a:xfrm>
              <a:prstGeom prst="foldedCorner">
                <a:avLst>
                  <a:gd name="adj" fmla="val 1334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183043" y="3748423"/>
                <a:ext cx="331619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5514662" y="374842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5828048" y="374842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6141434" y="374842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5181600" y="3487834"/>
                <a:ext cx="331619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5513219" y="3487834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5826605" y="3487834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6139991" y="3487834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5181600" y="3994883"/>
                <a:ext cx="331619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5513219" y="399488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5826605" y="399488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6139991" y="3994883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5183043" y="4242138"/>
                <a:ext cx="331619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5514662" y="4242138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5828048" y="4242138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6141434" y="4242138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5181600" y="4495800"/>
                <a:ext cx="331619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5513219" y="4495800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826605" y="4495800"/>
                <a:ext cx="313386" cy="2549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5183044" y="3319041"/>
                <a:ext cx="1270334" cy="16879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TextBox 63"/>
            <p:cNvSpPr txBox="1"/>
            <p:nvPr/>
          </p:nvSpPr>
          <p:spPr>
            <a:xfrm>
              <a:off x="6052246" y="1371600"/>
              <a:ext cx="1790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Gill Sans Light"/>
                  <a:cs typeface="Gill Sans Light"/>
                </a:rPr>
                <a:t>Top 20 Pages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685800" y="3151590"/>
            <a:ext cx="7772400" cy="3020610"/>
            <a:chOff x="685800" y="3151590"/>
            <a:chExt cx="7772400" cy="3020610"/>
          </a:xfrm>
        </p:grpSpPr>
        <p:graphicFrame>
          <p:nvGraphicFramePr>
            <p:cNvPr id="87" name="Chart 86"/>
            <p:cNvGraphicFramePr/>
            <p:nvPr>
              <p:extLst>
                <p:ext uri="{D42A27DB-BD31-4B8C-83A1-F6EECF244321}">
                  <p14:modId xmlns:p14="http://schemas.microsoft.com/office/powerpoint/2010/main" val="1466242705"/>
                </p:ext>
              </p:extLst>
            </p:nvPr>
          </p:nvGraphicFramePr>
          <p:xfrm>
            <a:off x="685800" y="3151590"/>
            <a:ext cx="7772400" cy="30206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8" name="TextBox 87"/>
            <p:cNvSpPr txBox="1"/>
            <p:nvPr/>
          </p:nvSpPr>
          <p:spPr>
            <a:xfrm>
              <a:off x="4803085" y="403860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latin typeface="Gill Sans Light"/>
                  <a:cs typeface="Gill Sans Light"/>
                </a:rPr>
                <a:t>605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097460" y="480060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latin typeface="Gill Sans Light"/>
                  <a:cs typeface="Gill Sans Light"/>
                </a:rPr>
                <a:t>375</a:t>
              </a:r>
            </a:p>
          </p:txBody>
        </p:sp>
      </p:grpSp>
      <p:sp>
        <p:nvSpPr>
          <p:cNvPr id="90" name="Right Arrow 89"/>
          <p:cNvSpPr/>
          <p:nvPr/>
        </p:nvSpPr>
        <p:spPr>
          <a:xfrm>
            <a:off x="2209800" y="2171700"/>
            <a:ext cx="457200" cy="156899"/>
          </a:xfrm>
          <a:prstGeom prst="rightArrow">
            <a:avLst/>
          </a:prstGeom>
          <a:ln>
            <a:headEnd type="none" w="med" len="med"/>
            <a:tailEnd type="non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ight Arrow 90"/>
          <p:cNvSpPr/>
          <p:nvPr/>
        </p:nvSpPr>
        <p:spPr>
          <a:xfrm>
            <a:off x="4375900" y="2171700"/>
            <a:ext cx="457200" cy="156899"/>
          </a:xfrm>
          <a:prstGeom prst="rightArrow">
            <a:avLst/>
          </a:prstGeom>
          <a:ln>
            <a:headEnd type="none" w="med" len="med"/>
            <a:tailEnd type="non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/>
          <p:cNvSpPr/>
          <p:nvPr/>
        </p:nvSpPr>
        <p:spPr>
          <a:xfrm>
            <a:off x="6629400" y="2171700"/>
            <a:ext cx="457200" cy="156899"/>
          </a:xfrm>
          <a:prstGeom prst="rightArrow">
            <a:avLst/>
          </a:prstGeom>
          <a:ln>
            <a:headEnd type="none" w="med" len="med"/>
            <a:tailEnd type="non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05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869770"/>
              </p:ext>
            </p:extLst>
          </p:nvPr>
        </p:nvGraphicFramePr>
        <p:xfrm>
          <a:off x="4614225" y="1668872"/>
          <a:ext cx="1357777" cy="1981200"/>
        </p:xfrm>
        <a:graphic>
          <a:graphicData uri="http://schemas.openxmlformats.org/drawingml/2006/table">
            <a:tbl>
              <a:tblPr firstRow="1" bandRow="1"/>
              <a:tblGrid>
                <a:gridCol w="1357777"/>
              </a:tblGrid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latin typeface="Gill Sans"/>
                          <a:cs typeface="Gill Sans"/>
                        </a:rPr>
                        <a:t>Id</a:t>
                      </a:r>
                      <a:endParaRPr lang="en-US" sz="2000" b="0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3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7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5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2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84115"/>
              </p:ext>
            </p:extLst>
          </p:nvPr>
        </p:nvGraphicFramePr>
        <p:xfrm>
          <a:off x="4591625" y="4495800"/>
          <a:ext cx="2381250" cy="1981200"/>
        </p:xfrm>
        <a:graphic>
          <a:graphicData uri="http://schemas.openxmlformats.org/drawingml/2006/table">
            <a:tbl>
              <a:tblPr firstRow="1" bandRow="1"/>
              <a:tblGrid>
                <a:gridCol w="1096634"/>
                <a:gridCol w="128461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 smtClean="0">
                          <a:latin typeface="Gill Sans"/>
                          <a:cs typeface="Gill Sans"/>
                        </a:rPr>
                        <a:t>SrcId</a:t>
                      </a:r>
                      <a:endParaRPr lang="en-US" sz="2000" b="0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 smtClean="0">
                          <a:latin typeface="Gill Sans"/>
                          <a:cs typeface="Gill Sans"/>
                        </a:rPr>
                        <a:t>DstId</a:t>
                      </a:r>
                      <a:endParaRPr lang="en-US" sz="2000" b="0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3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7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5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3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2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5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5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7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292512"/>
              </p:ext>
            </p:extLst>
          </p:nvPr>
        </p:nvGraphicFramePr>
        <p:xfrm>
          <a:off x="7009374" y="4495800"/>
          <a:ext cx="1809750" cy="1981200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latin typeface="Gill Sans"/>
                          <a:cs typeface="Gill Sans"/>
                        </a:rPr>
                        <a:t>Property (E)</a:t>
                      </a:r>
                      <a:endParaRPr lang="en-US" sz="2000" b="0" dirty="0">
                        <a:latin typeface="Gill Sans"/>
                        <a:cs typeface="Gill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Collaborator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Advisor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Colleague</a:t>
                      </a:r>
                      <a:endParaRPr lang="en-US" sz="2000" dirty="0" smtClean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PI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132094"/>
              </p:ext>
            </p:extLst>
          </p:nvPr>
        </p:nvGraphicFramePr>
        <p:xfrm>
          <a:off x="6011703" y="1668872"/>
          <a:ext cx="2795106" cy="1981200"/>
        </p:xfrm>
        <a:graphic>
          <a:graphicData uri="http://schemas.openxmlformats.org/drawingml/2006/table">
            <a:tbl>
              <a:tblPr firstRow="1" bandRow="1"/>
              <a:tblGrid>
                <a:gridCol w="2795106"/>
              </a:tblGrid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latin typeface="Gill Sans"/>
                          <a:cs typeface="Gill Sans"/>
                        </a:rPr>
                        <a:t>Property (V)</a:t>
                      </a:r>
                      <a:endParaRPr lang="en-US" sz="2000" b="0" dirty="0">
                        <a:latin typeface="Gill Sans"/>
                        <a:cs typeface="Gill San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(</a:t>
                      </a:r>
                      <a:r>
                        <a:rPr lang="en-US" sz="2000" dirty="0" err="1" smtClean="0">
                          <a:latin typeface="Gill Sans Light"/>
                          <a:cs typeface="Gill Sans Light"/>
                        </a:rPr>
                        <a:t>rxin</a:t>
                      </a:r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, student</a:t>
                      </a:r>
                      <a:r>
                        <a:rPr lang="en-US" sz="2000" baseline="0" dirty="0" smtClean="0">
                          <a:latin typeface="Gill Sans Light"/>
                          <a:cs typeface="Gill Sans Light"/>
                        </a:rPr>
                        <a:t>)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(</a:t>
                      </a:r>
                      <a:r>
                        <a:rPr lang="en-US" sz="2000" dirty="0" err="1" smtClean="0">
                          <a:latin typeface="Gill Sans Light"/>
                          <a:cs typeface="Gill Sans Light"/>
                        </a:rPr>
                        <a:t>jgonzal</a:t>
                      </a:r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, postdoc</a:t>
                      </a:r>
                      <a:r>
                        <a:rPr lang="en-US" sz="2000" baseline="0" dirty="0" smtClean="0">
                          <a:latin typeface="Gill Sans Light"/>
                          <a:cs typeface="Gill Sans Light"/>
                        </a:rPr>
                        <a:t>)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(franklin, professor</a:t>
                      </a:r>
                      <a:r>
                        <a:rPr lang="en-US" sz="2000" baseline="0" dirty="0" smtClean="0">
                          <a:latin typeface="Gill Sans Light"/>
                          <a:cs typeface="Gill Sans Light"/>
                        </a:rPr>
                        <a:t>)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(</a:t>
                      </a:r>
                      <a:r>
                        <a:rPr lang="en-US" sz="2000" dirty="0" err="1" smtClean="0">
                          <a:latin typeface="Gill Sans Light"/>
                          <a:cs typeface="Gill Sans Light"/>
                        </a:rPr>
                        <a:t>istoica</a:t>
                      </a:r>
                      <a:r>
                        <a:rPr lang="en-US" sz="2000" dirty="0" smtClean="0">
                          <a:latin typeface="Gill Sans Light"/>
                          <a:cs typeface="Gill Sans Light"/>
                        </a:rPr>
                        <a:t>, professor</a:t>
                      </a:r>
                      <a:r>
                        <a:rPr lang="en-US" sz="2000" baseline="0" dirty="0" smtClean="0">
                          <a:latin typeface="Gill Sans Light"/>
                          <a:cs typeface="Gill Sans Light"/>
                        </a:rPr>
                        <a:t>)</a:t>
                      </a:r>
                      <a:endParaRPr lang="en-US" sz="2000" dirty="0">
                        <a:latin typeface="Gill Sans Light"/>
                        <a:cs typeface="Gill Sans Light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286711" y="1846865"/>
            <a:ext cx="642793" cy="642793"/>
          </a:xfrm>
          <a:prstGeom prst="ellipse">
            <a:avLst/>
          </a:prstGeom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3</a:t>
            </a:r>
            <a:endParaRPr lang="en-US" sz="2800" dirty="0">
              <a:latin typeface="Gill Sans Light"/>
              <a:cs typeface="Gill Sans Light"/>
            </a:endParaRPr>
          </a:p>
        </p:txBody>
      </p:sp>
      <p:sp>
        <p:nvSpPr>
          <p:cNvPr id="8" name="Oval 7"/>
          <p:cNvSpPr/>
          <p:nvPr/>
        </p:nvSpPr>
        <p:spPr>
          <a:xfrm>
            <a:off x="286711" y="5275168"/>
            <a:ext cx="642793" cy="642793"/>
          </a:xfrm>
          <a:prstGeom prst="ellipse">
            <a:avLst/>
          </a:prstGeom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7</a:t>
            </a:r>
            <a:endParaRPr lang="en-US" sz="2800" dirty="0">
              <a:latin typeface="Gill Sans Light"/>
              <a:cs typeface="Gill Sans Light"/>
            </a:endParaRPr>
          </a:p>
        </p:txBody>
      </p:sp>
      <p:sp>
        <p:nvSpPr>
          <p:cNvPr id="9" name="Oval 8"/>
          <p:cNvSpPr/>
          <p:nvPr/>
        </p:nvSpPr>
        <p:spPr>
          <a:xfrm>
            <a:off x="2920119" y="1846865"/>
            <a:ext cx="642793" cy="642793"/>
          </a:xfrm>
          <a:prstGeom prst="ellipse">
            <a:avLst/>
          </a:prstGeom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 smtClean="0">
                <a:latin typeface="Gill Sans Light"/>
                <a:cs typeface="Gill Sans Light"/>
              </a:rPr>
              <a:t>5</a:t>
            </a:r>
            <a:endParaRPr lang="en-US" sz="2800" dirty="0">
              <a:latin typeface="Gill Sans Light"/>
              <a:cs typeface="Gill Sans Ligh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915984" y="5275168"/>
            <a:ext cx="642793" cy="642793"/>
          </a:xfrm>
          <a:prstGeom prst="ellipse">
            <a:avLst/>
          </a:prstGeom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latin typeface="Gill Sans Light"/>
                <a:cs typeface="Gill Sans Light"/>
              </a:rPr>
              <a:t>2</a:t>
            </a:r>
            <a:endParaRPr lang="en-US" sz="2800" dirty="0">
              <a:latin typeface="Gill Sans Light"/>
              <a:cs typeface="Gill Sans Light"/>
            </a:endParaRPr>
          </a:p>
        </p:txBody>
      </p:sp>
      <p:cxnSp>
        <p:nvCxnSpPr>
          <p:cNvPr id="22" name="Straight Arrow Connector 21"/>
          <p:cNvCxnSpPr>
            <a:stCxn id="7" idx="4"/>
            <a:endCxn id="8" idx="0"/>
          </p:cNvCxnSpPr>
          <p:nvPr/>
        </p:nvCxnSpPr>
        <p:spPr>
          <a:xfrm>
            <a:off x="608108" y="2489658"/>
            <a:ext cx="0" cy="2785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2"/>
            <a:endCxn id="7" idx="6"/>
          </p:cNvCxnSpPr>
          <p:nvPr/>
        </p:nvCxnSpPr>
        <p:spPr>
          <a:xfrm flipH="1">
            <a:off x="929504" y="2168262"/>
            <a:ext cx="199061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" idx="0"/>
            <a:endCxn id="9" idx="4"/>
          </p:cNvCxnSpPr>
          <p:nvPr/>
        </p:nvCxnSpPr>
        <p:spPr>
          <a:xfrm flipV="1">
            <a:off x="3237381" y="2489658"/>
            <a:ext cx="4135" cy="27855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3"/>
            <a:endCxn id="8" idx="7"/>
          </p:cNvCxnSpPr>
          <p:nvPr/>
        </p:nvCxnSpPr>
        <p:spPr>
          <a:xfrm flipH="1">
            <a:off x="835369" y="2395523"/>
            <a:ext cx="2178885" cy="29737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6460" y="917052"/>
            <a:ext cx="308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Gill Sans Light"/>
                <a:cs typeface="Gill Sans Light"/>
              </a:rPr>
              <a:t>Property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0234" y="917052"/>
            <a:ext cx="2421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Gill Sans Light"/>
                <a:cs typeface="Gill Sans Light"/>
              </a:rPr>
              <a:t>Vertex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7719" y="3733800"/>
            <a:ext cx="2066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Gill Sans Light"/>
                <a:cs typeface="Gill Sans Light"/>
              </a:rPr>
              <a:t>Edge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854" y="2281519"/>
            <a:ext cx="990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latin typeface="Gill Sans Light"/>
                <a:cs typeface="Gill Sans Light"/>
              </a:rPr>
              <a:t>rxin</a:t>
            </a:r>
            <a:endParaRPr lang="en-US" dirty="0">
              <a:latin typeface="Gill Sans Light"/>
              <a:cs typeface="Gill Sans Light"/>
            </a:endParaRPr>
          </a:p>
          <a:p>
            <a:r>
              <a:rPr lang="en-US" dirty="0" err="1" smtClean="0">
                <a:latin typeface="Gill Sans Light"/>
                <a:cs typeface="Gill Sans Light"/>
              </a:rPr>
              <a:t>stu</a:t>
            </a:r>
            <a:r>
              <a:rPr lang="en-US" dirty="0" smtClean="0">
                <a:latin typeface="Gill Sans Light"/>
                <a:cs typeface="Gill Sans Light"/>
              </a:rPr>
              <a:t>.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352800" y="2284694"/>
            <a:ext cx="990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Gill Sans Light"/>
                <a:cs typeface="Gill Sans Light"/>
              </a:rPr>
              <a:t>franklin, prof.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352800" y="5691187"/>
            <a:ext cx="990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Gill Sans Light"/>
                <a:cs typeface="Gill Sans Light"/>
              </a:rPr>
              <a:t>i</a:t>
            </a:r>
            <a:r>
              <a:rPr lang="en-US" dirty="0" err="1" smtClean="0">
                <a:latin typeface="Gill Sans Light"/>
                <a:cs typeface="Gill Sans Light"/>
              </a:rPr>
              <a:t>stoica</a:t>
            </a:r>
            <a:endParaRPr lang="en-US" dirty="0" smtClean="0">
              <a:latin typeface="Gill Sans Light"/>
              <a:cs typeface="Gill Sans Light"/>
            </a:endParaRPr>
          </a:p>
          <a:p>
            <a:r>
              <a:rPr lang="en-US" dirty="0" smtClean="0">
                <a:latin typeface="Gill Sans Light"/>
                <a:cs typeface="Gill Sans Light"/>
              </a:rPr>
              <a:t>prof.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26854" y="5691187"/>
            <a:ext cx="990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Gill Sans Light"/>
                <a:cs typeface="Gill Sans Light"/>
              </a:rPr>
              <a:t>jgonzal</a:t>
            </a:r>
            <a:r>
              <a:rPr lang="en-US" dirty="0">
                <a:latin typeface="Gill Sans Light"/>
                <a:cs typeface="Gill Sans Light"/>
              </a:rPr>
              <a:t>, </a:t>
            </a:r>
            <a:r>
              <a:rPr lang="en-US" dirty="0" err="1" smtClean="0">
                <a:latin typeface="Gill Sans Light"/>
                <a:cs typeface="Gill Sans Light"/>
              </a:rPr>
              <a:t>pst.doc</a:t>
            </a:r>
            <a:r>
              <a:rPr lang="en-US" dirty="0" smtClean="0">
                <a:latin typeface="Gill Sans Light"/>
                <a:cs typeface="Gill Sans Light"/>
              </a:rPr>
              <a:t>.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38" name="Rounded Rectangle 37"/>
          <p:cNvSpPr/>
          <p:nvPr/>
        </p:nvSpPr>
        <p:spPr>
          <a:xfrm rot="5400000">
            <a:off x="427479" y="3613558"/>
            <a:ext cx="990600" cy="39185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Gill Sans Light"/>
                <a:cs typeface="Gill Sans Light"/>
              </a:rPr>
              <a:t>Collab</a:t>
            </a:r>
            <a:r>
              <a:rPr lang="en-US" dirty="0" smtClean="0">
                <a:latin typeface="Gill Sans Light"/>
                <a:cs typeface="Gill Sans Light"/>
              </a:rPr>
              <a:t>.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39" name="Rounded Rectangle 38"/>
          <p:cNvSpPr/>
          <p:nvPr/>
        </p:nvSpPr>
        <p:spPr>
          <a:xfrm rot="18508927">
            <a:off x="1222154" y="3454147"/>
            <a:ext cx="990600" cy="39185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PI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490282" y="1668872"/>
            <a:ext cx="990600" cy="39185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Advisor</a:t>
            </a:r>
            <a:endParaRPr lang="en-US" dirty="0">
              <a:latin typeface="Gill Sans Light"/>
              <a:cs typeface="Gill Sans Light"/>
            </a:endParaRPr>
          </a:p>
        </p:txBody>
      </p:sp>
      <p:sp>
        <p:nvSpPr>
          <p:cNvPr id="41" name="Rounded Rectangle 40"/>
          <p:cNvSpPr/>
          <p:nvPr/>
        </p:nvSpPr>
        <p:spPr>
          <a:xfrm rot="5400000">
            <a:off x="2891599" y="3807394"/>
            <a:ext cx="1292549" cy="39185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Gill Sans Light"/>
                <a:cs typeface="Gill Sans Light"/>
              </a:rPr>
              <a:t>Colleague</a:t>
            </a:r>
            <a:endParaRPr lang="en-US" dirty="0">
              <a:latin typeface="Gill Sans Light"/>
              <a:cs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46203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70057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Gill Sans Light"/>
                <a:cs typeface="Gill Sans Light"/>
              </a:rPr>
              <a:t>Data-Parallel</a:t>
            </a:r>
            <a:endParaRPr lang="en-US" sz="4000" dirty="0">
              <a:latin typeface="Gill Sans Light"/>
              <a:cs typeface="Gill Sans Ligh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0" y="1170057"/>
            <a:ext cx="457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Gill Sans Light"/>
                <a:cs typeface="Gill Sans Light"/>
              </a:rPr>
              <a:t>Graph-Parallel</a:t>
            </a:r>
            <a:endParaRPr lang="en-US" sz="4000" dirty="0">
              <a:latin typeface="Gill Sans Light"/>
              <a:cs typeface="Gill Sans Light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0" y="1524000"/>
            <a:ext cx="0" cy="5087950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4797190" y="2000321"/>
            <a:ext cx="4118210" cy="4324279"/>
            <a:chOff x="4797190" y="2000321"/>
            <a:chExt cx="4118210" cy="4324279"/>
          </a:xfrm>
        </p:grpSpPr>
        <p:sp>
          <p:nvSpPr>
            <p:cNvPr id="6" name="Rectangle 5"/>
            <p:cNvSpPr/>
            <p:nvPr/>
          </p:nvSpPr>
          <p:spPr>
            <a:xfrm>
              <a:off x="5334000" y="3048000"/>
              <a:ext cx="3048000" cy="3276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Property Graph</a:t>
              </a:r>
              <a:endParaRPr lang="en-US" sz="2800" dirty="0">
                <a:latin typeface="Gill Sans Light"/>
                <a:cs typeface="Gill Sans Light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412017" y="3649647"/>
              <a:ext cx="1752501" cy="2522553"/>
              <a:chOff x="5640617" y="3597015"/>
              <a:chExt cx="1752501" cy="2522553"/>
            </a:xfrm>
          </p:grpSpPr>
          <p:sp>
            <p:nvSpPr>
              <p:cNvPr id="35" name="Freeform 34"/>
              <p:cNvSpPr/>
              <p:nvPr/>
            </p:nvSpPr>
            <p:spPr>
              <a:xfrm>
                <a:off x="5640617" y="3597015"/>
                <a:ext cx="1752501" cy="2522553"/>
              </a:xfrm>
              <a:custGeom>
                <a:avLst/>
                <a:gdLst>
                  <a:gd name="connsiteX0" fmla="*/ 31632 w 1797847"/>
                  <a:gd name="connsiteY0" fmla="*/ 812586 h 2552203"/>
                  <a:gd name="connsiteX1" fmla="*/ 650368 w 1797847"/>
                  <a:gd name="connsiteY1" fmla="*/ 96119 h 2552203"/>
                  <a:gd name="connsiteX2" fmla="*/ 1073714 w 1797847"/>
                  <a:gd name="connsiteY2" fmla="*/ 52697 h 2552203"/>
                  <a:gd name="connsiteX3" fmla="*/ 1106279 w 1797847"/>
                  <a:gd name="connsiteY3" fmla="*/ 519486 h 2552203"/>
                  <a:gd name="connsiteX4" fmla="*/ 834904 w 1797847"/>
                  <a:gd name="connsiteY4" fmla="*/ 682320 h 2552203"/>
                  <a:gd name="connsiteX5" fmla="*/ 1214829 w 1797847"/>
                  <a:gd name="connsiteY5" fmla="*/ 671464 h 2552203"/>
                  <a:gd name="connsiteX6" fmla="*/ 1464495 w 1797847"/>
                  <a:gd name="connsiteY6" fmla="*/ 552053 h 2552203"/>
                  <a:gd name="connsiteX7" fmla="*/ 1735871 w 1797847"/>
                  <a:gd name="connsiteY7" fmla="*/ 725742 h 2552203"/>
                  <a:gd name="connsiteX8" fmla="*/ 1768436 w 1797847"/>
                  <a:gd name="connsiteY8" fmla="*/ 1094831 h 2552203"/>
                  <a:gd name="connsiteX9" fmla="*/ 1377655 w 1797847"/>
                  <a:gd name="connsiteY9" fmla="*/ 1235953 h 2552203"/>
                  <a:gd name="connsiteX10" fmla="*/ 1095424 w 1797847"/>
                  <a:gd name="connsiteY10" fmla="*/ 1116542 h 2552203"/>
                  <a:gd name="connsiteX11" fmla="*/ 552673 w 1797847"/>
                  <a:gd name="connsiteY11" fmla="*/ 1170820 h 2552203"/>
                  <a:gd name="connsiteX12" fmla="*/ 726353 w 1797847"/>
                  <a:gd name="connsiteY12" fmla="*/ 2093542 h 2552203"/>
                  <a:gd name="connsiteX13" fmla="*/ 672078 w 1797847"/>
                  <a:gd name="connsiteY13" fmla="*/ 2527765 h 2552203"/>
                  <a:gd name="connsiteX14" fmla="*/ 237877 w 1797847"/>
                  <a:gd name="connsiteY14" fmla="*/ 2462631 h 2552203"/>
                  <a:gd name="connsiteX15" fmla="*/ 107617 w 1797847"/>
                  <a:gd name="connsiteY15" fmla="*/ 2169531 h 2552203"/>
                  <a:gd name="connsiteX16" fmla="*/ 31632 w 1797847"/>
                  <a:gd name="connsiteY16" fmla="*/ 812586 h 2552203"/>
                  <a:gd name="connsiteX0" fmla="*/ 31632 w 1797847"/>
                  <a:gd name="connsiteY0" fmla="*/ 806135 h 2545752"/>
                  <a:gd name="connsiteX1" fmla="*/ 650368 w 1797847"/>
                  <a:gd name="connsiteY1" fmla="*/ 89668 h 2545752"/>
                  <a:gd name="connsiteX2" fmla="*/ 1073714 w 1797847"/>
                  <a:gd name="connsiteY2" fmla="*/ 46246 h 2545752"/>
                  <a:gd name="connsiteX3" fmla="*/ 1106279 w 1797847"/>
                  <a:gd name="connsiteY3" fmla="*/ 415335 h 2545752"/>
                  <a:gd name="connsiteX4" fmla="*/ 834904 w 1797847"/>
                  <a:gd name="connsiteY4" fmla="*/ 675869 h 2545752"/>
                  <a:gd name="connsiteX5" fmla="*/ 1214829 w 1797847"/>
                  <a:gd name="connsiteY5" fmla="*/ 665013 h 2545752"/>
                  <a:gd name="connsiteX6" fmla="*/ 1464495 w 1797847"/>
                  <a:gd name="connsiteY6" fmla="*/ 545602 h 2545752"/>
                  <a:gd name="connsiteX7" fmla="*/ 1735871 w 1797847"/>
                  <a:gd name="connsiteY7" fmla="*/ 719291 h 2545752"/>
                  <a:gd name="connsiteX8" fmla="*/ 1768436 w 1797847"/>
                  <a:gd name="connsiteY8" fmla="*/ 1088380 h 2545752"/>
                  <a:gd name="connsiteX9" fmla="*/ 1377655 w 1797847"/>
                  <a:gd name="connsiteY9" fmla="*/ 1229502 h 2545752"/>
                  <a:gd name="connsiteX10" fmla="*/ 1095424 w 1797847"/>
                  <a:gd name="connsiteY10" fmla="*/ 1110091 h 2545752"/>
                  <a:gd name="connsiteX11" fmla="*/ 552673 w 1797847"/>
                  <a:gd name="connsiteY11" fmla="*/ 1164369 h 2545752"/>
                  <a:gd name="connsiteX12" fmla="*/ 726353 w 1797847"/>
                  <a:gd name="connsiteY12" fmla="*/ 2087091 h 2545752"/>
                  <a:gd name="connsiteX13" fmla="*/ 672078 w 1797847"/>
                  <a:gd name="connsiteY13" fmla="*/ 2521314 h 2545752"/>
                  <a:gd name="connsiteX14" fmla="*/ 237877 w 1797847"/>
                  <a:gd name="connsiteY14" fmla="*/ 2456180 h 2545752"/>
                  <a:gd name="connsiteX15" fmla="*/ 107617 w 1797847"/>
                  <a:gd name="connsiteY15" fmla="*/ 2163080 h 2545752"/>
                  <a:gd name="connsiteX16" fmla="*/ 31632 w 1797847"/>
                  <a:gd name="connsiteY16" fmla="*/ 806135 h 2545752"/>
                  <a:gd name="connsiteX0" fmla="*/ 31632 w 1797847"/>
                  <a:gd name="connsiteY0" fmla="*/ 806135 h 2545752"/>
                  <a:gd name="connsiteX1" fmla="*/ 650368 w 1797847"/>
                  <a:gd name="connsiteY1" fmla="*/ 89668 h 2545752"/>
                  <a:gd name="connsiteX2" fmla="*/ 1073714 w 1797847"/>
                  <a:gd name="connsiteY2" fmla="*/ 46246 h 2545752"/>
                  <a:gd name="connsiteX3" fmla="*/ 1106279 w 1797847"/>
                  <a:gd name="connsiteY3" fmla="*/ 415335 h 2545752"/>
                  <a:gd name="connsiteX4" fmla="*/ 834904 w 1797847"/>
                  <a:gd name="connsiteY4" fmla="*/ 675869 h 2545752"/>
                  <a:gd name="connsiteX5" fmla="*/ 1464495 w 1797847"/>
                  <a:gd name="connsiteY5" fmla="*/ 545602 h 2545752"/>
                  <a:gd name="connsiteX6" fmla="*/ 1735871 w 1797847"/>
                  <a:gd name="connsiteY6" fmla="*/ 719291 h 2545752"/>
                  <a:gd name="connsiteX7" fmla="*/ 1768436 w 1797847"/>
                  <a:gd name="connsiteY7" fmla="*/ 1088380 h 2545752"/>
                  <a:gd name="connsiteX8" fmla="*/ 1377655 w 1797847"/>
                  <a:gd name="connsiteY8" fmla="*/ 1229502 h 2545752"/>
                  <a:gd name="connsiteX9" fmla="*/ 1095424 w 1797847"/>
                  <a:gd name="connsiteY9" fmla="*/ 1110091 h 2545752"/>
                  <a:gd name="connsiteX10" fmla="*/ 552673 w 1797847"/>
                  <a:gd name="connsiteY10" fmla="*/ 1164369 h 2545752"/>
                  <a:gd name="connsiteX11" fmla="*/ 726353 w 1797847"/>
                  <a:gd name="connsiteY11" fmla="*/ 2087091 h 2545752"/>
                  <a:gd name="connsiteX12" fmla="*/ 672078 w 1797847"/>
                  <a:gd name="connsiteY12" fmla="*/ 2521314 h 2545752"/>
                  <a:gd name="connsiteX13" fmla="*/ 237877 w 1797847"/>
                  <a:gd name="connsiteY13" fmla="*/ 2456180 h 2545752"/>
                  <a:gd name="connsiteX14" fmla="*/ 107617 w 1797847"/>
                  <a:gd name="connsiteY14" fmla="*/ 2163080 h 2545752"/>
                  <a:gd name="connsiteX15" fmla="*/ 31632 w 1797847"/>
                  <a:gd name="connsiteY15" fmla="*/ 806135 h 2545752"/>
                  <a:gd name="connsiteX0" fmla="*/ 31632 w 1797847"/>
                  <a:gd name="connsiteY0" fmla="*/ 806135 h 2545752"/>
                  <a:gd name="connsiteX1" fmla="*/ 650368 w 1797847"/>
                  <a:gd name="connsiteY1" fmla="*/ 89668 h 2545752"/>
                  <a:gd name="connsiteX2" fmla="*/ 1073714 w 1797847"/>
                  <a:gd name="connsiteY2" fmla="*/ 46246 h 2545752"/>
                  <a:gd name="connsiteX3" fmla="*/ 1106279 w 1797847"/>
                  <a:gd name="connsiteY3" fmla="*/ 415335 h 2545752"/>
                  <a:gd name="connsiteX4" fmla="*/ 900034 w 1797847"/>
                  <a:gd name="connsiteY4" fmla="*/ 697580 h 2545752"/>
                  <a:gd name="connsiteX5" fmla="*/ 1464495 w 1797847"/>
                  <a:gd name="connsiteY5" fmla="*/ 545602 h 2545752"/>
                  <a:gd name="connsiteX6" fmla="*/ 1735871 w 1797847"/>
                  <a:gd name="connsiteY6" fmla="*/ 719291 h 2545752"/>
                  <a:gd name="connsiteX7" fmla="*/ 1768436 w 1797847"/>
                  <a:gd name="connsiteY7" fmla="*/ 1088380 h 2545752"/>
                  <a:gd name="connsiteX8" fmla="*/ 1377655 w 1797847"/>
                  <a:gd name="connsiteY8" fmla="*/ 1229502 h 2545752"/>
                  <a:gd name="connsiteX9" fmla="*/ 1095424 w 1797847"/>
                  <a:gd name="connsiteY9" fmla="*/ 1110091 h 2545752"/>
                  <a:gd name="connsiteX10" fmla="*/ 552673 w 1797847"/>
                  <a:gd name="connsiteY10" fmla="*/ 1164369 h 2545752"/>
                  <a:gd name="connsiteX11" fmla="*/ 726353 w 1797847"/>
                  <a:gd name="connsiteY11" fmla="*/ 2087091 h 2545752"/>
                  <a:gd name="connsiteX12" fmla="*/ 672078 w 1797847"/>
                  <a:gd name="connsiteY12" fmla="*/ 2521314 h 2545752"/>
                  <a:gd name="connsiteX13" fmla="*/ 237877 w 1797847"/>
                  <a:gd name="connsiteY13" fmla="*/ 2456180 h 2545752"/>
                  <a:gd name="connsiteX14" fmla="*/ 107617 w 1797847"/>
                  <a:gd name="connsiteY14" fmla="*/ 2163080 h 2545752"/>
                  <a:gd name="connsiteX15" fmla="*/ 31632 w 1797847"/>
                  <a:gd name="connsiteY15" fmla="*/ 806135 h 2545752"/>
                  <a:gd name="connsiteX0" fmla="*/ 31632 w 1736862"/>
                  <a:gd name="connsiteY0" fmla="*/ 806135 h 2545752"/>
                  <a:gd name="connsiteX1" fmla="*/ 650368 w 1736862"/>
                  <a:gd name="connsiteY1" fmla="*/ 89668 h 2545752"/>
                  <a:gd name="connsiteX2" fmla="*/ 1073714 w 1736862"/>
                  <a:gd name="connsiteY2" fmla="*/ 46246 h 2545752"/>
                  <a:gd name="connsiteX3" fmla="*/ 1106279 w 1736862"/>
                  <a:gd name="connsiteY3" fmla="*/ 415335 h 2545752"/>
                  <a:gd name="connsiteX4" fmla="*/ 900034 w 1736862"/>
                  <a:gd name="connsiteY4" fmla="*/ 697580 h 2545752"/>
                  <a:gd name="connsiteX5" fmla="*/ 1464495 w 1736862"/>
                  <a:gd name="connsiteY5" fmla="*/ 545602 h 2545752"/>
                  <a:gd name="connsiteX6" fmla="*/ 1735871 w 1736862"/>
                  <a:gd name="connsiteY6" fmla="*/ 719291 h 2545752"/>
                  <a:gd name="connsiteX7" fmla="*/ 1377655 w 1736862"/>
                  <a:gd name="connsiteY7" fmla="*/ 1229502 h 2545752"/>
                  <a:gd name="connsiteX8" fmla="*/ 1095424 w 1736862"/>
                  <a:gd name="connsiteY8" fmla="*/ 1110091 h 2545752"/>
                  <a:gd name="connsiteX9" fmla="*/ 552673 w 1736862"/>
                  <a:gd name="connsiteY9" fmla="*/ 1164369 h 2545752"/>
                  <a:gd name="connsiteX10" fmla="*/ 726353 w 1736862"/>
                  <a:gd name="connsiteY10" fmla="*/ 2087091 h 2545752"/>
                  <a:gd name="connsiteX11" fmla="*/ 672078 w 1736862"/>
                  <a:gd name="connsiteY11" fmla="*/ 2521314 h 2545752"/>
                  <a:gd name="connsiteX12" fmla="*/ 237877 w 1736862"/>
                  <a:gd name="connsiteY12" fmla="*/ 2456180 h 2545752"/>
                  <a:gd name="connsiteX13" fmla="*/ 107617 w 1736862"/>
                  <a:gd name="connsiteY13" fmla="*/ 2163080 h 2545752"/>
                  <a:gd name="connsiteX14" fmla="*/ 31632 w 1736862"/>
                  <a:gd name="connsiteY14" fmla="*/ 806135 h 2545752"/>
                  <a:gd name="connsiteX0" fmla="*/ 31632 w 1769283"/>
                  <a:gd name="connsiteY0" fmla="*/ 806135 h 2545752"/>
                  <a:gd name="connsiteX1" fmla="*/ 650368 w 1769283"/>
                  <a:gd name="connsiteY1" fmla="*/ 89668 h 2545752"/>
                  <a:gd name="connsiteX2" fmla="*/ 1073714 w 1769283"/>
                  <a:gd name="connsiteY2" fmla="*/ 46246 h 2545752"/>
                  <a:gd name="connsiteX3" fmla="*/ 1106279 w 1769283"/>
                  <a:gd name="connsiteY3" fmla="*/ 415335 h 2545752"/>
                  <a:gd name="connsiteX4" fmla="*/ 900034 w 1769283"/>
                  <a:gd name="connsiteY4" fmla="*/ 697580 h 2545752"/>
                  <a:gd name="connsiteX5" fmla="*/ 1464495 w 1769283"/>
                  <a:gd name="connsiteY5" fmla="*/ 545602 h 2545752"/>
                  <a:gd name="connsiteX6" fmla="*/ 1768436 w 1769283"/>
                  <a:gd name="connsiteY6" fmla="*/ 903836 h 2545752"/>
                  <a:gd name="connsiteX7" fmla="*/ 1377655 w 1769283"/>
                  <a:gd name="connsiteY7" fmla="*/ 1229502 h 2545752"/>
                  <a:gd name="connsiteX8" fmla="*/ 1095424 w 1769283"/>
                  <a:gd name="connsiteY8" fmla="*/ 1110091 h 2545752"/>
                  <a:gd name="connsiteX9" fmla="*/ 552673 w 1769283"/>
                  <a:gd name="connsiteY9" fmla="*/ 1164369 h 2545752"/>
                  <a:gd name="connsiteX10" fmla="*/ 726353 w 1769283"/>
                  <a:gd name="connsiteY10" fmla="*/ 2087091 h 2545752"/>
                  <a:gd name="connsiteX11" fmla="*/ 672078 w 1769283"/>
                  <a:gd name="connsiteY11" fmla="*/ 2521314 h 2545752"/>
                  <a:gd name="connsiteX12" fmla="*/ 237877 w 1769283"/>
                  <a:gd name="connsiteY12" fmla="*/ 2456180 h 2545752"/>
                  <a:gd name="connsiteX13" fmla="*/ 107617 w 1769283"/>
                  <a:gd name="connsiteY13" fmla="*/ 2163080 h 2545752"/>
                  <a:gd name="connsiteX14" fmla="*/ 31632 w 1769283"/>
                  <a:gd name="connsiteY14" fmla="*/ 806135 h 2545752"/>
                  <a:gd name="connsiteX0" fmla="*/ 31632 w 1769283"/>
                  <a:gd name="connsiteY0" fmla="*/ 806135 h 2545752"/>
                  <a:gd name="connsiteX1" fmla="*/ 650368 w 1769283"/>
                  <a:gd name="connsiteY1" fmla="*/ 89668 h 2545752"/>
                  <a:gd name="connsiteX2" fmla="*/ 1073714 w 1769283"/>
                  <a:gd name="connsiteY2" fmla="*/ 46246 h 2545752"/>
                  <a:gd name="connsiteX3" fmla="*/ 1106279 w 1769283"/>
                  <a:gd name="connsiteY3" fmla="*/ 415335 h 2545752"/>
                  <a:gd name="connsiteX4" fmla="*/ 900034 w 1769283"/>
                  <a:gd name="connsiteY4" fmla="*/ 697580 h 2545752"/>
                  <a:gd name="connsiteX5" fmla="*/ 1464495 w 1769283"/>
                  <a:gd name="connsiteY5" fmla="*/ 545602 h 2545752"/>
                  <a:gd name="connsiteX6" fmla="*/ 1768436 w 1769283"/>
                  <a:gd name="connsiteY6" fmla="*/ 903836 h 2545752"/>
                  <a:gd name="connsiteX7" fmla="*/ 1377655 w 1769283"/>
                  <a:gd name="connsiteY7" fmla="*/ 1229502 h 2545752"/>
                  <a:gd name="connsiteX8" fmla="*/ 552673 w 1769283"/>
                  <a:gd name="connsiteY8" fmla="*/ 1164369 h 2545752"/>
                  <a:gd name="connsiteX9" fmla="*/ 726353 w 1769283"/>
                  <a:gd name="connsiteY9" fmla="*/ 2087091 h 2545752"/>
                  <a:gd name="connsiteX10" fmla="*/ 672078 w 1769283"/>
                  <a:gd name="connsiteY10" fmla="*/ 2521314 h 2545752"/>
                  <a:gd name="connsiteX11" fmla="*/ 237877 w 1769283"/>
                  <a:gd name="connsiteY11" fmla="*/ 2456180 h 2545752"/>
                  <a:gd name="connsiteX12" fmla="*/ 107617 w 1769283"/>
                  <a:gd name="connsiteY12" fmla="*/ 2163080 h 2545752"/>
                  <a:gd name="connsiteX13" fmla="*/ 31632 w 1769283"/>
                  <a:gd name="connsiteY13" fmla="*/ 806135 h 2545752"/>
                  <a:gd name="connsiteX0" fmla="*/ 16022 w 1753673"/>
                  <a:gd name="connsiteY0" fmla="*/ 806135 h 2545752"/>
                  <a:gd name="connsiteX1" fmla="*/ 634758 w 1753673"/>
                  <a:gd name="connsiteY1" fmla="*/ 89668 h 2545752"/>
                  <a:gd name="connsiteX2" fmla="*/ 1058104 w 1753673"/>
                  <a:gd name="connsiteY2" fmla="*/ 46246 h 2545752"/>
                  <a:gd name="connsiteX3" fmla="*/ 1090669 w 1753673"/>
                  <a:gd name="connsiteY3" fmla="*/ 415335 h 2545752"/>
                  <a:gd name="connsiteX4" fmla="*/ 884424 w 1753673"/>
                  <a:gd name="connsiteY4" fmla="*/ 697580 h 2545752"/>
                  <a:gd name="connsiteX5" fmla="*/ 1448885 w 1753673"/>
                  <a:gd name="connsiteY5" fmla="*/ 545602 h 2545752"/>
                  <a:gd name="connsiteX6" fmla="*/ 1752826 w 1753673"/>
                  <a:gd name="connsiteY6" fmla="*/ 903836 h 2545752"/>
                  <a:gd name="connsiteX7" fmla="*/ 1362045 w 1753673"/>
                  <a:gd name="connsiteY7" fmla="*/ 1229502 h 2545752"/>
                  <a:gd name="connsiteX8" fmla="*/ 537063 w 1753673"/>
                  <a:gd name="connsiteY8" fmla="*/ 1164369 h 2545752"/>
                  <a:gd name="connsiteX9" fmla="*/ 710743 w 1753673"/>
                  <a:gd name="connsiteY9" fmla="*/ 2087091 h 2545752"/>
                  <a:gd name="connsiteX10" fmla="*/ 656468 w 1753673"/>
                  <a:gd name="connsiteY10" fmla="*/ 2521314 h 2545752"/>
                  <a:gd name="connsiteX11" fmla="*/ 222267 w 1753673"/>
                  <a:gd name="connsiteY11" fmla="*/ 2456180 h 2545752"/>
                  <a:gd name="connsiteX12" fmla="*/ 16022 w 1753673"/>
                  <a:gd name="connsiteY12" fmla="*/ 806135 h 2545752"/>
                  <a:gd name="connsiteX0" fmla="*/ 22512 w 1760163"/>
                  <a:gd name="connsiteY0" fmla="*/ 806135 h 2536601"/>
                  <a:gd name="connsiteX1" fmla="*/ 641248 w 1760163"/>
                  <a:gd name="connsiteY1" fmla="*/ 89668 h 2536601"/>
                  <a:gd name="connsiteX2" fmla="*/ 1064594 w 1760163"/>
                  <a:gd name="connsiteY2" fmla="*/ 46246 h 2536601"/>
                  <a:gd name="connsiteX3" fmla="*/ 1097159 w 1760163"/>
                  <a:gd name="connsiteY3" fmla="*/ 415335 h 2536601"/>
                  <a:gd name="connsiteX4" fmla="*/ 890914 w 1760163"/>
                  <a:gd name="connsiteY4" fmla="*/ 697580 h 2536601"/>
                  <a:gd name="connsiteX5" fmla="*/ 1455375 w 1760163"/>
                  <a:gd name="connsiteY5" fmla="*/ 545602 h 2536601"/>
                  <a:gd name="connsiteX6" fmla="*/ 1759316 w 1760163"/>
                  <a:gd name="connsiteY6" fmla="*/ 903836 h 2536601"/>
                  <a:gd name="connsiteX7" fmla="*/ 1368535 w 1760163"/>
                  <a:gd name="connsiteY7" fmla="*/ 1229502 h 2536601"/>
                  <a:gd name="connsiteX8" fmla="*/ 543553 w 1760163"/>
                  <a:gd name="connsiteY8" fmla="*/ 1164369 h 2536601"/>
                  <a:gd name="connsiteX9" fmla="*/ 717233 w 1760163"/>
                  <a:gd name="connsiteY9" fmla="*/ 2087091 h 2536601"/>
                  <a:gd name="connsiteX10" fmla="*/ 662958 w 1760163"/>
                  <a:gd name="connsiteY10" fmla="*/ 2521314 h 2536601"/>
                  <a:gd name="connsiteX11" fmla="*/ 185337 w 1760163"/>
                  <a:gd name="connsiteY11" fmla="*/ 2412758 h 2536601"/>
                  <a:gd name="connsiteX12" fmla="*/ 22512 w 1760163"/>
                  <a:gd name="connsiteY12" fmla="*/ 806135 h 2536601"/>
                  <a:gd name="connsiteX0" fmla="*/ 22512 w 1760163"/>
                  <a:gd name="connsiteY0" fmla="*/ 806135 h 2517435"/>
                  <a:gd name="connsiteX1" fmla="*/ 641248 w 1760163"/>
                  <a:gd name="connsiteY1" fmla="*/ 89668 h 2517435"/>
                  <a:gd name="connsiteX2" fmla="*/ 1064594 w 1760163"/>
                  <a:gd name="connsiteY2" fmla="*/ 46246 h 2517435"/>
                  <a:gd name="connsiteX3" fmla="*/ 1097159 w 1760163"/>
                  <a:gd name="connsiteY3" fmla="*/ 415335 h 2517435"/>
                  <a:gd name="connsiteX4" fmla="*/ 890914 w 1760163"/>
                  <a:gd name="connsiteY4" fmla="*/ 697580 h 2517435"/>
                  <a:gd name="connsiteX5" fmla="*/ 1455375 w 1760163"/>
                  <a:gd name="connsiteY5" fmla="*/ 545602 h 2517435"/>
                  <a:gd name="connsiteX6" fmla="*/ 1759316 w 1760163"/>
                  <a:gd name="connsiteY6" fmla="*/ 903836 h 2517435"/>
                  <a:gd name="connsiteX7" fmla="*/ 1368535 w 1760163"/>
                  <a:gd name="connsiteY7" fmla="*/ 1229502 h 2517435"/>
                  <a:gd name="connsiteX8" fmla="*/ 543553 w 1760163"/>
                  <a:gd name="connsiteY8" fmla="*/ 1164369 h 2517435"/>
                  <a:gd name="connsiteX9" fmla="*/ 717233 w 1760163"/>
                  <a:gd name="connsiteY9" fmla="*/ 2087091 h 2517435"/>
                  <a:gd name="connsiteX10" fmla="*/ 619538 w 1760163"/>
                  <a:gd name="connsiteY10" fmla="*/ 2499603 h 2517435"/>
                  <a:gd name="connsiteX11" fmla="*/ 185337 w 1760163"/>
                  <a:gd name="connsiteY11" fmla="*/ 2412758 h 2517435"/>
                  <a:gd name="connsiteX12" fmla="*/ 22512 w 1760163"/>
                  <a:gd name="connsiteY12" fmla="*/ 806135 h 2517435"/>
                  <a:gd name="connsiteX0" fmla="*/ 30153 w 1767804"/>
                  <a:gd name="connsiteY0" fmla="*/ 806135 h 2540057"/>
                  <a:gd name="connsiteX1" fmla="*/ 648889 w 1767804"/>
                  <a:gd name="connsiteY1" fmla="*/ 89668 h 2540057"/>
                  <a:gd name="connsiteX2" fmla="*/ 1072235 w 1767804"/>
                  <a:gd name="connsiteY2" fmla="*/ 46246 h 2540057"/>
                  <a:gd name="connsiteX3" fmla="*/ 1104800 w 1767804"/>
                  <a:gd name="connsiteY3" fmla="*/ 415335 h 2540057"/>
                  <a:gd name="connsiteX4" fmla="*/ 898555 w 1767804"/>
                  <a:gd name="connsiteY4" fmla="*/ 697580 h 2540057"/>
                  <a:gd name="connsiteX5" fmla="*/ 1463016 w 1767804"/>
                  <a:gd name="connsiteY5" fmla="*/ 545602 h 2540057"/>
                  <a:gd name="connsiteX6" fmla="*/ 1766957 w 1767804"/>
                  <a:gd name="connsiteY6" fmla="*/ 903836 h 2540057"/>
                  <a:gd name="connsiteX7" fmla="*/ 1376176 w 1767804"/>
                  <a:gd name="connsiteY7" fmla="*/ 1229502 h 2540057"/>
                  <a:gd name="connsiteX8" fmla="*/ 551194 w 1767804"/>
                  <a:gd name="connsiteY8" fmla="*/ 1164369 h 2540057"/>
                  <a:gd name="connsiteX9" fmla="*/ 724874 w 1767804"/>
                  <a:gd name="connsiteY9" fmla="*/ 2087091 h 2540057"/>
                  <a:gd name="connsiteX10" fmla="*/ 627179 w 1767804"/>
                  <a:gd name="connsiteY10" fmla="*/ 2499603 h 2540057"/>
                  <a:gd name="connsiteX11" fmla="*/ 192978 w 1767804"/>
                  <a:gd name="connsiteY11" fmla="*/ 2412758 h 2540057"/>
                  <a:gd name="connsiteX12" fmla="*/ 106138 w 1767804"/>
                  <a:gd name="connsiteY12" fmla="*/ 1511747 h 2540057"/>
                  <a:gd name="connsiteX13" fmla="*/ 30153 w 1767804"/>
                  <a:gd name="connsiteY13" fmla="*/ 806135 h 2540057"/>
                  <a:gd name="connsiteX0" fmla="*/ 14850 w 1752501"/>
                  <a:gd name="connsiteY0" fmla="*/ 788631 h 2522553"/>
                  <a:gd name="connsiteX1" fmla="*/ 405631 w 1752501"/>
                  <a:gd name="connsiteY1" fmla="*/ 452109 h 2522553"/>
                  <a:gd name="connsiteX2" fmla="*/ 633586 w 1752501"/>
                  <a:gd name="connsiteY2" fmla="*/ 72164 h 2522553"/>
                  <a:gd name="connsiteX3" fmla="*/ 1056932 w 1752501"/>
                  <a:gd name="connsiteY3" fmla="*/ 28742 h 2522553"/>
                  <a:gd name="connsiteX4" fmla="*/ 1089497 w 1752501"/>
                  <a:gd name="connsiteY4" fmla="*/ 397831 h 2522553"/>
                  <a:gd name="connsiteX5" fmla="*/ 883252 w 1752501"/>
                  <a:gd name="connsiteY5" fmla="*/ 680076 h 2522553"/>
                  <a:gd name="connsiteX6" fmla="*/ 1447713 w 1752501"/>
                  <a:gd name="connsiteY6" fmla="*/ 528098 h 2522553"/>
                  <a:gd name="connsiteX7" fmla="*/ 1751654 w 1752501"/>
                  <a:gd name="connsiteY7" fmla="*/ 886332 h 2522553"/>
                  <a:gd name="connsiteX8" fmla="*/ 1360873 w 1752501"/>
                  <a:gd name="connsiteY8" fmla="*/ 1211998 h 2522553"/>
                  <a:gd name="connsiteX9" fmla="*/ 535891 w 1752501"/>
                  <a:gd name="connsiteY9" fmla="*/ 1146865 h 2522553"/>
                  <a:gd name="connsiteX10" fmla="*/ 709571 w 1752501"/>
                  <a:gd name="connsiteY10" fmla="*/ 2069587 h 2522553"/>
                  <a:gd name="connsiteX11" fmla="*/ 611876 w 1752501"/>
                  <a:gd name="connsiteY11" fmla="*/ 2482099 h 2522553"/>
                  <a:gd name="connsiteX12" fmla="*/ 177675 w 1752501"/>
                  <a:gd name="connsiteY12" fmla="*/ 2395254 h 2522553"/>
                  <a:gd name="connsiteX13" fmla="*/ 90835 w 1752501"/>
                  <a:gd name="connsiteY13" fmla="*/ 1494243 h 2522553"/>
                  <a:gd name="connsiteX14" fmla="*/ 14850 w 1752501"/>
                  <a:gd name="connsiteY14" fmla="*/ 788631 h 2522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52501" h="2522553">
                    <a:moveTo>
                      <a:pt x="14850" y="788631"/>
                    </a:moveTo>
                    <a:cubicBezTo>
                      <a:pt x="67316" y="614942"/>
                      <a:pt x="302508" y="571520"/>
                      <a:pt x="405631" y="452109"/>
                    </a:cubicBezTo>
                    <a:cubicBezTo>
                      <a:pt x="508754" y="332698"/>
                      <a:pt x="525036" y="142725"/>
                      <a:pt x="633586" y="72164"/>
                    </a:cubicBezTo>
                    <a:cubicBezTo>
                      <a:pt x="742136" y="1603"/>
                      <a:pt x="980947" y="-25536"/>
                      <a:pt x="1056932" y="28742"/>
                    </a:cubicBezTo>
                    <a:cubicBezTo>
                      <a:pt x="1132917" y="83020"/>
                      <a:pt x="1118444" y="289275"/>
                      <a:pt x="1089497" y="397831"/>
                    </a:cubicBezTo>
                    <a:cubicBezTo>
                      <a:pt x="1060550" y="506387"/>
                      <a:pt x="823549" y="658365"/>
                      <a:pt x="883252" y="680076"/>
                    </a:cubicBezTo>
                    <a:cubicBezTo>
                      <a:pt x="942955" y="701787"/>
                      <a:pt x="1302979" y="493722"/>
                      <a:pt x="1447713" y="528098"/>
                    </a:cubicBezTo>
                    <a:cubicBezTo>
                      <a:pt x="1592447" y="562474"/>
                      <a:pt x="1766127" y="772349"/>
                      <a:pt x="1751654" y="886332"/>
                    </a:cubicBezTo>
                    <a:cubicBezTo>
                      <a:pt x="1737181" y="1000315"/>
                      <a:pt x="1563500" y="1168576"/>
                      <a:pt x="1360873" y="1211998"/>
                    </a:cubicBezTo>
                    <a:cubicBezTo>
                      <a:pt x="1158246" y="1255420"/>
                      <a:pt x="644441" y="1003934"/>
                      <a:pt x="535891" y="1146865"/>
                    </a:cubicBezTo>
                    <a:cubicBezTo>
                      <a:pt x="427341" y="1289797"/>
                      <a:pt x="696907" y="1847048"/>
                      <a:pt x="709571" y="2069587"/>
                    </a:cubicBezTo>
                    <a:cubicBezTo>
                      <a:pt x="722235" y="2292126"/>
                      <a:pt x="700525" y="2427821"/>
                      <a:pt x="611876" y="2482099"/>
                    </a:cubicBezTo>
                    <a:cubicBezTo>
                      <a:pt x="523227" y="2536377"/>
                      <a:pt x="280798" y="2559897"/>
                      <a:pt x="177675" y="2395254"/>
                    </a:cubicBezTo>
                    <a:cubicBezTo>
                      <a:pt x="74552" y="2230611"/>
                      <a:pt x="117972" y="1762013"/>
                      <a:pt x="90835" y="1494243"/>
                    </a:cubicBezTo>
                    <a:cubicBezTo>
                      <a:pt x="63698" y="1226473"/>
                      <a:pt x="-37616" y="962320"/>
                      <a:pt x="14850" y="788631"/>
                    </a:cubicBez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671580" y="4212712"/>
                <a:ext cx="533400" cy="533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502763" y="4166832"/>
              <a:ext cx="2778301" cy="1997546"/>
              <a:chOff x="5731363" y="4114200"/>
              <a:chExt cx="2778301" cy="1997546"/>
            </a:xfrm>
          </p:grpSpPr>
          <p:sp>
            <p:nvSpPr>
              <p:cNvPr id="33" name="Freeform 32"/>
              <p:cNvSpPr/>
              <p:nvPr/>
            </p:nvSpPr>
            <p:spPr>
              <a:xfrm>
                <a:off x="5731363" y="4114200"/>
                <a:ext cx="2778301" cy="1997546"/>
              </a:xfrm>
              <a:custGeom>
                <a:avLst/>
                <a:gdLst>
                  <a:gd name="connsiteX0" fmla="*/ 1395586 w 2902853"/>
                  <a:gd name="connsiteY0" fmla="*/ 2051860 h 2051860"/>
                  <a:gd name="connsiteX1" fmla="*/ 1156775 w 2902853"/>
                  <a:gd name="connsiteY1" fmla="*/ 1921593 h 2051860"/>
                  <a:gd name="connsiteX2" fmla="*/ 559749 w 2902853"/>
                  <a:gd name="connsiteY2" fmla="*/ 1986727 h 2051860"/>
                  <a:gd name="connsiteX3" fmla="*/ 168968 w 2902853"/>
                  <a:gd name="connsiteY3" fmla="*/ 2019293 h 2051860"/>
                  <a:gd name="connsiteX4" fmla="*/ 6143 w 2902853"/>
                  <a:gd name="connsiteY4" fmla="*/ 1693627 h 2051860"/>
                  <a:gd name="connsiteX5" fmla="*/ 364359 w 2902853"/>
                  <a:gd name="connsiteY5" fmla="*/ 1411382 h 2051860"/>
                  <a:gd name="connsiteX6" fmla="*/ 809415 w 2902853"/>
                  <a:gd name="connsiteY6" fmla="*/ 1509082 h 2051860"/>
                  <a:gd name="connsiteX7" fmla="*/ 1211051 w 2902853"/>
                  <a:gd name="connsiteY7" fmla="*/ 1454804 h 2051860"/>
                  <a:gd name="connsiteX8" fmla="*/ 1297891 w 2902853"/>
                  <a:gd name="connsiteY8" fmla="*/ 1053149 h 2051860"/>
                  <a:gd name="connsiteX9" fmla="*/ 1145920 w 2902853"/>
                  <a:gd name="connsiteY9" fmla="*/ 618926 h 2051860"/>
                  <a:gd name="connsiteX10" fmla="*/ 1069935 w 2902853"/>
                  <a:gd name="connsiteY10" fmla="*/ 336682 h 2051860"/>
                  <a:gd name="connsiteX11" fmla="*/ 1439006 w 2902853"/>
                  <a:gd name="connsiteY11" fmla="*/ 159 h 2051860"/>
                  <a:gd name="connsiteX12" fmla="*/ 1742947 w 2902853"/>
                  <a:gd name="connsiteY12" fmla="*/ 380104 h 2051860"/>
                  <a:gd name="connsiteX13" fmla="*/ 1612686 w 2902853"/>
                  <a:gd name="connsiteY13" fmla="*/ 792615 h 2051860"/>
                  <a:gd name="connsiteX14" fmla="*/ 1547556 w 2902853"/>
                  <a:gd name="connsiteY14" fmla="*/ 1335393 h 2051860"/>
                  <a:gd name="connsiteX15" fmla="*/ 2242278 w 2902853"/>
                  <a:gd name="connsiteY15" fmla="*/ 608071 h 2051860"/>
                  <a:gd name="connsiteX16" fmla="*/ 2318263 w 2902853"/>
                  <a:gd name="connsiteY16" fmla="*/ 152137 h 2051860"/>
                  <a:gd name="connsiteX17" fmla="*/ 2850159 w 2902853"/>
                  <a:gd name="connsiteY17" fmla="*/ 152137 h 2051860"/>
                  <a:gd name="connsiteX18" fmla="*/ 2839304 w 2902853"/>
                  <a:gd name="connsiteY18" fmla="*/ 694915 h 2051860"/>
                  <a:gd name="connsiteX19" fmla="*/ 2459378 w 2902853"/>
                  <a:gd name="connsiteY19" fmla="*/ 836037 h 2051860"/>
                  <a:gd name="connsiteX20" fmla="*/ 1851497 w 2902853"/>
                  <a:gd name="connsiteY20" fmla="*/ 1476515 h 2051860"/>
                  <a:gd name="connsiteX21" fmla="*/ 2459378 w 2902853"/>
                  <a:gd name="connsiteY21" fmla="*/ 1367960 h 2051860"/>
                  <a:gd name="connsiteX22" fmla="*/ 2730754 w 2902853"/>
                  <a:gd name="connsiteY22" fmla="*/ 1639349 h 2051860"/>
                  <a:gd name="connsiteX23" fmla="*/ 2578783 w 2902853"/>
                  <a:gd name="connsiteY23" fmla="*/ 2019293 h 2051860"/>
                  <a:gd name="connsiteX24" fmla="*/ 1992612 w 2902853"/>
                  <a:gd name="connsiteY24" fmla="*/ 1943305 h 2051860"/>
                  <a:gd name="connsiteX25" fmla="*/ 1471571 w 2902853"/>
                  <a:gd name="connsiteY25" fmla="*/ 2051860 h 2051860"/>
                  <a:gd name="connsiteX0" fmla="*/ 1395586 w 2902853"/>
                  <a:gd name="connsiteY0" fmla="*/ 2051860 h 2051860"/>
                  <a:gd name="connsiteX1" fmla="*/ 1156775 w 2902853"/>
                  <a:gd name="connsiteY1" fmla="*/ 1921593 h 2051860"/>
                  <a:gd name="connsiteX2" fmla="*/ 559749 w 2902853"/>
                  <a:gd name="connsiteY2" fmla="*/ 1986727 h 2051860"/>
                  <a:gd name="connsiteX3" fmla="*/ 168968 w 2902853"/>
                  <a:gd name="connsiteY3" fmla="*/ 2019293 h 2051860"/>
                  <a:gd name="connsiteX4" fmla="*/ 6143 w 2902853"/>
                  <a:gd name="connsiteY4" fmla="*/ 1693627 h 2051860"/>
                  <a:gd name="connsiteX5" fmla="*/ 364359 w 2902853"/>
                  <a:gd name="connsiteY5" fmla="*/ 1411382 h 2051860"/>
                  <a:gd name="connsiteX6" fmla="*/ 809415 w 2902853"/>
                  <a:gd name="connsiteY6" fmla="*/ 1509082 h 2051860"/>
                  <a:gd name="connsiteX7" fmla="*/ 1211051 w 2902853"/>
                  <a:gd name="connsiteY7" fmla="*/ 1454804 h 2051860"/>
                  <a:gd name="connsiteX8" fmla="*/ 1297891 w 2902853"/>
                  <a:gd name="connsiteY8" fmla="*/ 1053149 h 2051860"/>
                  <a:gd name="connsiteX9" fmla="*/ 1145920 w 2902853"/>
                  <a:gd name="connsiteY9" fmla="*/ 618926 h 2051860"/>
                  <a:gd name="connsiteX10" fmla="*/ 1069935 w 2902853"/>
                  <a:gd name="connsiteY10" fmla="*/ 336682 h 2051860"/>
                  <a:gd name="connsiteX11" fmla="*/ 1439006 w 2902853"/>
                  <a:gd name="connsiteY11" fmla="*/ 159 h 2051860"/>
                  <a:gd name="connsiteX12" fmla="*/ 1742947 w 2902853"/>
                  <a:gd name="connsiteY12" fmla="*/ 380104 h 2051860"/>
                  <a:gd name="connsiteX13" fmla="*/ 1612686 w 2902853"/>
                  <a:gd name="connsiteY13" fmla="*/ 792615 h 2051860"/>
                  <a:gd name="connsiteX14" fmla="*/ 1547556 w 2902853"/>
                  <a:gd name="connsiteY14" fmla="*/ 1335393 h 2051860"/>
                  <a:gd name="connsiteX15" fmla="*/ 2242278 w 2902853"/>
                  <a:gd name="connsiteY15" fmla="*/ 608071 h 2051860"/>
                  <a:gd name="connsiteX16" fmla="*/ 2318263 w 2902853"/>
                  <a:gd name="connsiteY16" fmla="*/ 152137 h 2051860"/>
                  <a:gd name="connsiteX17" fmla="*/ 2850159 w 2902853"/>
                  <a:gd name="connsiteY17" fmla="*/ 152137 h 2051860"/>
                  <a:gd name="connsiteX18" fmla="*/ 2839304 w 2902853"/>
                  <a:gd name="connsiteY18" fmla="*/ 694915 h 2051860"/>
                  <a:gd name="connsiteX19" fmla="*/ 2459378 w 2902853"/>
                  <a:gd name="connsiteY19" fmla="*/ 836037 h 2051860"/>
                  <a:gd name="connsiteX20" fmla="*/ 1851497 w 2902853"/>
                  <a:gd name="connsiteY20" fmla="*/ 1476515 h 2051860"/>
                  <a:gd name="connsiteX21" fmla="*/ 2459378 w 2902853"/>
                  <a:gd name="connsiteY21" fmla="*/ 1367960 h 2051860"/>
                  <a:gd name="connsiteX22" fmla="*/ 2730754 w 2902853"/>
                  <a:gd name="connsiteY22" fmla="*/ 1639349 h 2051860"/>
                  <a:gd name="connsiteX23" fmla="*/ 2578783 w 2902853"/>
                  <a:gd name="connsiteY23" fmla="*/ 2019293 h 2051860"/>
                  <a:gd name="connsiteX24" fmla="*/ 1992612 w 2902853"/>
                  <a:gd name="connsiteY24" fmla="*/ 1943305 h 2051860"/>
                  <a:gd name="connsiteX25" fmla="*/ 1471571 w 2902853"/>
                  <a:gd name="connsiteY25" fmla="*/ 2051860 h 2051860"/>
                  <a:gd name="connsiteX26" fmla="*/ 1395586 w 2902853"/>
                  <a:gd name="connsiteY26" fmla="*/ 2051860 h 2051860"/>
                  <a:gd name="connsiteX0" fmla="*/ 1395586 w 2902853"/>
                  <a:gd name="connsiteY0" fmla="*/ 2051860 h 2051860"/>
                  <a:gd name="connsiteX1" fmla="*/ 1156775 w 2902853"/>
                  <a:gd name="connsiteY1" fmla="*/ 1921593 h 2051860"/>
                  <a:gd name="connsiteX2" fmla="*/ 559749 w 2902853"/>
                  <a:gd name="connsiteY2" fmla="*/ 1986727 h 2051860"/>
                  <a:gd name="connsiteX3" fmla="*/ 168968 w 2902853"/>
                  <a:gd name="connsiteY3" fmla="*/ 2019293 h 2051860"/>
                  <a:gd name="connsiteX4" fmla="*/ 6143 w 2902853"/>
                  <a:gd name="connsiteY4" fmla="*/ 1693627 h 2051860"/>
                  <a:gd name="connsiteX5" fmla="*/ 364359 w 2902853"/>
                  <a:gd name="connsiteY5" fmla="*/ 1411382 h 2051860"/>
                  <a:gd name="connsiteX6" fmla="*/ 809415 w 2902853"/>
                  <a:gd name="connsiteY6" fmla="*/ 1509082 h 2051860"/>
                  <a:gd name="connsiteX7" fmla="*/ 1211051 w 2902853"/>
                  <a:gd name="connsiteY7" fmla="*/ 1454804 h 2051860"/>
                  <a:gd name="connsiteX8" fmla="*/ 1297891 w 2902853"/>
                  <a:gd name="connsiteY8" fmla="*/ 1053149 h 2051860"/>
                  <a:gd name="connsiteX9" fmla="*/ 1145920 w 2902853"/>
                  <a:gd name="connsiteY9" fmla="*/ 618926 h 2051860"/>
                  <a:gd name="connsiteX10" fmla="*/ 1069935 w 2902853"/>
                  <a:gd name="connsiteY10" fmla="*/ 336682 h 2051860"/>
                  <a:gd name="connsiteX11" fmla="*/ 1439006 w 2902853"/>
                  <a:gd name="connsiteY11" fmla="*/ 159 h 2051860"/>
                  <a:gd name="connsiteX12" fmla="*/ 1742947 w 2902853"/>
                  <a:gd name="connsiteY12" fmla="*/ 380104 h 2051860"/>
                  <a:gd name="connsiteX13" fmla="*/ 1612686 w 2902853"/>
                  <a:gd name="connsiteY13" fmla="*/ 792615 h 2051860"/>
                  <a:gd name="connsiteX14" fmla="*/ 1547556 w 2902853"/>
                  <a:gd name="connsiteY14" fmla="*/ 1335393 h 2051860"/>
                  <a:gd name="connsiteX15" fmla="*/ 2242278 w 2902853"/>
                  <a:gd name="connsiteY15" fmla="*/ 608071 h 2051860"/>
                  <a:gd name="connsiteX16" fmla="*/ 2318263 w 2902853"/>
                  <a:gd name="connsiteY16" fmla="*/ 152137 h 2051860"/>
                  <a:gd name="connsiteX17" fmla="*/ 2850159 w 2902853"/>
                  <a:gd name="connsiteY17" fmla="*/ 152137 h 2051860"/>
                  <a:gd name="connsiteX18" fmla="*/ 2839304 w 2902853"/>
                  <a:gd name="connsiteY18" fmla="*/ 694915 h 2051860"/>
                  <a:gd name="connsiteX19" fmla="*/ 2459378 w 2902853"/>
                  <a:gd name="connsiteY19" fmla="*/ 836037 h 2051860"/>
                  <a:gd name="connsiteX20" fmla="*/ 1851497 w 2902853"/>
                  <a:gd name="connsiteY20" fmla="*/ 1476515 h 2051860"/>
                  <a:gd name="connsiteX21" fmla="*/ 2459378 w 2902853"/>
                  <a:gd name="connsiteY21" fmla="*/ 1367960 h 2051860"/>
                  <a:gd name="connsiteX22" fmla="*/ 2730754 w 2902853"/>
                  <a:gd name="connsiteY22" fmla="*/ 1639349 h 2051860"/>
                  <a:gd name="connsiteX23" fmla="*/ 2578783 w 2902853"/>
                  <a:gd name="connsiteY23" fmla="*/ 2019293 h 2051860"/>
                  <a:gd name="connsiteX24" fmla="*/ 1992612 w 2902853"/>
                  <a:gd name="connsiteY24" fmla="*/ 1943305 h 2051860"/>
                  <a:gd name="connsiteX25" fmla="*/ 1677817 w 2902853"/>
                  <a:gd name="connsiteY25" fmla="*/ 2041004 h 2051860"/>
                  <a:gd name="connsiteX26" fmla="*/ 1395586 w 2902853"/>
                  <a:gd name="connsiteY26" fmla="*/ 2051860 h 2051860"/>
                  <a:gd name="connsiteX0" fmla="*/ 1395586 w 2902853"/>
                  <a:gd name="connsiteY0" fmla="*/ 2051860 h 2051949"/>
                  <a:gd name="connsiteX1" fmla="*/ 1156775 w 2902853"/>
                  <a:gd name="connsiteY1" fmla="*/ 1921593 h 2051949"/>
                  <a:gd name="connsiteX2" fmla="*/ 559749 w 2902853"/>
                  <a:gd name="connsiteY2" fmla="*/ 1986727 h 2051949"/>
                  <a:gd name="connsiteX3" fmla="*/ 168968 w 2902853"/>
                  <a:gd name="connsiteY3" fmla="*/ 2019293 h 2051949"/>
                  <a:gd name="connsiteX4" fmla="*/ 6143 w 2902853"/>
                  <a:gd name="connsiteY4" fmla="*/ 1693627 h 2051949"/>
                  <a:gd name="connsiteX5" fmla="*/ 364359 w 2902853"/>
                  <a:gd name="connsiteY5" fmla="*/ 1411382 h 2051949"/>
                  <a:gd name="connsiteX6" fmla="*/ 809415 w 2902853"/>
                  <a:gd name="connsiteY6" fmla="*/ 1509082 h 2051949"/>
                  <a:gd name="connsiteX7" fmla="*/ 1211051 w 2902853"/>
                  <a:gd name="connsiteY7" fmla="*/ 1454804 h 2051949"/>
                  <a:gd name="connsiteX8" fmla="*/ 1297891 w 2902853"/>
                  <a:gd name="connsiteY8" fmla="*/ 1053149 h 2051949"/>
                  <a:gd name="connsiteX9" fmla="*/ 1145920 w 2902853"/>
                  <a:gd name="connsiteY9" fmla="*/ 618926 h 2051949"/>
                  <a:gd name="connsiteX10" fmla="*/ 1069935 w 2902853"/>
                  <a:gd name="connsiteY10" fmla="*/ 336682 h 2051949"/>
                  <a:gd name="connsiteX11" fmla="*/ 1439006 w 2902853"/>
                  <a:gd name="connsiteY11" fmla="*/ 159 h 2051949"/>
                  <a:gd name="connsiteX12" fmla="*/ 1742947 w 2902853"/>
                  <a:gd name="connsiteY12" fmla="*/ 380104 h 2051949"/>
                  <a:gd name="connsiteX13" fmla="*/ 1612686 w 2902853"/>
                  <a:gd name="connsiteY13" fmla="*/ 792615 h 2051949"/>
                  <a:gd name="connsiteX14" fmla="*/ 1547556 w 2902853"/>
                  <a:gd name="connsiteY14" fmla="*/ 1335393 h 2051949"/>
                  <a:gd name="connsiteX15" fmla="*/ 2242278 w 2902853"/>
                  <a:gd name="connsiteY15" fmla="*/ 608071 h 2051949"/>
                  <a:gd name="connsiteX16" fmla="*/ 2318263 w 2902853"/>
                  <a:gd name="connsiteY16" fmla="*/ 152137 h 2051949"/>
                  <a:gd name="connsiteX17" fmla="*/ 2850159 w 2902853"/>
                  <a:gd name="connsiteY17" fmla="*/ 152137 h 2051949"/>
                  <a:gd name="connsiteX18" fmla="*/ 2839304 w 2902853"/>
                  <a:gd name="connsiteY18" fmla="*/ 694915 h 2051949"/>
                  <a:gd name="connsiteX19" fmla="*/ 2459378 w 2902853"/>
                  <a:gd name="connsiteY19" fmla="*/ 836037 h 2051949"/>
                  <a:gd name="connsiteX20" fmla="*/ 1851497 w 2902853"/>
                  <a:gd name="connsiteY20" fmla="*/ 1476515 h 2051949"/>
                  <a:gd name="connsiteX21" fmla="*/ 2459378 w 2902853"/>
                  <a:gd name="connsiteY21" fmla="*/ 1367960 h 2051949"/>
                  <a:gd name="connsiteX22" fmla="*/ 2730754 w 2902853"/>
                  <a:gd name="connsiteY22" fmla="*/ 1639349 h 2051949"/>
                  <a:gd name="connsiteX23" fmla="*/ 2578783 w 2902853"/>
                  <a:gd name="connsiteY23" fmla="*/ 2019293 h 2051949"/>
                  <a:gd name="connsiteX24" fmla="*/ 1992612 w 2902853"/>
                  <a:gd name="connsiteY24" fmla="*/ 1943305 h 2051949"/>
                  <a:gd name="connsiteX25" fmla="*/ 1395586 w 2902853"/>
                  <a:gd name="connsiteY25" fmla="*/ 2051860 h 2051949"/>
                  <a:gd name="connsiteX0" fmla="*/ 1395586 w 2902853"/>
                  <a:gd name="connsiteY0" fmla="*/ 2051860 h 2051949"/>
                  <a:gd name="connsiteX1" fmla="*/ 1156775 w 2902853"/>
                  <a:gd name="connsiteY1" fmla="*/ 1921593 h 2051949"/>
                  <a:gd name="connsiteX2" fmla="*/ 559749 w 2902853"/>
                  <a:gd name="connsiteY2" fmla="*/ 1986727 h 2051949"/>
                  <a:gd name="connsiteX3" fmla="*/ 168968 w 2902853"/>
                  <a:gd name="connsiteY3" fmla="*/ 2019293 h 2051949"/>
                  <a:gd name="connsiteX4" fmla="*/ 6143 w 2902853"/>
                  <a:gd name="connsiteY4" fmla="*/ 1693627 h 2051949"/>
                  <a:gd name="connsiteX5" fmla="*/ 364359 w 2902853"/>
                  <a:gd name="connsiteY5" fmla="*/ 1411382 h 2051949"/>
                  <a:gd name="connsiteX6" fmla="*/ 809415 w 2902853"/>
                  <a:gd name="connsiteY6" fmla="*/ 1509082 h 2051949"/>
                  <a:gd name="connsiteX7" fmla="*/ 1211051 w 2902853"/>
                  <a:gd name="connsiteY7" fmla="*/ 1454804 h 2051949"/>
                  <a:gd name="connsiteX8" fmla="*/ 1297891 w 2902853"/>
                  <a:gd name="connsiteY8" fmla="*/ 1053149 h 2051949"/>
                  <a:gd name="connsiteX9" fmla="*/ 1145920 w 2902853"/>
                  <a:gd name="connsiteY9" fmla="*/ 618926 h 2051949"/>
                  <a:gd name="connsiteX10" fmla="*/ 1069935 w 2902853"/>
                  <a:gd name="connsiteY10" fmla="*/ 336682 h 2051949"/>
                  <a:gd name="connsiteX11" fmla="*/ 1439006 w 2902853"/>
                  <a:gd name="connsiteY11" fmla="*/ 159 h 2051949"/>
                  <a:gd name="connsiteX12" fmla="*/ 1742947 w 2902853"/>
                  <a:gd name="connsiteY12" fmla="*/ 380104 h 2051949"/>
                  <a:gd name="connsiteX13" fmla="*/ 1612686 w 2902853"/>
                  <a:gd name="connsiteY13" fmla="*/ 792615 h 2051949"/>
                  <a:gd name="connsiteX14" fmla="*/ 1547556 w 2902853"/>
                  <a:gd name="connsiteY14" fmla="*/ 1335393 h 2051949"/>
                  <a:gd name="connsiteX15" fmla="*/ 2242278 w 2902853"/>
                  <a:gd name="connsiteY15" fmla="*/ 608071 h 2051949"/>
                  <a:gd name="connsiteX16" fmla="*/ 2318263 w 2902853"/>
                  <a:gd name="connsiteY16" fmla="*/ 152137 h 2051949"/>
                  <a:gd name="connsiteX17" fmla="*/ 2850159 w 2902853"/>
                  <a:gd name="connsiteY17" fmla="*/ 152137 h 2051949"/>
                  <a:gd name="connsiteX18" fmla="*/ 2839304 w 2902853"/>
                  <a:gd name="connsiteY18" fmla="*/ 694915 h 2051949"/>
                  <a:gd name="connsiteX19" fmla="*/ 2459378 w 2902853"/>
                  <a:gd name="connsiteY19" fmla="*/ 836037 h 2051949"/>
                  <a:gd name="connsiteX20" fmla="*/ 1851497 w 2902853"/>
                  <a:gd name="connsiteY20" fmla="*/ 1476515 h 2051949"/>
                  <a:gd name="connsiteX21" fmla="*/ 2459378 w 2902853"/>
                  <a:gd name="connsiteY21" fmla="*/ 1367960 h 2051949"/>
                  <a:gd name="connsiteX22" fmla="*/ 2730754 w 2902853"/>
                  <a:gd name="connsiteY22" fmla="*/ 1639349 h 2051949"/>
                  <a:gd name="connsiteX23" fmla="*/ 2578783 w 2902853"/>
                  <a:gd name="connsiteY23" fmla="*/ 2019293 h 2051949"/>
                  <a:gd name="connsiteX24" fmla="*/ 1732092 w 2902853"/>
                  <a:gd name="connsiteY24" fmla="*/ 1943305 h 2051949"/>
                  <a:gd name="connsiteX25" fmla="*/ 1395586 w 2902853"/>
                  <a:gd name="connsiteY25" fmla="*/ 2051860 h 2051949"/>
                  <a:gd name="connsiteX0" fmla="*/ 1482426 w 2902853"/>
                  <a:gd name="connsiteY0" fmla="*/ 2073571 h 2073648"/>
                  <a:gd name="connsiteX1" fmla="*/ 1156775 w 2902853"/>
                  <a:gd name="connsiteY1" fmla="*/ 1921593 h 2073648"/>
                  <a:gd name="connsiteX2" fmla="*/ 559749 w 2902853"/>
                  <a:gd name="connsiteY2" fmla="*/ 1986727 h 2073648"/>
                  <a:gd name="connsiteX3" fmla="*/ 168968 w 2902853"/>
                  <a:gd name="connsiteY3" fmla="*/ 2019293 h 2073648"/>
                  <a:gd name="connsiteX4" fmla="*/ 6143 w 2902853"/>
                  <a:gd name="connsiteY4" fmla="*/ 1693627 h 2073648"/>
                  <a:gd name="connsiteX5" fmla="*/ 364359 w 2902853"/>
                  <a:gd name="connsiteY5" fmla="*/ 1411382 h 2073648"/>
                  <a:gd name="connsiteX6" fmla="*/ 809415 w 2902853"/>
                  <a:gd name="connsiteY6" fmla="*/ 1509082 h 2073648"/>
                  <a:gd name="connsiteX7" fmla="*/ 1211051 w 2902853"/>
                  <a:gd name="connsiteY7" fmla="*/ 1454804 h 2073648"/>
                  <a:gd name="connsiteX8" fmla="*/ 1297891 w 2902853"/>
                  <a:gd name="connsiteY8" fmla="*/ 1053149 h 2073648"/>
                  <a:gd name="connsiteX9" fmla="*/ 1145920 w 2902853"/>
                  <a:gd name="connsiteY9" fmla="*/ 618926 h 2073648"/>
                  <a:gd name="connsiteX10" fmla="*/ 1069935 w 2902853"/>
                  <a:gd name="connsiteY10" fmla="*/ 336682 h 2073648"/>
                  <a:gd name="connsiteX11" fmla="*/ 1439006 w 2902853"/>
                  <a:gd name="connsiteY11" fmla="*/ 159 h 2073648"/>
                  <a:gd name="connsiteX12" fmla="*/ 1742947 w 2902853"/>
                  <a:gd name="connsiteY12" fmla="*/ 380104 h 2073648"/>
                  <a:gd name="connsiteX13" fmla="*/ 1612686 w 2902853"/>
                  <a:gd name="connsiteY13" fmla="*/ 792615 h 2073648"/>
                  <a:gd name="connsiteX14" fmla="*/ 1547556 w 2902853"/>
                  <a:gd name="connsiteY14" fmla="*/ 1335393 h 2073648"/>
                  <a:gd name="connsiteX15" fmla="*/ 2242278 w 2902853"/>
                  <a:gd name="connsiteY15" fmla="*/ 608071 h 2073648"/>
                  <a:gd name="connsiteX16" fmla="*/ 2318263 w 2902853"/>
                  <a:gd name="connsiteY16" fmla="*/ 152137 h 2073648"/>
                  <a:gd name="connsiteX17" fmla="*/ 2850159 w 2902853"/>
                  <a:gd name="connsiteY17" fmla="*/ 152137 h 2073648"/>
                  <a:gd name="connsiteX18" fmla="*/ 2839304 w 2902853"/>
                  <a:gd name="connsiteY18" fmla="*/ 694915 h 2073648"/>
                  <a:gd name="connsiteX19" fmla="*/ 2459378 w 2902853"/>
                  <a:gd name="connsiteY19" fmla="*/ 836037 h 2073648"/>
                  <a:gd name="connsiteX20" fmla="*/ 1851497 w 2902853"/>
                  <a:gd name="connsiteY20" fmla="*/ 1476515 h 2073648"/>
                  <a:gd name="connsiteX21" fmla="*/ 2459378 w 2902853"/>
                  <a:gd name="connsiteY21" fmla="*/ 1367960 h 2073648"/>
                  <a:gd name="connsiteX22" fmla="*/ 2730754 w 2902853"/>
                  <a:gd name="connsiteY22" fmla="*/ 1639349 h 2073648"/>
                  <a:gd name="connsiteX23" fmla="*/ 2578783 w 2902853"/>
                  <a:gd name="connsiteY23" fmla="*/ 2019293 h 2073648"/>
                  <a:gd name="connsiteX24" fmla="*/ 1732092 w 2902853"/>
                  <a:gd name="connsiteY24" fmla="*/ 1943305 h 2073648"/>
                  <a:gd name="connsiteX25" fmla="*/ 1482426 w 2902853"/>
                  <a:gd name="connsiteY25" fmla="*/ 2073571 h 2073648"/>
                  <a:gd name="connsiteX0" fmla="*/ 1482426 w 2902853"/>
                  <a:gd name="connsiteY0" fmla="*/ 2073571 h 2073648"/>
                  <a:gd name="connsiteX1" fmla="*/ 1069935 w 2902853"/>
                  <a:gd name="connsiteY1" fmla="*/ 1954159 h 2073648"/>
                  <a:gd name="connsiteX2" fmla="*/ 559749 w 2902853"/>
                  <a:gd name="connsiteY2" fmla="*/ 1986727 h 2073648"/>
                  <a:gd name="connsiteX3" fmla="*/ 168968 w 2902853"/>
                  <a:gd name="connsiteY3" fmla="*/ 2019293 h 2073648"/>
                  <a:gd name="connsiteX4" fmla="*/ 6143 w 2902853"/>
                  <a:gd name="connsiteY4" fmla="*/ 1693627 h 2073648"/>
                  <a:gd name="connsiteX5" fmla="*/ 364359 w 2902853"/>
                  <a:gd name="connsiteY5" fmla="*/ 1411382 h 2073648"/>
                  <a:gd name="connsiteX6" fmla="*/ 809415 w 2902853"/>
                  <a:gd name="connsiteY6" fmla="*/ 1509082 h 2073648"/>
                  <a:gd name="connsiteX7" fmla="*/ 1211051 w 2902853"/>
                  <a:gd name="connsiteY7" fmla="*/ 1454804 h 2073648"/>
                  <a:gd name="connsiteX8" fmla="*/ 1297891 w 2902853"/>
                  <a:gd name="connsiteY8" fmla="*/ 1053149 h 2073648"/>
                  <a:gd name="connsiteX9" fmla="*/ 1145920 w 2902853"/>
                  <a:gd name="connsiteY9" fmla="*/ 618926 h 2073648"/>
                  <a:gd name="connsiteX10" fmla="*/ 1069935 w 2902853"/>
                  <a:gd name="connsiteY10" fmla="*/ 336682 h 2073648"/>
                  <a:gd name="connsiteX11" fmla="*/ 1439006 w 2902853"/>
                  <a:gd name="connsiteY11" fmla="*/ 159 h 2073648"/>
                  <a:gd name="connsiteX12" fmla="*/ 1742947 w 2902853"/>
                  <a:gd name="connsiteY12" fmla="*/ 380104 h 2073648"/>
                  <a:gd name="connsiteX13" fmla="*/ 1612686 w 2902853"/>
                  <a:gd name="connsiteY13" fmla="*/ 792615 h 2073648"/>
                  <a:gd name="connsiteX14" fmla="*/ 1547556 w 2902853"/>
                  <a:gd name="connsiteY14" fmla="*/ 1335393 h 2073648"/>
                  <a:gd name="connsiteX15" fmla="*/ 2242278 w 2902853"/>
                  <a:gd name="connsiteY15" fmla="*/ 608071 h 2073648"/>
                  <a:gd name="connsiteX16" fmla="*/ 2318263 w 2902853"/>
                  <a:gd name="connsiteY16" fmla="*/ 152137 h 2073648"/>
                  <a:gd name="connsiteX17" fmla="*/ 2850159 w 2902853"/>
                  <a:gd name="connsiteY17" fmla="*/ 152137 h 2073648"/>
                  <a:gd name="connsiteX18" fmla="*/ 2839304 w 2902853"/>
                  <a:gd name="connsiteY18" fmla="*/ 694915 h 2073648"/>
                  <a:gd name="connsiteX19" fmla="*/ 2459378 w 2902853"/>
                  <a:gd name="connsiteY19" fmla="*/ 836037 h 2073648"/>
                  <a:gd name="connsiteX20" fmla="*/ 1851497 w 2902853"/>
                  <a:gd name="connsiteY20" fmla="*/ 1476515 h 2073648"/>
                  <a:gd name="connsiteX21" fmla="*/ 2459378 w 2902853"/>
                  <a:gd name="connsiteY21" fmla="*/ 1367960 h 2073648"/>
                  <a:gd name="connsiteX22" fmla="*/ 2730754 w 2902853"/>
                  <a:gd name="connsiteY22" fmla="*/ 1639349 h 2073648"/>
                  <a:gd name="connsiteX23" fmla="*/ 2578783 w 2902853"/>
                  <a:gd name="connsiteY23" fmla="*/ 2019293 h 2073648"/>
                  <a:gd name="connsiteX24" fmla="*/ 1732092 w 2902853"/>
                  <a:gd name="connsiteY24" fmla="*/ 1943305 h 2073648"/>
                  <a:gd name="connsiteX25" fmla="*/ 1482426 w 2902853"/>
                  <a:gd name="connsiteY25" fmla="*/ 2073571 h 2073648"/>
                  <a:gd name="connsiteX0" fmla="*/ 1489514 w 2909941"/>
                  <a:gd name="connsiteY0" fmla="*/ 2073571 h 2073648"/>
                  <a:gd name="connsiteX1" fmla="*/ 1077023 w 2909941"/>
                  <a:gd name="connsiteY1" fmla="*/ 1954159 h 2073648"/>
                  <a:gd name="connsiteX2" fmla="*/ 176056 w 2909941"/>
                  <a:gd name="connsiteY2" fmla="*/ 2019293 h 2073648"/>
                  <a:gd name="connsiteX3" fmla="*/ 13231 w 2909941"/>
                  <a:gd name="connsiteY3" fmla="*/ 1693627 h 2073648"/>
                  <a:gd name="connsiteX4" fmla="*/ 371447 w 2909941"/>
                  <a:gd name="connsiteY4" fmla="*/ 1411382 h 2073648"/>
                  <a:gd name="connsiteX5" fmla="*/ 816503 w 2909941"/>
                  <a:gd name="connsiteY5" fmla="*/ 1509082 h 2073648"/>
                  <a:gd name="connsiteX6" fmla="*/ 1218139 w 2909941"/>
                  <a:gd name="connsiteY6" fmla="*/ 1454804 h 2073648"/>
                  <a:gd name="connsiteX7" fmla="*/ 1304979 w 2909941"/>
                  <a:gd name="connsiteY7" fmla="*/ 1053149 h 2073648"/>
                  <a:gd name="connsiteX8" fmla="*/ 1153008 w 2909941"/>
                  <a:gd name="connsiteY8" fmla="*/ 618926 h 2073648"/>
                  <a:gd name="connsiteX9" fmla="*/ 1077023 w 2909941"/>
                  <a:gd name="connsiteY9" fmla="*/ 336682 h 2073648"/>
                  <a:gd name="connsiteX10" fmla="*/ 1446094 w 2909941"/>
                  <a:gd name="connsiteY10" fmla="*/ 159 h 2073648"/>
                  <a:gd name="connsiteX11" fmla="*/ 1750035 w 2909941"/>
                  <a:gd name="connsiteY11" fmla="*/ 380104 h 2073648"/>
                  <a:gd name="connsiteX12" fmla="*/ 1619774 w 2909941"/>
                  <a:gd name="connsiteY12" fmla="*/ 792615 h 2073648"/>
                  <a:gd name="connsiteX13" fmla="*/ 1554644 w 2909941"/>
                  <a:gd name="connsiteY13" fmla="*/ 1335393 h 2073648"/>
                  <a:gd name="connsiteX14" fmla="*/ 2249366 w 2909941"/>
                  <a:gd name="connsiteY14" fmla="*/ 608071 h 2073648"/>
                  <a:gd name="connsiteX15" fmla="*/ 2325351 w 2909941"/>
                  <a:gd name="connsiteY15" fmla="*/ 152137 h 2073648"/>
                  <a:gd name="connsiteX16" fmla="*/ 2857247 w 2909941"/>
                  <a:gd name="connsiteY16" fmla="*/ 152137 h 2073648"/>
                  <a:gd name="connsiteX17" fmla="*/ 2846392 w 2909941"/>
                  <a:gd name="connsiteY17" fmla="*/ 694915 h 2073648"/>
                  <a:gd name="connsiteX18" fmla="*/ 2466466 w 2909941"/>
                  <a:gd name="connsiteY18" fmla="*/ 836037 h 2073648"/>
                  <a:gd name="connsiteX19" fmla="*/ 1858585 w 2909941"/>
                  <a:gd name="connsiteY19" fmla="*/ 1476515 h 2073648"/>
                  <a:gd name="connsiteX20" fmla="*/ 2466466 w 2909941"/>
                  <a:gd name="connsiteY20" fmla="*/ 1367960 h 2073648"/>
                  <a:gd name="connsiteX21" fmla="*/ 2737842 w 2909941"/>
                  <a:gd name="connsiteY21" fmla="*/ 1639349 h 2073648"/>
                  <a:gd name="connsiteX22" fmla="*/ 2585871 w 2909941"/>
                  <a:gd name="connsiteY22" fmla="*/ 2019293 h 2073648"/>
                  <a:gd name="connsiteX23" fmla="*/ 1739180 w 2909941"/>
                  <a:gd name="connsiteY23" fmla="*/ 1943305 h 2073648"/>
                  <a:gd name="connsiteX24" fmla="*/ 1489514 w 2909941"/>
                  <a:gd name="connsiteY24" fmla="*/ 2073571 h 2073648"/>
                  <a:gd name="connsiteX0" fmla="*/ 1476343 w 2896770"/>
                  <a:gd name="connsiteY0" fmla="*/ 2073571 h 2073648"/>
                  <a:gd name="connsiteX1" fmla="*/ 1063852 w 2896770"/>
                  <a:gd name="connsiteY1" fmla="*/ 1954159 h 2073648"/>
                  <a:gd name="connsiteX2" fmla="*/ 336566 w 2896770"/>
                  <a:gd name="connsiteY2" fmla="*/ 2008438 h 2073648"/>
                  <a:gd name="connsiteX3" fmla="*/ 60 w 2896770"/>
                  <a:gd name="connsiteY3" fmla="*/ 1693627 h 2073648"/>
                  <a:gd name="connsiteX4" fmla="*/ 358276 w 2896770"/>
                  <a:gd name="connsiteY4" fmla="*/ 1411382 h 2073648"/>
                  <a:gd name="connsiteX5" fmla="*/ 803332 w 2896770"/>
                  <a:gd name="connsiteY5" fmla="*/ 1509082 h 2073648"/>
                  <a:gd name="connsiteX6" fmla="*/ 1204968 w 2896770"/>
                  <a:gd name="connsiteY6" fmla="*/ 1454804 h 2073648"/>
                  <a:gd name="connsiteX7" fmla="*/ 1291808 w 2896770"/>
                  <a:gd name="connsiteY7" fmla="*/ 1053149 h 2073648"/>
                  <a:gd name="connsiteX8" fmla="*/ 1139837 w 2896770"/>
                  <a:gd name="connsiteY8" fmla="*/ 618926 h 2073648"/>
                  <a:gd name="connsiteX9" fmla="*/ 1063852 w 2896770"/>
                  <a:gd name="connsiteY9" fmla="*/ 336682 h 2073648"/>
                  <a:gd name="connsiteX10" fmla="*/ 1432923 w 2896770"/>
                  <a:gd name="connsiteY10" fmla="*/ 159 h 2073648"/>
                  <a:gd name="connsiteX11" fmla="*/ 1736864 w 2896770"/>
                  <a:gd name="connsiteY11" fmla="*/ 380104 h 2073648"/>
                  <a:gd name="connsiteX12" fmla="*/ 1606603 w 2896770"/>
                  <a:gd name="connsiteY12" fmla="*/ 792615 h 2073648"/>
                  <a:gd name="connsiteX13" fmla="*/ 1541473 w 2896770"/>
                  <a:gd name="connsiteY13" fmla="*/ 1335393 h 2073648"/>
                  <a:gd name="connsiteX14" fmla="*/ 2236195 w 2896770"/>
                  <a:gd name="connsiteY14" fmla="*/ 608071 h 2073648"/>
                  <a:gd name="connsiteX15" fmla="*/ 2312180 w 2896770"/>
                  <a:gd name="connsiteY15" fmla="*/ 152137 h 2073648"/>
                  <a:gd name="connsiteX16" fmla="*/ 2844076 w 2896770"/>
                  <a:gd name="connsiteY16" fmla="*/ 152137 h 2073648"/>
                  <a:gd name="connsiteX17" fmla="*/ 2833221 w 2896770"/>
                  <a:gd name="connsiteY17" fmla="*/ 694915 h 2073648"/>
                  <a:gd name="connsiteX18" fmla="*/ 2453295 w 2896770"/>
                  <a:gd name="connsiteY18" fmla="*/ 836037 h 2073648"/>
                  <a:gd name="connsiteX19" fmla="*/ 1845414 w 2896770"/>
                  <a:gd name="connsiteY19" fmla="*/ 1476515 h 2073648"/>
                  <a:gd name="connsiteX20" fmla="*/ 2453295 w 2896770"/>
                  <a:gd name="connsiteY20" fmla="*/ 1367960 h 2073648"/>
                  <a:gd name="connsiteX21" fmla="*/ 2724671 w 2896770"/>
                  <a:gd name="connsiteY21" fmla="*/ 1639349 h 2073648"/>
                  <a:gd name="connsiteX22" fmla="*/ 2572700 w 2896770"/>
                  <a:gd name="connsiteY22" fmla="*/ 2019293 h 2073648"/>
                  <a:gd name="connsiteX23" fmla="*/ 1726009 w 2896770"/>
                  <a:gd name="connsiteY23" fmla="*/ 1943305 h 2073648"/>
                  <a:gd name="connsiteX24" fmla="*/ 1476343 w 2896770"/>
                  <a:gd name="connsiteY24" fmla="*/ 2073571 h 2073648"/>
                  <a:gd name="connsiteX0" fmla="*/ 1400394 w 2820821"/>
                  <a:gd name="connsiteY0" fmla="*/ 2073571 h 2073648"/>
                  <a:gd name="connsiteX1" fmla="*/ 987903 w 2820821"/>
                  <a:gd name="connsiteY1" fmla="*/ 1954159 h 2073648"/>
                  <a:gd name="connsiteX2" fmla="*/ 260617 w 2820821"/>
                  <a:gd name="connsiteY2" fmla="*/ 2008438 h 2073648"/>
                  <a:gd name="connsiteX3" fmla="*/ 96 w 2820821"/>
                  <a:gd name="connsiteY3" fmla="*/ 1693627 h 2073648"/>
                  <a:gd name="connsiteX4" fmla="*/ 282327 w 2820821"/>
                  <a:gd name="connsiteY4" fmla="*/ 1411382 h 2073648"/>
                  <a:gd name="connsiteX5" fmla="*/ 727383 w 2820821"/>
                  <a:gd name="connsiteY5" fmla="*/ 1509082 h 2073648"/>
                  <a:gd name="connsiteX6" fmla="*/ 1129019 w 2820821"/>
                  <a:gd name="connsiteY6" fmla="*/ 1454804 h 2073648"/>
                  <a:gd name="connsiteX7" fmla="*/ 1215859 w 2820821"/>
                  <a:gd name="connsiteY7" fmla="*/ 1053149 h 2073648"/>
                  <a:gd name="connsiteX8" fmla="*/ 1063888 w 2820821"/>
                  <a:gd name="connsiteY8" fmla="*/ 618926 h 2073648"/>
                  <a:gd name="connsiteX9" fmla="*/ 987903 w 2820821"/>
                  <a:gd name="connsiteY9" fmla="*/ 336682 h 2073648"/>
                  <a:gd name="connsiteX10" fmla="*/ 1356974 w 2820821"/>
                  <a:gd name="connsiteY10" fmla="*/ 159 h 2073648"/>
                  <a:gd name="connsiteX11" fmla="*/ 1660915 w 2820821"/>
                  <a:gd name="connsiteY11" fmla="*/ 380104 h 2073648"/>
                  <a:gd name="connsiteX12" fmla="*/ 1530654 w 2820821"/>
                  <a:gd name="connsiteY12" fmla="*/ 792615 h 2073648"/>
                  <a:gd name="connsiteX13" fmla="*/ 1465524 w 2820821"/>
                  <a:gd name="connsiteY13" fmla="*/ 1335393 h 2073648"/>
                  <a:gd name="connsiteX14" fmla="*/ 2160246 w 2820821"/>
                  <a:gd name="connsiteY14" fmla="*/ 608071 h 2073648"/>
                  <a:gd name="connsiteX15" fmla="*/ 2236231 w 2820821"/>
                  <a:gd name="connsiteY15" fmla="*/ 152137 h 2073648"/>
                  <a:gd name="connsiteX16" fmla="*/ 2768127 w 2820821"/>
                  <a:gd name="connsiteY16" fmla="*/ 152137 h 2073648"/>
                  <a:gd name="connsiteX17" fmla="*/ 2757272 w 2820821"/>
                  <a:gd name="connsiteY17" fmla="*/ 694915 h 2073648"/>
                  <a:gd name="connsiteX18" fmla="*/ 2377346 w 2820821"/>
                  <a:gd name="connsiteY18" fmla="*/ 836037 h 2073648"/>
                  <a:gd name="connsiteX19" fmla="*/ 1769465 w 2820821"/>
                  <a:gd name="connsiteY19" fmla="*/ 1476515 h 2073648"/>
                  <a:gd name="connsiteX20" fmla="*/ 2377346 w 2820821"/>
                  <a:gd name="connsiteY20" fmla="*/ 1367960 h 2073648"/>
                  <a:gd name="connsiteX21" fmla="*/ 2648722 w 2820821"/>
                  <a:gd name="connsiteY21" fmla="*/ 1639349 h 2073648"/>
                  <a:gd name="connsiteX22" fmla="*/ 2496751 w 2820821"/>
                  <a:gd name="connsiteY22" fmla="*/ 2019293 h 2073648"/>
                  <a:gd name="connsiteX23" fmla="*/ 1650060 w 2820821"/>
                  <a:gd name="connsiteY23" fmla="*/ 1943305 h 2073648"/>
                  <a:gd name="connsiteX24" fmla="*/ 1400394 w 2820821"/>
                  <a:gd name="connsiteY24" fmla="*/ 2073571 h 2073648"/>
                  <a:gd name="connsiteX0" fmla="*/ 1400394 w 2820821"/>
                  <a:gd name="connsiteY0" fmla="*/ 2073637 h 2073714"/>
                  <a:gd name="connsiteX1" fmla="*/ 987903 w 2820821"/>
                  <a:gd name="connsiteY1" fmla="*/ 1954225 h 2073714"/>
                  <a:gd name="connsiteX2" fmla="*/ 260617 w 2820821"/>
                  <a:gd name="connsiteY2" fmla="*/ 2008504 h 2073714"/>
                  <a:gd name="connsiteX3" fmla="*/ 96 w 2820821"/>
                  <a:gd name="connsiteY3" fmla="*/ 1693693 h 2073714"/>
                  <a:gd name="connsiteX4" fmla="*/ 282327 w 2820821"/>
                  <a:gd name="connsiteY4" fmla="*/ 1411448 h 2073714"/>
                  <a:gd name="connsiteX5" fmla="*/ 727383 w 2820821"/>
                  <a:gd name="connsiteY5" fmla="*/ 1509148 h 2073714"/>
                  <a:gd name="connsiteX6" fmla="*/ 1129019 w 2820821"/>
                  <a:gd name="connsiteY6" fmla="*/ 1454870 h 2073714"/>
                  <a:gd name="connsiteX7" fmla="*/ 1215859 w 2820821"/>
                  <a:gd name="connsiteY7" fmla="*/ 1053215 h 2073714"/>
                  <a:gd name="connsiteX8" fmla="*/ 987903 w 2820821"/>
                  <a:gd name="connsiteY8" fmla="*/ 336748 h 2073714"/>
                  <a:gd name="connsiteX9" fmla="*/ 1356974 w 2820821"/>
                  <a:gd name="connsiteY9" fmla="*/ 225 h 2073714"/>
                  <a:gd name="connsiteX10" fmla="*/ 1660915 w 2820821"/>
                  <a:gd name="connsiteY10" fmla="*/ 380170 h 2073714"/>
                  <a:gd name="connsiteX11" fmla="*/ 1530654 w 2820821"/>
                  <a:gd name="connsiteY11" fmla="*/ 792681 h 2073714"/>
                  <a:gd name="connsiteX12" fmla="*/ 1465524 w 2820821"/>
                  <a:gd name="connsiteY12" fmla="*/ 1335459 h 2073714"/>
                  <a:gd name="connsiteX13" fmla="*/ 2160246 w 2820821"/>
                  <a:gd name="connsiteY13" fmla="*/ 608137 h 2073714"/>
                  <a:gd name="connsiteX14" fmla="*/ 2236231 w 2820821"/>
                  <a:gd name="connsiteY14" fmla="*/ 152203 h 2073714"/>
                  <a:gd name="connsiteX15" fmla="*/ 2768127 w 2820821"/>
                  <a:gd name="connsiteY15" fmla="*/ 152203 h 2073714"/>
                  <a:gd name="connsiteX16" fmla="*/ 2757272 w 2820821"/>
                  <a:gd name="connsiteY16" fmla="*/ 694981 h 2073714"/>
                  <a:gd name="connsiteX17" fmla="*/ 2377346 w 2820821"/>
                  <a:gd name="connsiteY17" fmla="*/ 836103 h 2073714"/>
                  <a:gd name="connsiteX18" fmla="*/ 1769465 w 2820821"/>
                  <a:gd name="connsiteY18" fmla="*/ 1476581 h 2073714"/>
                  <a:gd name="connsiteX19" fmla="*/ 2377346 w 2820821"/>
                  <a:gd name="connsiteY19" fmla="*/ 1368026 h 2073714"/>
                  <a:gd name="connsiteX20" fmla="*/ 2648722 w 2820821"/>
                  <a:gd name="connsiteY20" fmla="*/ 1639415 h 2073714"/>
                  <a:gd name="connsiteX21" fmla="*/ 2496751 w 2820821"/>
                  <a:gd name="connsiteY21" fmla="*/ 2019359 h 2073714"/>
                  <a:gd name="connsiteX22" fmla="*/ 1650060 w 2820821"/>
                  <a:gd name="connsiteY22" fmla="*/ 1943371 h 2073714"/>
                  <a:gd name="connsiteX23" fmla="*/ 1400394 w 2820821"/>
                  <a:gd name="connsiteY23" fmla="*/ 2073637 h 2073714"/>
                  <a:gd name="connsiteX0" fmla="*/ 1400394 w 2820821"/>
                  <a:gd name="connsiteY0" fmla="*/ 2073451 h 2073528"/>
                  <a:gd name="connsiteX1" fmla="*/ 987903 w 2820821"/>
                  <a:gd name="connsiteY1" fmla="*/ 1954039 h 2073528"/>
                  <a:gd name="connsiteX2" fmla="*/ 260617 w 2820821"/>
                  <a:gd name="connsiteY2" fmla="*/ 2008318 h 2073528"/>
                  <a:gd name="connsiteX3" fmla="*/ 96 w 2820821"/>
                  <a:gd name="connsiteY3" fmla="*/ 1693507 h 2073528"/>
                  <a:gd name="connsiteX4" fmla="*/ 282327 w 2820821"/>
                  <a:gd name="connsiteY4" fmla="*/ 1411262 h 2073528"/>
                  <a:gd name="connsiteX5" fmla="*/ 727383 w 2820821"/>
                  <a:gd name="connsiteY5" fmla="*/ 1508962 h 2073528"/>
                  <a:gd name="connsiteX6" fmla="*/ 1129019 w 2820821"/>
                  <a:gd name="connsiteY6" fmla="*/ 1454684 h 2073528"/>
                  <a:gd name="connsiteX7" fmla="*/ 1215859 w 2820821"/>
                  <a:gd name="connsiteY7" fmla="*/ 1053029 h 2073528"/>
                  <a:gd name="connsiteX8" fmla="*/ 987903 w 2820821"/>
                  <a:gd name="connsiteY8" fmla="*/ 401695 h 2073528"/>
                  <a:gd name="connsiteX9" fmla="*/ 1356974 w 2820821"/>
                  <a:gd name="connsiteY9" fmla="*/ 39 h 2073528"/>
                  <a:gd name="connsiteX10" fmla="*/ 1660915 w 2820821"/>
                  <a:gd name="connsiteY10" fmla="*/ 379984 h 2073528"/>
                  <a:gd name="connsiteX11" fmla="*/ 1530654 w 2820821"/>
                  <a:gd name="connsiteY11" fmla="*/ 792495 h 2073528"/>
                  <a:gd name="connsiteX12" fmla="*/ 1465524 w 2820821"/>
                  <a:gd name="connsiteY12" fmla="*/ 1335273 h 2073528"/>
                  <a:gd name="connsiteX13" fmla="*/ 2160246 w 2820821"/>
                  <a:gd name="connsiteY13" fmla="*/ 607951 h 2073528"/>
                  <a:gd name="connsiteX14" fmla="*/ 2236231 w 2820821"/>
                  <a:gd name="connsiteY14" fmla="*/ 152017 h 2073528"/>
                  <a:gd name="connsiteX15" fmla="*/ 2768127 w 2820821"/>
                  <a:gd name="connsiteY15" fmla="*/ 152017 h 2073528"/>
                  <a:gd name="connsiteX16" fmla="*/ 2757272 w 2820821"/>
                  <a:gd name="connsiteY16" fmla="*/ 694795 h 2073528"/>
                  <a:gd name="connsiteX17" fmla="*/ 2377346 w 2820821"/>
                  <a:gd name="connsiteY17" fmla="*/ 835917 h 2073528"/>
                  <a:gd name="connsiteX18" fmla="*/ 1769465 w 2820821"/>
                  <a:gd name="connsiteY18" fmla="*/ 1476395 h 2073528"/>
                  <a:gd name="connsiteX19" fmla="*/ 2377346 w 2820821"/>
                  <a:gd name="connsiteY19" fmla="*/ 1367840 h 2073528"/>
                  <a:gd name="connsiteX20" fmla="*/ 2648722 w 2820821"/>
                  <a:gd name="connsiteY20" fmla="*/ 1639229 h 2073528"/>
                  <a:gd name="connsiteX21" fmla="*/ 2496751 w 2820821"/>
                  <a:gd name="connsiteY21" fmla="*/ 2019173 h 2073528"/>
                  <a:gd name="connsiteX22" fmla="*/ 1650060 w 2820821"/>
                  <a:gd name="connsiteY22" fmla="*/ 1943185 h 2073528"/>
                  <a:gd name="connsiteX23" fmla="*/ 1400394 w 2820821"/>
                  <a:gd name="connsiteY23" fmla="*/ 2073451 h 2073528"/>
                  <a:gd name="connsiteX0" fmla="*/ 1400394 w 2820821"/>
                  <a:gd name="connsiteY0" fmla="*/ 1997475 h 1997552"/>
                  <a:gd name="connsiteX1" fmla="*/ 987903 w 2820821"/>
                  <a:gd name="connsiteY1" fmla="*/ 1878063 h 1997552"/>
                  <a:gd name="connsiteX2" fmla="*/ 260617 w 2820821"/>
                  <a:gd name="connsiteY2" fmla="*/ 1932342 h 1997552"/>
                  <a:gd name="connsiteX3" fmla="*/ 96 w 2820821"/>
                  <a:gd name="connsiteY3" fmla="*/ 1617531 h 1997552"/>
                  <a:gd name="connsiteX4" fmla="*/ 282327 w 2820821"/>
                  <a:gd name="connsiteY4" fmla="*/ 1335286 h 1997552"/>
                  <a:gd name="connsiteX5" fmla="*/ 727383 w 2820821"/>
                  <a:gd name="connsiteY5" fmla="*/ 1432986 h 1997552"/>
                  <a:gd name="connsiteX6" fmla="*/ 1129019 w 2820821"/>
                  <a:gd name="connsiteY6" fmla="*/ 1378708 h 1997552"/>
                  <a:gd name="connsiteX7" fmla="*/ 1215859 w 2820821"/>
                  <a:gd name="connsiteY7" fmla="*/ 977053 h 1997552"/>
                  <a:gd name="connsiteX8" fmla="*/ 987903 w 2820821"/>
                  <a:gd name="connsiteY8" fmla="*/ 325719 h 1997552"/>
                  <a:gd name="connsiteX9" fmla="*/ 1346119 w 2820821"/>
                  <a:gd name="connsiteY9" fmla="*/ 52 h 1997552"/>
                  <a:gd name="connsiteX10" fmla="*/ 1660915 w 2820821"/>
                  <a:gd name="connsiteY10" fmla="*/ 304008 h 1997552"/>
                  <a:gd name="connsiteX11" fmla="*/ 1530654 w 2820821"/>
                  <a:gd name="connsiteY11" fmla="*/ 716519 h 1997552"/>
                  <a:gd name="connsiteX12" fmla="*/ 1465524 w 2820821"/>
                  <a:gd name="connsiteY12" fmla="*/ 1259297 h 1997552"/>
                  <a:gd name="connsiteX13" fmla="*/ 2160246 w 2820821"/>
                  <a:gd name="connsiteY13" fmla="*/ 531975 h 1997552"/>
                  <a:gd name="connsiteX14" fmla="*/ 2236231 w 2820821"/>
                  <a:gd name="connsiteY14" fmla="*/ 76041 h 1997552"/>
                  <a:gd name="connsiteX15" fmla="*/ 2768127 w 2820821"/>
                  <a:gd name="connsiteY15" fmla="*/ 76041 h 1997552"/>
                  <a:gd name="connsiteX16" fmla="*/ 2757272 w 2820821"/>
                  <a:gd name="connsiteY16" fmla="*/ 618819 h 1997552"/>
                  <a:gd name="connsiteX17" fmla="*/ 2377346 w 2820821"/>
                  <a:gd name="connsiteY17" fmla="*/ 759941 h 1997552"/>
                  <a:gd name="connsiteX18" fmla="*/ 1769465 w 2820821"/>
                  <a:gd name="connsiteY18" fmla="*/ 1400419 h 1997552"/>
                  <a:gd name="connsiteX19" fmla="*/ 2377346 w 2820821"/>
                  <a:gd name="connsiteY19" fmla="*/ 1291864 h 1997552"/>
                  <a:gd name="connsiteX20" fmla="*/ 2648722 w 2820821"/>
                  <a:gd name="connsiteY20" fmla="*/ 1563253 h 1997552"/>
                  <a:gd name="connsiteX21" fmla="*/ 2496751 w 2820821"/>
                  <a:gd name="connsiteY21" fmla="*/ 1943197 h 1997552"/>
                  <a:gd name="connsiteX22" fmla="*/ 1650060 w 2820821"/>
                  <a:gd name="connsiteY22" fmla="*/ 1867209 h 1997552"/>
                  <a:gd name="connsiteX23" fmla="*/ 1400394 w 2820821"/>
                  <a:gd name="connsiteY23" fmla="*/ 1997475 h 1997552"/>
                  <a:gd name="connsiteX0" fmla="*/ 1400394 w 2820821"/>
                  <a:gd name="connsiteY0" fmla="*/ 1997646 h 1997723"/>
                  <a:gd name="connsiteX1" fmla="*/ 987903 w 2820821"/>
                  <a:gd name="connsiteY1" fmla="*/ 1878234 h 1997723"/>
                  <a:gd name="connsiteX2" fmla="*/ 260617 w 2820821"/>
                  <a:gd name="connsiteY2" fmla="*/ 1932513 h 1997723"/>
                  <a:gd name="connsiteX3" fmla="*/ 96 w 2820821"/>
                  <a:gd name="connsiteY3" fmla="*/ 1617702 h 1997723"/>
                  <a:gd name="connsiteX4" fmla="*/ 282327 w 2820821"/>
                  <a:gd name="connsiteY4" fmla="*/ 1335457 h 1997723"/>
                  <a:gd name="connsiteX5" fmla="*/ 727383 w 2820821"/>
                  <a:gd name="connsiteY5" fmla="*/ 1433157 h 1997723"/>
                  <a:gd name="connsiteX6" fmla="*/ 1129019 w 2820821"/>
                  <a:gd name="connsiteY6" fmla="*/ 1378879 h 1997723"/>
                  <a:gd name="connsiteX7" fmla="*/ 1215859 w 2820821"/>
                  <a:gd name="connsiteY7" fmla="*/ 977224 h 1997723"/>
                  <a:gd name="connsiteX8" fmla="*/ 987903 w 2820821"/>
                  <a:gd name="connsiteY8" fmla="*/ 325890 h 1997723"/>
                  <a:gd name="connsiteX9" fmla="*/ 1346119 w 2820821"/>
                  <a:gd name="connsiteY9" fmla="*/ 223 h 1997723"/>
                  <a:gd name="connsiteX10" fmla="*/ 1660915 w 2820821"/>
                  <a:gd name="connsiteY10" fmla="*/ 369312 h 1997723"/>
                  <a:gd name="connsiteX11" fmla="*/ 1530654 w 2820821"/>
                  <a:gd name="connsiteY11" fmla="*/ 716690 h 1997723"/>
                  <a:gd name="connsiteX12" fmla="*/ 1465524 w 2820821"/>
                  <a:gd name="connsiteY12" fmla="*/ 1259468 h 1997723"/>
                  <a:gd name="connsiteX13" fmla="*/ 2160246 w 2820821"/>
                  <a:gd name="connsiteY13" fmla="*/ 532146 h 1997723"/>
                  <a:gd name="connsiteX14" fmla="*/ 2236231 w 2820821"/>
                  <a:gd name="connsiteY14" fmla="*/ 76212 h 1997723"/>
                  <a:gd name="connsiteX15" fmla="*/ 2768127 w 2820821"/>
                  <a:gd name="connsiteY15" fmla="*/ 76212 h 1997723"/>
                  <a:gd name="connsiteX16" fmla="*/ 2757272 w 2820821"/>
                  <a:gd name="connsiteY16" fmla="*/ 618990 h 1997723"/>
                  <a:gd name="connsiteX17" fmla="*/ 2377346 w 2820821"/>
                  <a:gd name="connsiteY17" fmla="*/ 760112 h 1997723"/>
                  <a:gd name="connsiteX18" fmla="*/ 1769465 w 2820821"/>
                  <a:gd name="connsiteY18" fmla="*/ 1400590 h 1997723"/>
                  <a:gd name="connsiteX19" fmla="*/ 2377346 w 2820821"/>
                  <a:gd name="connsiteY19" fmla="*/ 1292035 h 1997723"/>
                  <a:gd name="connsiteX20" fmla="*/ 2648722 w 2820821"/>
                  <a:gd name="connsiteY20" fmla="*/ 1563424 h 1997723"/>
                  <a:gd name="connsiteX21" fmla="*/ 2496751 w 2820821"/>
                  <a:gd name="connsiteY21" fmla="*/ 1943368 h 1997723"/>
                  <a:gd name="connsiteX22" fmla="*/ 1650060 w 2820821"/>
                  <a:gd name="connsiteY22" fmla="*/ 1867380 h 1997723"/>
                  <a:gd name="connsiteX23" fmla="*/ 1400394 w 2820821"/>
                  <a:gd name="connsiteY23" fmla="*/ 1997646 h 1997723"/>
                  <a:gd name="connsiteX0" fmla="*/ 1400394 w 2820821"/>
                  <a:gd name="connsiteY0" fmla="*/ 1997481 h 1997558"/>
                  <a:gd name="connsiteX1" fmla="*/ 987903 w 2820821"/>
                  <a:gd name="connsiteY1" fmla="*/ 1878069 h 1997558"/>
                  <a:gd name="connsiteX2" fmla="*/ 260617 w 2820821"/>
                  <a:gd name="connsiteY2" fmla="*/ 1932348 h 1997558"/>
                  <a:gd name="connsiteX3" fmla="*/ 96 w 2820821"/>
                  <a:gd name="connsiteY3" fmla="*/ 1617537 h 1997558"/>
                  <a:gd name="connsiteX4" fmla="*/ 282327 w 2820821"/>
                  <a:gd name="connsiteY4" fmla="*/ 1335292 h 1997558"/>
                  <a:gd name="connsiteX5" fmla="*/ 727383 w 2820821"/>
                  <a:gd name="connsiteY5" fmla="*/ 1432992 h 1997558"/>
                  <a:gd name="connsiteX6" fmla="*/ 1129019 w 2820821"/>
                  <a:gd name="connsiteY6" fmla="*/ 1378714 h 1997558"/>
                  <a:gd name="connsiteX7" fmla="*/ 1215859 w 2820821"/>
                  <a:gd name="connsiteY7" fmla="*/ 977059 h 1997558"/>
                  <a:gd name="connsiteX8" fmla="*/ 987903 w 2820821"/>
                  <a:gd name="connsiteY8" fmla="*/ 325725 h 1997558"/>
                  <a:gd name="connsiteX9" fmla="*/ 1346119 w 2820821"/>
                  <a:gd name="connsiteY9" fmla="*/ 58 h 1997558"/>
                  <a:gd name="connsiteX10" fmla="*/ 1628350 w 2820821"/>
                  <a:gd name="connsiteY10" fmla="*/ 347436 h 1997558"/>
                  <a:gd name="connsiteX11" fmla="*/ 1530654 w 2820821"/>
                  <a:gd name="connsiteY11" fmla="*/ 716525 h 1997558"/>
                  <a:gd name="connsiteX12" fmla="*/ 1465524 w 2820821"/>
                  <a:gd name="connsiteY12" fmla="*/ 1259303 h 1997558"/>
                  <a:gd name="connsiteX13" fmla="*/ 2160246 w 2820821"/>
                  <a:gd name="connsiteY13" fmla="*/ 531981 h 1997558"/>
                  <a:gd name="connsiteX14" fmla="*/ 2236231 w 2820821"/>
                  <a:gd name="connsiteY14" fmla="*/ 76047 h 1997558"/>
                  <a:gd name="connsiteX15" fmla="*/ 2768127 w 2820821"/>
                  <a:gd name="connsiteY15" fmla="*/ 76047 h 1997558"/>
                  <a:gd name="connsiteX16" fmla="*/ 2757272 w 2820821"/>
                  <a:gd name="connsiteY16" fmla="*/ 618825 h 1997558"/>
                  <a:gd name="connsiteX17" fmla="*/ 2377346 w 2820821"/>
                  <a:gd name="connsiteY17" fmla="*/ 759947 h 1997558"/>
                  <a:gd name="connsiteX18" fmla="*/ 1769465 w 2820821"/>
                  <a:gd name="connsiteY18" fmla="*/ 1400425 h 1997558"/>
                  <a:gd name="connsiteX19" fmla="*/ 2377346 w 2820821"/>
                  <a:gd name="connsiteY19" fmla="*/ 1291870 h 1997558"/>
                  <a:gd name="connsiteX20" fmla="*/ 2648722 w 2820821"/>
                  <a:gd name="connsiteY20" fmla="*/ 1563259 h 1997558"/>
                  <a:gd name="connsiteX21" fmla="*/ 2496751 w 2820821"/>
                  <a:gd name="connsiteY21" fmla="*/ 1943203 h 1997558"/>
                  <a:gd name="connsiteX22" fmla="*/ 1650060 w 2820821"/>
                  <a:gd name="connsiteY22" fmla="*/ 1867215 h 1997558"/>
                  <a:gd name="connsiteX23" fmla="*/ 1400394 w 2820821"/>
                  <a:gd name="connsiteY23" fmla="*/ 1997481 h 1997558"/>
                  <a:gd name="connsiteX0" fmla="*/ 1400394 w 2820821"/>
                  <a:gd name="connsiteY0" fmla="*/ 1997481 h 1997558"/>
                  <a:gd name="connsiteX1" fmla="*/ 987903 w 2820821"/>
                  <a:gd name="connsiteY1" fmla="*/ 1878069 h 1997558"/>
                  <a:gd name="connsiteX2" fmla="*/ 260617 w 2820821"/>
                  <a:gd name="connsiteY2" fmla="*/ 1932348 h 1997558"/>
                  <a:gd name="connsiteX3" fmla="*/ 96 w 2820821"/>
                  <a:gd name="connsiteY3" fmla="*/ 1617537 h 1997558"/>
                  <a:gd name="connsiteX4" fmla="*/ 282327 w 2820821"/>
                  <a:gd name="connsiteY4" fmla="*/ 1335292 h 1997558"/>
                  <a:gd name="connsiteX5" fmla="*/ 727383 w 2820821"/>
                  <a:gd name="connsiteY5" fmla="*/ 1432992 h 1997558"/>
                  <a:gd name="connsiteX6" fmla="*/ 1129019 w 2820821"/>
                  <a:gd name="connsiteY6" fmla="*/ 1378714 h 1997558"/>
                  <a:gd name="connsiteX7" fmla="*/ 1215859 w 2820821"/>
                  <a:gd name="connsiteY7" fmla="*/ 977059 h 1997558"/>
                  <a:gd name="connsiteX8" fmla="*/ 987903 w 2820821"/>
                  <a:gd name="connsiteY8" fmla="*/ 325725 h 1997558"/>
                  <a:gd name="connsiteX9" fmla="*/ 1346119 w 2820821"/>
                  <a:gd name="connsiteY9" fmla="*/ 58 h 1997558"/>
                  <a:gd name="connsiteX10" fmla="*/ 1628350 w 2820821"/>
                  <a:gd name="connsiteY10" fmla="*/ 347436 h 1997558"/>
                  <a:gd name="connsiteX11" fmla="*/ 1465524 w 2820821"/>
                  <a:gd name="connsiteY11" fmla="*/ 1259303 h 1997558"/>
                  <a:gd name="connsiteX12" fmla="*/ 2160246 w 2820821"/>
                  <a:gd name="connsiteY12" fmla="*/ 531981 h 1997558"/>
                  <a:gd name="connsiteX13" fmla="*/ 2236231 w 2820821"/>
                  <a:gd name="connsiteY13" fmla="*/ 76047 h 1997558"/>
                  <a:gd name="connsiteX14" fmla="*/ 2768127 w 2820821"/>
                  <a:gd name="connsiteY14" fmla="*/ 76047 h 1997558"/>
                  <a:gd name="connsiteX15" fmla="*/ 2757272 w 2820821"/>
                  <a:gd name="connsiteY15" fmla="*/ 618825 h 1997558"/>
                  <a:gd name="connsiteX16" fmla="*/ 2377346 w 2820821"/>
                  <a:gd name="connsiteY16" fmla="*/ 759947 h 1997558"/>
                  <a:gd name="connsiteX17" fmla="*/ 1769465 w 2820821"/>
                  <a:gd name="connsiteY17" fmla="*/ 1400425 h 1997558"/>
                  <a:gd name="connsiteX18" fmla="*/ 2377346 w 2820821"/>
                  <a:gd name="connsiteY18" fmla="*/ 1291870 h 1997558"/>
                  <a:gd name="connsiteX19" fmla="*/ 2648722 w 2820821"/>
                  <a:gd name="connsiteY19" fmla="*/ 1563259 h 1997558"/>
                  <a:gd name="connsiteX20" fmla="*/ 2496751 w 2820821"/>
                  <a:gd name="connsiteY20" fmla="*/ 1943203 h 1997558"/>
                  <a:gd name="connsiteX21" fmla="*/ 1650060 w 2820821"/>
                  <a:gd name="connsiteY21" fmla="*/ 1867215 h 1997558"/>
                  <a:gd name="connsiteX22" fmla="*/ 1400394 w 2820821"/>
                  <a:gd name="connsiteY22" fmla="*/ 1997481 h 1997558"/>
                  <a:gd name="connsiteX0" fmla="*/ 1400394 w 2820821"/>
                  <a:gd name="connsiteY0" fmla="*/ 1997481 h 1997558"/>
                  <a:gd name="connsiteX1" fmla="*/ 987903 w 2820821"/>
                  <a:gd name="connsiteY1" fmla="*/ 1878069 h 1997558"/>
                  <a:gd name="connsiteX2" fmla="*/ 260617 w 2820821"/>
                  <a:gd name="connsiteY2" fmla="*/ 1932348 h 1997558"/>
                  <a:gd name="connsiteX3" fmla="*/ 96 w 2820821"/>
                  <a:gd name="connsiteY3" fmla="*/ 1617537 h 1997558"/>
                  <a:gd name="connsiteX4" fmla="*/ 282327 w 2820821"/>
                  <a:gd name="connsiteY4" fmla="*/ 1335292 h 1997558"/>
                  <a:gd name="connsiteX5" fmla="*/ 727383 w 2820821"/>
                  <a:gd name="connsiteY5" fmla="*/ 1432992 h 1997558"/>
                  <a:gd name="connsiteX6" fmla="*/ 1129019 w 2820821"/>
                  <a:gd name="connsiteY6" fmla="*/ 1378714 h 1997558"/>
                  <a:gd name="connsiteX7" fmla="*/ 1215859 w 2820821"/>
                  <a:gd name="connsiteY7" fmla="*/ 977059 h 1997558"/>
                  <a:gd name="connsiteX8" fmla="*/ 987903 w 2820821"/>
                  <a:gd name="connsiteY8" fmla="*/ 325725 h 1997558"/>
                  <a:gd name="connsiteX9" fmla="*/ 1346119 w 2820821"/>
                  <a:gd name="connsiteY9" fmla="*/ 58 h 1997558"/>
                  <a:gd name="connsiteX10" fmla="*/ 1628350 w 2820821"/>
                  <a:gd name="connsiteY10" fmla="*/ 347436 h 1997558"/>
                  <a:gd name="connsiteX11" fmla="*/ 1465524 w 2820821"/>
                  <a:gd name="connsiteY11" fmla="*/ 1259303 h 1997558"/>
                  <a:gd name="connsiteX12" fmla="*/ 2008275 w 2820821"/>
                  <a:gd name="connsiteY12" fmla="*/ 662247 h 1997558"/>
                  <a:gd name="connsiteX13" fmla="*/ 2236231 w 2820821"/>
                  <a:gd name="connsiteY13" fmla="*/ 76047 h 1997558"/>
                  <a:gd name="connsiteX14" fmla="*/ 2768127 w 2820821"/>
                  <a:gd name="connsiteY14" fmla="*/ 76047 h 1997558"/>
                  <a:gd name="connsiteX15" fmla="*/ 2757272 w 2820821"/>
                  <a:gd name="connsiteY15" fmla="*/ 618825 h 1997558"/>
                  <a:gd name="connsiteX16" fmla="*/ 2377346 w 2820821"/>
                  <a:gd name="connsiteY16" fmla="*/ 759947 h 1997558"/>
                  <a:gd name="connsiteX17" fmla="*/ 1769465 w 2820821"/>
                  <a:gd name="connsiteY17" fmla="*/ 1400425 h 1997558"/>
                  <a:gd name="connsiteX18" fmla="*/ 2377346 w 2820821"/>
                  <a:gd name="connsiteY18" fmla="*/ 1291870 h 1997558"/>
                  <a:gd name="connsiteX19" fmla="*/ 2648722 w 2820821"/>
                  <a:gd name="connsiteY19" fmla="*/ 1563259 h 1997558"/>
                  <a:gd name="connsiteX20" fmla="*/ 2496751 w 2820821"/>
                  <a:gd name="connsiteY20" fmla="*/ 1943203 h 1997558"/>
                  <a:gd name="connsiteX21" fmla="*/ 1650060 w 2820821"/>
                  <a:gd name="connsiteY21" fmla="*/ 1867215 h 1997558"/>
                  <a:gd name="connsiteX22" fmla="*/ 1400394 w 2820821"/>
                  <a:gd name="connsiteY22" fmla="*/ 1997481 h 1997558"/>
                  <a:gd name="connsiteX0" fmla="*/ 1400394 w 2825584"/>
                  <a:gd name="connsiteY0" fmla="*/ 1997481 h 1997558"/>
                  <a:gd name="connsiteX1" fmla="*/ 987903 w 2825584"/>
                  <a:gd name="connsiteY1" fmla="*/ 1878069 h 1997558"/>
                  <a:gd name="connsiteX2" fmla="*/ 260617 w 2825584"/>
                  <a:gd name="connsiteY2" fmla="*/ 1932348 h 1997558"/>
                  <a:gd name="connsiteX3" fmla="*/ 96 w 2825584"/>
                  <a:gd name="connsiteY3" fmla="*/ 1617537 h 1997558"/>
                  <a:gd name="connsiteX4" fmla="*/ 282327 w 2825584"/>
                  <a:gd name="connsiteY4" fmla="*/ 1335292 h 1997558"/>
                  <a:gd name="connsiteX5" fmla="*/ 727383 w 2825584"/>
                  <a:gd name="connsiteY5" fmla="*/ 1432992 h 1997558"/>
                  <a:gd name="connsiteX6" fmla="*/ 1129019 w 2825584"/>
                  <a:gd name="connsiteY6" fmla="*/ 1378714 h 1997558"/>
                  <a:gd name="connsiteX7" fmla="*/ 1215859 w 2825584"/>
                  <a:gd name="connsiteY7" fmla="*/ 977059 h 1997558"/>
                  <a:gd name="connsiteX8" fmla="*/ 987903 w 2825584"/>
                  <a:gd name="connsiteY8" fmla="*/ 325725 h 1997558"/>
                  <a:gd name="connsiteX9" fmla="*/ 1346119 w 2825584"/>
                  <a:gd name="connsiteY9" fmla="*/ 58 h 1997558"/>
                  <a:gd name="connsiteX10" fmla="*/ 1628350 w 2825584"/>
                  <a:gd name="connsiteY10" fmla="*/ 347436 h 1997558"/>
                  <a:gd name="connsiteX11" fmla="*/ 1465524 w 2825584"/>
                  <a:gd name="connsiteY11" fmla="*/ 1259303 h 1997558"/>
                  <a:gd name="connsiteX12" fmla="*/ 2008275 w 2825584"/>
                  <a:gd name="connsiteY12" fmla="*/ 662247 h 1997558"/>
                  <a:gd name="connsiteX13" fmla="*/ 2236231 w 2825584"/>
                  <a:gd name="connsiteY13" fmla="*/ 76047 h 1997558"/>
                  <a:gd name="connsiteX14" fmla="*/ 2768127 w 2825584"/>
                  <a:gd name="connsiteY14" fmla="*/ 76047 h 1997558"/>
                  <a:gd name="connsiteX15" fmla="*/ 2757272 w 2825584"/>
                  <a:gd name="connsiteY15" fmla="*/ 618825 h 1997558"/>
                  <a:gd name="connsiteX16" fmla="*/ 2290506 w 2825584"/>
                  <a:gd name="connsiteY16" fmla="*/ 879359 h 1997558"/>
                  <a:gd name="connsiteX17" fmla="*/ 1769465 w 2825584"/>
                  <a:gd name="connsiteY17" fmla="*/ 1400425 h 1997558"/>
                  <a:gd name="connsiteX18" fmla="*/ 2377346 w 2825584"/>
                  <a:gd name="connsiteY18" fmla="*/ 1291870 h 1997558"/>
                  <a:gd name="connsiteX19" fmla="*/ 2648722 w 2825584"/>
                  <a:gd name="connsiteY19" fmla="*/ 1563259 h 1997558"/>
                  <a:gd name="connsiteX20" fmla="*/ 2496751 w 2825584"/>
                  <a:gd name="connsiteY20" fmla="*/ 1943203 h 1997558"/>
                  <a:gd name="connsiteX21" fmla="*/ 1650060 w 2825584"/>
                  <a:gd name="connsiteY21" fmla="*/ 1867215 h 1997558"/>
                  <a:gd name="connsiteX22" fmla="*/ 1400394 w 2825584"/>
                  <a:gd name="connsiteY22" fmla="*/ 1997481 h 1997558"/>
                  <a:gd name="connsiteX0" fmla="*/ 1400394 w 2802192"/>
                  <a:gd name="connsiteY0" fmla="*/ 1997481 h 1997558"/>
                  <a:gd name="connsiteX1" fmla="*/ 987903 w 2802192"/>
                  <a:gd name="connsiteY1" fmla="*/ 1878069 h 1997558"/>
                  <a:gd name="connsiteX2" fmla="*/ 260617 w 2802192"/>
                  <a:gd name="connsiteY2" fmla="*/ 1932348 h 1997558"/>
                  <a:gd name="connsiteX3" fmla="*/ 96 w 2802192"/>
                  <a:gd name="connsiteY3" fmla="*/ 1617537 h 1997558"/>
                  <a:gd name="connsiteX4" fmla="*/ 282327 w 2802192"/>
                  <a:gd name="connsiteY4" fmla="*/ 1335292 h 1997558"/>
                  <a:gd name="connsiteX5" fmla="*/ 727383 w 2802192"/>
                  <a:gd name="connsiteY5" fmla="*/ 1432992 h 1997558"/>
                  <a:gd name="connsiteX6" fmla="*/ 1129019 w 2802192"/>
                  <a:gd name="connsiteY6" fmla="*/ 1378714 h 1997558"/>
                  <a:gd name="connsiteX7" fmla="*/ 1215859 w 2802192"/>
                  <a:gd name="connsiteY7" fmla="*/ 977059 h 1997558"/>
                  <a:gd name="connsiteX8" fmla="*/ 987903 w 2802192"/>
                  <a:gd name="connsiteY8" fmla="*/ 325725 h 1997558"/>
                  <a:gd name="connsiteX9" fmla="*/ 1346119 w 2802192"/>
                  <a:gd name="connsiteY9" fmla="*/ 58 h 1997558"/>
                  <a:gd name="connsiteX10" fmla="*/ 1628350 w 2802192"/>
                  <a:gd name="connsiteY10" fmla="*/ 347436 h 1997558"/>
                  <a:gd name="connsiteX11" fmla="*/ 1465524 w 2802192"/>
                  <a:gd name="connsiteY11" fmla="*/ 1259303 h 1997558"/>
                  <a:gd name="connsiteX12" fmla="*/ 2008275 w 2802192"/>
                  <a:gd name="connsiteY12" fmla="*/ 662247 h 1997558"/>
                  <a:gd name="connsiteX13" fmla="*/ 2236231 w 2802192"/>
                  <a:gd name="connsiteY13" fmla="*/ 76047 h 1997558"/>
                  <a:gd name="connsiteX14" fmla="*/ 2724707 w 2802192"/>
                  <a:gd name="connsiteY14" fmla="*/ 130325 h 1997558"/>
                  <a:gd name="connsiteX15" fmla="*/ 2757272 w 2802192"/>
                  <a:gd name="connsiteY15" fmla="*/ 618825 h 1997558"/>
                  <a:gd name="connsiteX16" fmla="*/ 2290506 w 2802192"/>
                  <a:gd name="connsiteY16" fmla="*/ 879359 h 1997558"/>
                  <a:gd name="connsiteX17" fmla="*/ 1769465 w 2802192"/>
                  <a:gd name="connsiteY17" fmla="*/ 1400425 h 1997558"/>
                  <a:gd name="connsiteX18" fmla="*/ 2377346 w 2802192"/>
                  <a:gd name="connsiteY18" fmla="*/ 1291870 h 1997558"/>
                  <a:gd name="connsiteX19" fmla="*/ 2648722 w 2802192"/>
                  <a:gd name="connsiteY19" fmla="*/ 1563259 h 1997558"/>
                  <a:gd name="connsiteX20" fmla="*/ 2496751 w 2802192"/>
                  <a:gd name="connsiteY20" fmla="*/ 1943203 h 1997558"/>
                  <a:gd name="connsiteX21" fmla="*/ 1650060 w 2802192"/>
                  <a:gd name="connsiteY21" fmla="*/ 1867215 h 1997558"/>
                  <a:gd name="connsiteX22" fmla="*/ 1400394 w 2802192"/>
                  <a:gd name="connsiteY22" fmla="*/ 1997481 h 1997558"/>
                  <a:gd name="connsiteX0" fmla="*/ 1400394 w 2782424"/>
                  <a:gd name="connsiteY0" fmla="*/ 1997481 h 1997558"/>
                  <a:gd name="connsiteX1" fmla="*/ 987903 w 2782424"/>
                  <a:gd name="connsiteY1" fmla="*/ 1878069 h 1997558"/>
                  <a:gd name="connsiteX2" fmla="*/ 260617 w 2782424"/>
                  <a:gd name="connsiteY2" fmla="*/ 1932348 h 1997558"/>
                  <a:gd name="connsiteX3" fmla="*/ 96 w 2782424"/>
                  <a:gd name="connsiteY3" fmla="*/ 1617537 h 1997558"/>
                  <a:gd name="connsiteX4" fmla="*/ 282327 w 2782424"/>
                  <a:gd name="connsiteY4" fmla="*/ 1335292 h 1997558"/>
                  <a:gd name="connsiteX5" fmla="*/ 727383 w 2782424"/>
                  <a:gd name="connsiteY5" fmla="*/ 1432992 h 1997558"/>
                  <a:gd name="connsiteX6" fmla="*/ 1129019 w 2782424"/>
                  <a:gd name="connsiteY6" fmla="*/ 1378714 h 1997558"/>
                  <a:gd name="connsiteX7" fmla="*/ 1215859 w 2782424"/>
                  <a:gd name="connsiteY7" fmla="*/ 977059 h 1997558"/>
                  <a:gd name="connsiteX8" fmla="*/ 987903 w 2782424"/>
                  <a:gd name="connsiteY8" fmla="*/ 325725 h 1997558"/>
                  <a:gd name="connsiteX9" fmla="*/ 1346119 w 2782424"/>
                  <a:gd name="connsiteY9" fmla="*/ 58 h 1997558"/>
                  <a:gd name="connsiteX10" fmla="*/ 1628350 w 2782424"/>
                  <a:gd name="connsiteY10" fmla="*/ 347436 h 1997558"/>
                  <a:gd name="connsiteX11" fmla="*/ 1465524 w 2782424"/>
                  <a:gd name="connsiteY11" fmla="*/ 1259303 h 1997558"/>
                  <a:gd name="connsiteX12" fmla="*/ 2008275 w 2782424"/>
                  <a:gd name="connsiteY12" fmla="*/ 662247 h 1997558"/>
                  <a:gd name="connsiteX13" fmla="*/ 2236231 w 2782424"/>
                  <a:gd name="connsiteY13" fmla="*/ 76047 h 1997558"/>
                  <a:gd name="connsiteX14" fmla="*/ 2724707 w 2782424"/>
                  <a:gd name="connsiteY14" fmla="*/ 130325 h 1997558"/>
                  <a:gd name="connsiteX15" fmla="*/ 2724707 w 2782424"/>
                  <a:gd name="connsiteY15" fmla="*/ 575403 h 1997558"/>
                  <a:gd name="connsiteX16" fmla="*/ 2290506 w 2782424"/>
                  <a:gd name="connsiteY16" fmla="*/ 879359 h 1997558"/>
                  <a:gd name="connsiteX17" fmla="*/ 1769465 w 2782424"/>
                  <a:gd name="connsiteY17" fmla="*/ 1400425 h 1997558"/>
                  <a:gd name="connsiteX18" fmla="*/ 2377346 w 2782424"/>
                  <a:gd name="connsiteY18" fmla="*/ 1291870 h 1997558"/>
                  <a:gd name="connsiteX19" fmla="*/ 2648722 w 2782424"/>
                  <a:gd name="connsiteY19" fmla="*/ 1563259 h 1997558"/>
                  <a:gd name="connsiteX20" fmla="*/ 2496751 w 2782424"/>
                  <a:gd name="connsiteY20" fmla="*/ 1943203 h 1997558"/>
                  <a:gd name="connsiteX21" fmla="*/ 1650060 w 2782424"/>
                  <a:gd name="connsiteY21" fmla="*/ 1867215 h 1997558"/>
                  <a:gd name="connsiteX22" fmla="*/ 1400394 w 2782424"/>
                  <a:gd name="connsiteY22" fmla="*/ 1997481 h 1997558"/>
                  <a:gd name="connsiteX0" fmla="*/ 1400394 w 2778306"/>
                  <a:gd name="connsiteY0" fmla="*/ 1997481 h 1997558"/>
                  <a:gd name="connsiteX1" fmla="*/ 987903 w 2778306"/>
                  <a:gd name="connsiteY1" fmla="*/ 1878069 h 1997558"/>
                  <a:gd name="connsiteX2" fmla="*/ 260617 w 2778306"/>
                  <a:gd name="connsiteY2" fmla="*/ 1932348 h 1997558"/>
                  <a:gd name="connsiteX3" fmla="*/ 96 w 2778306"/>
                  <a:gd name="connsiteY3" fmla="*/ 1617537 h 1997558"/>
                  <a:gd name="connsiteX4" fmla="*/ 282327 w 2778306"/>
                  <a:gd name="connsiteY4" fmla="*/ 1335292 h 1997558"/>
                  <a:gd name="connsiteX5" fmla="*/ 727383 w 2778306"/>
                  <a:gd name="connsiteY5" fmla="*/ 1432992 h 1997558"/>
                  <a:gd name="connsiteX6" fmla="*/ 1129019 w 2778306"/>
                  <a:gd name="connsiteY6" fmla="*/ 1378714 h 1997558"/>
                  <a:gd name="connsiteX7" fmla="*/ 1215859 w 2778306"/>
                  <a:gd name="connsiteY7" fmla="*/ 977059 h 1997558"/>
                  <a:gd name="connsiteX8" fmla="*/ 987903 w 2778306"/>
                  <a:gd name="connsiteY8" fmla="*/ 325725 h 1997558"/>
                  <a:gd name="connsiteX9" fmla="*/ 1346119 w 2778306"/>
                  <a:gd name="connsiteY9" fmla="*/ 58 h 1997558"/>
                  <a:gd name="connsiteX10" fmla="*/ 1628350 w 2778306"/>
                  <a:gd name="connsiteY10" fmla="*/ 347436 h 1997558"/>
                  <a:gd name="connsiteX11" fmla="*/ 1465524 w 2778306"/>
                  <a:gd name="connsiteY11" fmla="*/ 1259303 h 1997558"/>
                  <a:gd name="connsiteX12" fmla="*/ 2008275 w 2778306"/>
                  <a:gd name="connsiteY12" fmla="*/ 662247 h 1997558"/>
                  <a:gd name="connsiteX13" fmla="*/ 2301361 w 2778306"/>
                  <a:gd name="connsiteY13" fmla="*/ 152036 h 1997558"/>
                  <a:gd name="connsiteX14" fmla="*/ 2724707 w 2778306"/>
                  <a:gd name="connsiteY14" fmla="*/ 130325 h 1997558"/>
                  <a:gd name="connsiteX15" fmla="*/ 2724707 w 2778306"/>
                  <a:gd name="connsiteY15" fmla="*/ 575403 h 1997558"/>
                  <a:gd name="connsiteX16" fmla="*/ 2290506 w 2778306"/>
                  <a:gd name="connsiteY16" fmla="*/ 879359 h 1997558"/>
                  <a:gd name="connsiteX17" fmla="*/ 1769465 w 2778306"/>
                  <a:gd name="connsiteY17" fmla="*/ 1400425 h 1997558"/>
                  <a:gd name="connsiteX18" fmla="*/ 2377346 w 2778306"/>
                  <a:gd name="connsiteY18" fmla="*/ 1291870 h 1997558"/>
                  <a:gd name="connsiteX19" fmla="*/ 2648722 w 2778306"/>
                  <a:gd name="connsiteY19" fmla="*/ 1563259 h 1997558"/>
                  <a:gd name="connsiteX20" fmla="*/ 2496751 w 2778306"/>
                  <a:gd name="connsiteY20" fmla="*/ 1943203 h 1997558"/>
                  <a:gd name="connsiteX21" fmla="*/ 1650060 w 2778306"/>
                  <a:gd name="connsiteY21" fmla="*/ 1867215 h 1997558"/>
                  <a:gd name="connsiteX22" fmla="*/ 1400394 w 2778306"/>
                  <a:gd name="connsiteY22" fmla="*/ 1997481 h 1997558"/>
                  <a:gd name="connsiteX0" fmla="*/ 1400394 w 2778306"/>
                  <a:gd name="connsiteY0" fmla="*/ 1997481 h 1997558"/>
                  <a:gd name="connsiteX1" fmla="*/ 987903 w 2778306"/>
                  <a:gd name="connsiteY1" fmla="*/ 1878069 h 1997558"/>
                  <a:gd name="connsiteX2" fmla="*/ 260617 w 2778306"/>
                  <a:gd name="connsiteY2" fmla="*/ 1932348 h 1997558"/>
                  <a:gd name="connsiteX3" fmla="*/ 96 w 2778306"/>
                  <a:gd name="connsiteY3" fmla="*/ 1617537 h 1997558"/>
                  <a:gd name="connsiteX4" fmla="*/ 282327 w 2778306"/>
                  <a:gd name="connsiteY4" fmla="*/ 1335292 h 1997558"/>
                  <a:gd name="connsiteX5" fmla="*/ 727383 w 2778306"/>
                  <a:gd name="connsiteY5" fmla="*/ 1432992 h 1997558"/>
                  <a:gd name="connsiteX6" fmla="*/ 1129019 w 2778306"/>
                  <a:gd name="connsiteY6" fmla="*/ 1378714 h 1997558"/>
                  <a:gd name="connsiteX7" fmla="*/ 1215859 w 2778306"/>
                  <a:gd name="connsiteY7" fmla="*/ 977059 h 1997558"/>
                  <a:gd name="connsiteX8" fmla="*/ 987903 w 2778306"/>
                  <a:gd name="connsiteY8" fmla="*/ 325725 h 1997558"/>
                  <a:gd name="connsiteX9" fmla="*/ 1346119 w 2778306"/>
                  <a:gd name="connsiteY9" fmla="*/ 58 h 1997558"/>
                  <a:gd name="connsiteX10" fmla="*/ 1628350 w 2778306"/>
                  <a:gd name="connsiteY10" fmla="*/ 347436 h 1997558"/>
                  <a:gd name="connsiteX11" fmla="*/ 1465524 w 2778306"/>
                  <a:gd name="connsiteY11" fmla="*/ 1259303 h 1997558"/>
                  <a:gd name="connsiteX12" fmla="*/ 2008275 w 2778306"/>
                  <a:gd name="connsiteY12" fmla="*/ 662247 h 1997558"/>
                  <a:gd name="connsiteX13" fmla="*/ 2301361 w 2778306"/>
                  <a:gd name="connsiteY13" fmla="*/ 152036 h 1997558"/>
                  <a:gd name="connsiteX14" fmla="*/ 2724707 w 2778306"/>
                  <a:gd name="connsiteY14" fmla="*/ 130325 h 1997558"/>
                  <a:gd name="connsiteX15" fmla="*/ 2724707 w 2778306"/>
                  <a:gd name="connsiteY15" fmla="*/ 575403 h 1997558"/>
                  <a:gd name="connsiteX16" fmla="*/ 2290506 w 2778306"/>
                  <a:gd name="connsiteY16" fmla="*/ 879359 h 1997558"/>
                  <a:gd name="connsiteX17" fmla="*/ 1769465 w 2778306"/>
                  <a:gd name="connsiteY17" fmla="*/ 1400425 h 1997558"/>
                  <a:gd name="connsiteX18" fmla="*/ 2377346 w 2778306"/>
                  <a:gd name="connsiteY18" fmla="*/ 1291870 h 1997558"/>
                  <a:gd name="connsiteX19" fmla="*/ 2648722 w 2778306"/>
                  <a:gd name="connsiteY19" fmla="*/ 1563259 h 1997558"/>
                  <a:gd name="connsiteX20" fmla="*/ 2355636 w 2778306"/>
                  <a:gd name="connsiteY20" fmla="*/ 1943203 h 1997558"/>
                  <a:gd name="connsiteX21" fmla="*/ 1650060 w 2778306"/>
                  <a:gd name="connsiteY21" fmla="*/ 1867215 h 1997558"/>
                  <a:gd name="connsiteX22" fmla="*/ 1400394 w 2778306"/>
                  <a:gd name="connsiteY22" fmla="*/ 1997481 h 1997558"/>
                  <a:gd name="connsiteX0" fmla="*/ 1400394 w 2778306"/>
                  <a:gd name="connsiteY0" fmla="*/ 1997481 h 1997558"/>
                  <a:gd name="connsiteX1" fmla="*/ 987903 w 2778306"/>
                  <a:gd name="connsiteY1" fmla="*/ 1878069 h 1997558"/>
                  <a:gd name="connsiteX2" fmla="*/ 260617 w 2778306"/>
                  <a:gd name="connsiteY2" fmla="*/ 1932348 h 1997558"/>
                  <a:gd name="connsiteX3" fmla="*/ 96 w 2778306"/>
                  <a:gd name="connsiteY3" fmla="*/ 1617537 h 1997558"/>
                  <a:gd name="connsiteX4" fmla="*/ 282327 w 2778306"/>
                  <a:gd name="connsiteY4" fmla="*/ 1335292 h 1997558"/>
                  <a:gd name="connsiteX5" fmla="*/ 727383 w 2778306"/>
                  <a:gd name="connsiteY5" fmla="*/ 1432992 h 1997558"/>
                  <a:gd name="connsiteX6" fmla="*/ 1129019 w 2778306"/>
                  <a:gd name="connsiteY6" fmla="*/ 1378714 h 1997558"/>
                  <a:gd name="connsiteX7" fmla="*/ 1215859 w 2778306"/>
                  <a:gd name="connsiteY7" fmla="*/ 977059 h 1997558"/>
                  <a:gd name="connsiteX8" fmla="*/ 987903 w 2778306"/>
                  <a:gd name="connsiteY8" fmla="*/ 325725 h 1997558"/>
                  <a:gd name="connsiteX9" fmla="*/ 1346119 w 2778306"/>
                  <a:gd name="connsiteY9" fmla="*/ 58 h 1997558"/>
                  <a:gd name="connsiteX10" fmla="*/ 1628350 w 2778306"/>
                  <a:gd name="connsiteY10" fmla="*/ 347436 h 1997558"/>
                  <a:gd name="connsiteX11" fmla="*/ 1465524 w 2778306"/>
                  <a:gd name="connsiteY11" fmla="*/ 1259303 h 1997558"/>
                  <a:gd name="connsiteX12" fmla="*/ 2008275 w 2778306"/>
                  <a:gd name="connsiteY12" fmla="*/ 662247 h 1997558"/>
                  <a:gd name="connsiteX13" fmla="*/ 2301361 w 2778306"/>
                  <a:gd name="connsiteY13" fmla="*/ 152036 h 1997558"/>
                  <a:gd name="connsiteX14" fmla="*/ 2724707 w 2778306"/>
                  <a:gd name="connsiteY14" fmla="*/ 130325 h 1997558"/>
                  <a:gd name="connsiteX15" fmla="*/ 2724707 w 2778306"/>
                  <a:gd name="connsiteY15" fmla="*/ 575403 h 1997558"/>
                  <a:gd name="connsiteX16" fmla="*/ 2290506 w 2778306"/>
                  <a:gd name="connsiteY16" fmla="*/ 879359 h 1997558"/>
                  <a:gd name="connsiteX17" fmla="*/ 1769465 w 2778306"/>
                  <a:gd name="connsiteY17" fmla="*/ 1400425 h 1997558"/>
                  <a:gd name="connsiteX18" fmla="*/ 2344781 w 2778306"/>
                  <a:gd name="connsiteY18" fmla="*/ 1346148 h 1997558"/>
                  <a:gd name="connsiteX19" fmla="*/ 2648722 w 2778306"/>
                  <a:gd name="connsiteY19" fmla="*/ 1563259 h 1997558"/>
                  <a:gd name="connsiteX20" fmla="*/ 2355636 w 2778306"/>
                  <a:gd name="connsiteY20" fmla="*/ 1943203 h 1997558"/>
                  <a:gd name="connsiteX21" fmla="*/ 1650060 w 2778306"/>
                  <a:gd name="connsiteY21" fmla="*/ 1867215 h 1997558"/>
                  <a:gd name="connsiteX22" fmla="*/ 1400394 w 2778306"/>
                  <a:gd name="connsiteY22" fmla="*/ 1997481 h 1997558"/>
                  <a:gd name="connsiteX0" fmla="*/ 1400394 w 2778306"/>
                  <a:gd name="connsiteY0" fmla="*/ 1997481 h 1997558"/>
                  <a:gd name="connsiteX1" fmla="*/ 987903 w 2778306"/>
                  <a:gd name="connsiteY1" fmla="*/ 1878069 h 1997558"/>
                  <a:gd name="connsiteX2" fmla="*/ 260617 w 2778306"/>
                  <a:gd name="connsiteY2" fmla="*/ 1932348 h 1997558"/>
                  <a:gd name="connsiteX3" fmla="*/ 96 w 2778306"/>
                  <a:gd name="connsiteY3" fmla="*/ 1617537 h 1997558"/>
                  <a:gd name="connsiteX4" fmla="*/ 282327 w 2778306"/>
                  <a:gd name="connsiteY4" fmla="*/ 1335292 h 1997558"/>
                  <a:gd name="connsiteX5" fmla="*/ 727383 w 2778306"/>
                  <a:gd name="connsiteY5" fmla="*/ 1432992 h 1997558"/>
                  <a:gd name="connsiteX6" fmla="*/ 1129019 w 2778306"/>
                  <a:gd name="connsiteY6" fmla="*/ 1378714 h 1997558"/>
                  <a:gd name="connsiteX7" fmla="*/ 1215859 w 2778306"/>
                  <a:gd name="connsiteY7" fmla="*/ 977059 h 1997558"/>
                  <a:gd name="connsiteX8" fmla="*/ 987903 w 2778306"/>
                  <a:gd name="connsiteY8" fmla="*/ 325725 h 1997558"/>
                  <a:gd name="connsiteX9" fmla="*/ 1346119 w 2778306"/>
                  <a:gd name="connsiteY9" fmla="*/ 58 h 1997558"/>
                  <a:gd name="connsiteX10" fmla="*/ 1628350 w 2778306"/>
                  <a:gd name="connsiteY10" fmla="*/ 347436 h 1997558"/>
                  <a:gd name="connsiteX11" fmla="*/ 1465524 w 2778306"/>
                  <a:gd name="connsiteY11" fmla="*/ 1259303 h 1997558"/>
                  <a:gd name="connsiteX12" fmla="*/ 2008275 w 2778306"/>
                  <a:gd name="connsiteY12" fmla="*/ 662247 h 1997558"/>
                  <a:gd name="connsiteX13" fmla="*/ 2301361 w 2778306"/>
                  <a:gd name="connsiteY13" fmla="*/ 152036 h 1997558"/>
                  <a:gd name="connsiteX14" fmla="*/ 2724707 w 2778306"/>
                  <a:gd name="connsiteY14" fmla="*/ 130325 h 1997558"/>
                  <a:gd name="connsiteX15" fmla="*/ 2724707 w 2778306"/>
                  <a:gd name="connsiteY15" fmla="*/ 575403 h 1997558"/>
                  <a:gd name="connsiteX16" fmla="*/ 2290506 w 2778306"/>
                  <a:gd name="connsiteY16" fmla="*/ 879359 h 1997558"/>
                  <a:gd name="connsiteX17" fmla="*/ 1769465 w 2778306"/>
                  <a:gd name="connsiteY17" fmla="*/ 1400425 h 1997558"/>
                  <a:gd name="connsiteX18" fmla="*/ 2344781 w 2778306"/>
                  <a:gd name="connsiteY18" fmla="*/ 1346148 h 1997558"/>
                  <a:gd name="connsiteX19" fmla="*/ 2594447 w 2778306"/>
                  <a:gd name="connsiteY19" fmla="*/ 1639248 h 1997558"/>
                  <a:gd name="connsiteX20" fmla="*/ 2355636 w 2778306"/>
                  <a:gd name="connsiteY20" fmla="*/ 1943203 h 1997558"/>
                  <a:gd name="connsiteX21" fmla="*/ 1650060 w 2778306"/>
                  <a:gd name="connsiteY21" fmla="*/ 1867215 h 1997558"/>
                  <a:gd name="connsiteX22" fmla="*/ 1400394 w 2778306"/>
                  <a:gd name="connsiteY22" fmla="*/ 1997481 h 1997558"/>
                  <a:gd name="connsiteX0" fmla="*/ 1400394 w 2778306"/>
                  <a:gd name="connsiteY0" fmla="*/ 1997481 h 1997546"/>
                  <a:gd name="connsiteX1" fmla="*/ 987903 w 2778306"/>
                  <a:gd name="connsiteY1" fmla="*/ 1878069 h 1997546"/>
                  <a:gd name="connsiteX2" fmla="*/ 260617 w 2778306"/>
                  <a:gd name="connsiteY2" fmla="*/ 1932348 h 1997546"/>
                  <a:gd name="connsiteX3" fmla="*/ 96 w 2778306"/>
                  <a:gd name="connsiteY3" fmla="*/ 1617537 h 1997546"/>
                  <a:gd name="connsiteX4" fmla="*/ 282327 w 2778306"/>
                  <a:gd name="connsiteY4" fmla="*/ 1335292 h 1997546"/>
                  <a:gd name="connsiteX5" fmla="*/ 727383 w 2778306"/>
                  <a:gd name="connsiteY5" fmla="*/ 1432992 h 1997546"/>
                  <a:gd name="connsiteX6" fmla="*/ 1129019 w 2778306"/>
                  <a:gd name="connsiteY6" fmla="*/ 1378714 h 1997546"/>
                  <a:gd name="connsiteX7" fmla="*/ 1215859 w 2778306"/>
                  <a:gd name="connsiteY7" fmla="*/ 977059 h 1997546"/>
                  <a:gd name="connsiteX8" fmla="*/ 987903 w 2778306"/>
                  <a:gd name="connsiteY8" fmla="*/ 325725 h 1997546"/>
                  <a:gd name="connsiteX9" fmla="*/ 1346119 w 2778306"/>
                  <a:gd name="connsiteY9" fmla="*/ 58 h 1997546"/>
                  <a:gd name="connsiteX10" fmla="*/ 1628350 w 2778306"/>
                  <a:gd name="connsiteY10" fmla="*/ 347436 h 1997546"/>
                  <a:gd name="connsiteX11" fmla="*/ 1465524 w 2778306"/>
                  <a:gd name="connsiteY11" fmla="*/ 1259303 h 1997546"/>
                  <a:gd name="connsiteX12" fmla="*/ 2008275 w 2778306"/>
                  <a:gd name="connsiteY12" fmla="*/ 662247 h 1997546"/>
                  <a:gd name="connsiteX13" fmla="*/ 2301361 w 2778306"/>
                  <a:gd name="connsiteY13" fmla="*/ 152036 h 1997546"/>
                  <a:gd name="connsiteX14" fmla="*/ 2724707 w 2778306"/>
                  <a:gd name="connsiteY14" fmla="*/ 130325 h 1997546"/>
                  <a:gd name="connsiteX15" fmla="*/ 2724707 w 2778306"/>
                  <a:gd name="connsiteY15" fmla="*/ 575403 h 1997546"/>
                  <a:gd name="connsiteX16" fmla="*/ 2290506 w 2778306"/>
                  <a:gd name="connsiteY16" fmla="*/ 879359 h 1997546"/>
                  <a:gd name="connsiteX17" fmla="*/ 1769465 w 2778306"/>
                  <a:gd name="connsiteY17" fmla="*/ 1400425 h 1997546"/>
                  <a:gd name="connsiteX18" fmla="*/ 2344781 w 2778306"/>
                  <a:gd name="connsiteY18" fmla="*/ 1346148 h 1997546"/>
                  <a:gd name="connsiteX19" fmla="*/ 2594447 w 2778306"/>
                  <a:gd name="connsiteY19" fmla="*/ 1639248 h 1997546"/>
                  <a:gd name="connsiteX20" fmla="*/ 2355636 w 2778306"/>
                  <a:gd name="connsiteY20" fmla="*/ 1943203 h 1997546"/>
                  <a:gd name="connsiteX21" fmla="*/ 1758610 w 2778306"/>
                  <a:gd name="connsiteY21" fmla="*/ 1845504 h 1997546"/>
                  <a:gd name="connsiteX22" fmla="*/ 1400394 w 2778306"/>
                  <a:gd name="connsiteY22" fmla="*/ 1997481 h 1997546"/>
                  <a:gd name="connsiteX0" fmla="*/ 1400389 w 2778301"/>
                  <a:gd name="connsiteY0" fmla="*/ 1997481 h 1997546"/>
                  <a:gd name="connsiteX1" fmla="*/ 955333 w 2778301"/>
                  <a:gd name="connsiteY1" fmla="*/ 1845502 h 1997546"/>
                  <a:gd name="connsiteX2" fmla="*/ 260612 w 2778301"/>
                  <a:gd name="connsiteY2" fmla="*/ 1932348 h 1997546"/>
                  <a:gd name="connsiteX3" fmla="*/ 91 w 2778301"/>
                  <a:gd name="connsiteY3" fmla="*/ 1617537 h 1997546"/>
                  <a:gd name="connsiteX4" fmla="*/ 282322 w 2778301"/>
                  <a:gd name="connsiteY4" fmla="*/ 1335292 h 1997546"/>
                  <a:gd name="connsiteX5" fmla="*/ 727378 w 2778301"/>
                  <a:gd name="connsiteY5" fmla="*/ 1432992 h 1997546"/>
                  <a:gd name="connsiteX6" fmla="*/ 1129014 w 2778301"/>
                  <a:gd name="connsiteY6" fmla="*/ 1378714 h 1997546"/>
                  <a:gd name="connsiteX7" fmla="*/ 1215854 w 2778301"/>
                  <a:gd name="connsiteY7" fmla="*/ 977059 h 1997546"/>
                  <a:gd name="connsiteX8" fmla="*/ 987898 w 2778301"/>
                  <a:gd name="connsiteY8" fmla="*/ 325725 h 1997546"/>
                  <a:gd name="connsiteX9" fmla="*/ 1346114 w 2778301"/>
                  <a:gd name="connsiteY9" fmla="*/ 58 h 1997546"/>
                  <a:gd name="connsiteX10" fmla="*/ 1628345 w 2778301"/>
                  <a:gd name="connsiteY10" fmla="*/ 347436 h 1997546"/>
                  <a:gd name="connsiteX11" fmla="*/ 1465519 w 2778301"/>
                  <a:gd name="connsiteY11" fmla="*/ 1259303 h 1997546"/>
                  <a:gd name="connsiteX12" fmla="*/ 2008270 w 2778301"/>
                  <a:gd name="connsiteY12" fmla="*/ 662247 h 1997546"/>
                  <a:gd name="connsiteX13" fmla="*/ 2301356 w 2778301"/>
                  <a:gd name="connsiteY13" fmla="*/ 152036 h 1997546"/>
                  <a:gd name="connsiteX14" fmla="*/ 2724702 w 2778301"/>
                  <a:gd name="connsiteY14" fmla="*/ 130325 h 1997546"/>
                  <a:gd name="connsiteX15" fmla="*/ 2724702 w 2778301"/>
                  <a:gd name="connsiteY15" fmla="*/ 575403 h 1997546"/>
                  <a:gd name="connsiteX16" fmla="*/ 2290501 w 2778301"/>
                  <a:gd name="connsiteY16" fmla="*/ 879359 h 1997546"/>
                  <a:gd name="connsiteX17" fmla="*/ 1769460 w 2778301"/>
                  <a:gd name="connsiteY17" fmla="*/ 1400425 h 1997546"/>
                  <a:gd name="connsiteX18" fmla="*/ 2344776 w 2778301"/>
                  <a:gd name="connsiteY18" fmla="*/ 1346148 h 1997546"/>
                  <a:gd name="connsiteX19" fmla="*/ 2594442 w 2778301"/>
                  <a:gd name="connsiteY19" fmla="*/ 1639248 h 1997546"/>
                  <a:gd name="connsiteX20" fmla="*/ 2355631 w 2778301"/>
                  <a:gd name="connsiteY20" fmla="*/ 1943203 h 1997546"/>
                  <a:gd name="connsiteX21" fmla="*/ 1758605 w 2778301"/>
                  <a:gd name="connsiteY21" fmla="*/ 1845504 h 1997546"/>
                  <a:gd name="connsiteX22" fmla="*/ 1400389 w 2778301"/>
                  <a:gd name="connsiteY22" fmla="*/ 1997481 h 1997546"/>
                  <a:gd name="connsiteX0" fmla="*/ 1346114 w 2778301"/>
                  <a:gd name="connsiteY0" fmla="*/ 1997481 h 1997546"/>
                  <a:gd name="connsiteX1" fmla="*/ 955333 w 2778301"/>
                  <a:gd name="connsiteY1" fmla="*/ 1845502 h 1997546"/>
                  <a:gd name="connsiteX2" fmla="*/ 260612 w 2778301"/>
                  <a:gd name="connsiteY2" fmla="*/ 1932348 h 1997546"/>
                  <a:gd name="connsiteX3" fmla="*/ 91 w 2778301"/>
                  <a:gd name="connsiteY3" fmla="*/ 1617537 h 1997546"/>
                  <a:gd name="connsiteX4" fmla="*/ 282322 w 2778301"/>
                  <a:gd name="connsiteY4" fmla="*/ 1335292 h 1997546"/>
                  <a:gd name="connsiteX5" fmla="*/ 727378 w 2778301"/>
                  <a:gd name="connsiteY5" fmla="*/ 1432992 h 1997546"/>
                  <a:gd name="connsiteX6" fmla="*/ 1129014 w 2778301"/>
                  <a:gd name="connsiteY6" fmla="*/ 1378714 h 1997546"/>
                  <a:gd name="connsiteX7" fmla="*/ 1215854 w 2778301"/>
                  <a:gd name="connsiteY7" fmla="*/ 977059 h 1997546"/>
                  <a:gd name="connsiteX8" fmla="*/ 987898 w 2778301"/>
                  <a:gd name="connsiteY8" fmla="*/ 325725 h 1997546"/>
                  <a:gd name="connsiteX9" fmla="*/ 1346114 w 2778301"/>
                  <a:gd name="connsiteY9" fmla="*/ 58 h 1997546"/>
                  <a:gd name="connsiteX10" fmla="*/ 1628345 w 2778301"/>
                  <a:gd name="connsiteY10" fmla="*/ 347436 h 1997546"/>
                  <a:gd name="connsiteX11" fmla="*/ 1465519 w 2778301"/>
                  <a:gd name="connsiteY11" fmla="*/ 1259303 h 1997546"/>
                  <a:gd name="connsiteX12" fmla="*/ 2008270 w 2778301"/>
                  <a:gd name="connsiteY12" fmla="*/ 662247 h 1997546"/>
                  <a:gd name="connsiteX13" fmla="*/ 2301356 w 2778301"/>
                  <a:gd name="connsiteY13" fmla="*/ 152036 h 1997546"/>
                  <a:gd name="connsiteX14" fmla="*/ 2724702 w 2778301"/>
                  <a:gd name="connsiteY14" fmla="*/ 130325 h 1997546"/>
                  <a:gd name="connsiteX15" fmla="*/ 2724702 w 2778301"/>
                  <a:gd name="connsiteY15" fmla="*/ 575403 h 1997546"/>
                  <a:gd name="connsiteX16" fmla="*/ 2290501 w 2778301"/>
                  <a:gd name="connsiteY16" fmla="*/ 879359 h 1997546"/>
                  <a:gd name="connsiteX17" fmla="*/ 1769460 w 2778301"/>
                  <a:gd name="connsiteY17" fmla="*/ 1400425 h 1997546"/>
                  <a:gd name="connsiteX18" fmla="*/ 2344776 w 2778301"/>
                  <a:gd name="connsiteY18" fmla="*/ 1346148 h 1997546"/>
                  <a:gd name="connsiteX19" fmla="*/ 2594442 w 2778301"/>
                  <a:gd name="connsiteY19" fmla="*/ 1639248 h 1997546"/>
                  <a:gd name="connsiteX20" fmla="*/ 2355631 w 2778301"/>
                  <a:gd name="connsiteY20" fmla="*/ 1943203 h 1997546"/>
                  <a:gd name="connsiteX21" fmla="*/ 1758605 w 2778301"/>
                  <a:gd name="connsiteY21" fmla="*/ 1845504 h 1997546"/>
                  <a:gd name="connsiteX22" fmla="*/ 1346114 w 2778301"/>
                  <a:gd name="connsiteY22" fmla="*/ 1997481 h 1997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78301" h="1997546">
                    <a:moveTo>
                      <a:pt x="1346114" y="1997481"/>
                    </a:moveTo>
                    <a:cubicBezTo>
                      <a:pt x="1206808" y="1993862"/>
                      <a:pt x="1136250" y="1856358"/>
                      <a:pt x="955333" y="1845502"/>
                    </a:cubicBezTo>
                    <a:cubicBezTo>
                      <a:pt x="774416" y="1834647"/>
                      <a:pt x="419819" y="1970342"/>
                      <a:pt x="260612" y="1932348"/>
                    </a:cubicBezTo>
                    <a:cubicBezTo>
                      <a:pt x="101405" y="1894354"/>
                      <a:pt x="-3527" y="1717046"/>
                      <a:pt x="91" y="1617537"/>
                    </a:cubicBezTo>
                    <a:cubicBezTo>
                      <a:pt x="3709" y="1518028"/>
                      <a:pt x="161108" y="1366049"/>
                      <a:pt x="282322" y="1335292"/>
                    </a:cubicBezTo>
                    <a:cubicBezTo>
                      <a:pt x="403536" y="1304535"/>
                      <a:pt x="586263" y="1425755"/>
                      <a:pt x="727378" y="1432992"/>
                    </a:cubicBezTo>
                    <a:cubicBezTo>
                      <a:pt x="868493" y="1440229"/>
                      <a:pt x="1047601" y="1454703"/>
                      <a:pt x="1129014" y="1378714"/>
                    </a:cubicBezTo>
                    <a:cubicBezTo>
                      <a:pt x="1210427" y="1302725"/>
                      <a:pt x="1239373" y="1152557"/>
                      <a:pt x="1215854" y="977059"/>
                    </a:cubicBezTo>
                    <a:cubicBezTo>
                      <a:pt x="1192335" y="801561"/>
                      <a:pt x="966188" y="488558"/>
                      <a:pt x="987898" y="325725"/>
                    </a:cubicBezTo>
                    <a:cubicBezTo>
                      <a:pt x="1009608" y="162892"/>
                      <a:pt x="1239373" y="-3560"/>
                      <a:pt x="1346114" y="58"/>
                    </a:cubicBezTo>
                    <a:cubicBezTo>
                      <a:pt x="1452855" y="3676"/>
                      <a:pt x="1608444" y="137562"/>
                      <a:pt x="1628345" y="347436"/>
                    </a:cubicBezTo>
                    <a:cubicBezTo>
                      <a:pt x="1648246" y="557310"/>
                      <a:pt x="1402198" y="1206835"/>
                      <a:pt x="1465519" y="1259303"/>
                    </a:cubicBezTo>
                    <a:cubicBezTo>
                      <a:pt x="1528840" y="1311771"/>
                      <a:pt x="1868964" y="846792"/>
                      <a:pt x="2008270" y="662247"/>
                    </a:cubicBezTo>
                    <a:cubicBezTo>
                      <a:pt x="2147576" y="477703"/>
                      <a:pt x="2181951" y="240690"/>
                      <a:pt x="2301356" y="152036"/>
                    </a:cubicBezTo>
                    <a:cubicBezTo>
                      <a:pt x="2420761" y="63382"/>
                      <a:pt x="2654144" y="59764"/>
                      <a:pt x="2724702" y="130325"/>
                    </a:cubicBezTo>
                    <a:cubicBezTo>
                      <a:pt x="2795260" y="200886"/>
                      <a:pt x="2797069" y="450564"/>
                      <a:pt x="2724702" y="575403"/>
                    </a:cubicBezTo>
                    <a:cubicBezTo>
                      <a:pt x="2652335" y="700242"/>
                      <a:pt x="2449708" y="741855"/>
                      <a:pt x="2290501" y="879359"/>
                    </a:cubicBezTo>
                    <a:cubicBezTo>
                      <a:pt x="2131294" y="1016863"/>
                      <a:pt x="1760414" y="1322627"/>
                      <a:pt x="1769460" y="1400425"/>
                    </a:cubicBezTo>
                    <a:cubicBezTo>
                      <a:pt x="1778506" y="1478223"/>
                      <a:pt x="2207279" y="1306344"/>
                      <a:pt x="2344776" y="1346148"/>
                    </a:cubicBezTo>
                    <a:cubicBezTo>
                      <a:pt x="2482273" y="1385952"/>
                      <a:pt x="2592633" y="1539739"/>
                      <a:pt x="2594442" y="1639248"/>
                    </a:cubicBezTo>
                    <a:cubicBezTo>
                      <a:pt x="2596251" y="1738757"/>
                      <a:pt x="2494937" y="1908827"/>
                      <a:pt x="2355631" y="1943203"/>
                    </a:cubicBezTo>
                    <a:cubicBezTo>
                      <a:pt x="2216325" y="1977579"/>
                      <a:pt x="1926858" y="1836458"/>
                      <a:pt x="1758605" y="1845504"/>
                    </a:cubicBezTo>
                    <a:cubicBezTo>
                      <a:pt x="1590352" y="1854550"/>
                      <a:pt x="1485420" y="2001100"/>
                      <a:pt x="1346114" y="1997481"/>
                    </a:cubicBez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803725" y="5486400"/>
                <a:ext cx="533400" cy="533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524500" y="3725472"/>
              <a:ext cx="2689860" cy="2270760"/>
              <a:chOff x="5753100" y="3672840"/>
              <a:chExt cx="2689860" cy="2270760"/>
            </a:xfrm>
          </p:grpSpPr>
          <p:cxnSp>
            <p:nvCxnSpPr>
              <p:cNvPr id="14" name="Straight Connector 13"/>
              <p:cNvCxnSpPr>
                <a:stCxn id="26" idx="2"/>
                <a:endCxn id="27" idx="6"/>
              </p:cNvCxnSpPr>
              <p:nvPr/>
            </p:nvCxnSpPr>
            <p:spPr>
              <a:xfrm flipH="1">
                <a:off x="6118860" y="4472940"/>
                <a:ext cx="195834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>
                <a:stCxn id="25" idx="4"/>
                <a:endCxn id="28" idx="0"/>
              </p:cNvCxnSpPr>
              <p:nvPr/>
            </p:nvCxnSpPr>
            <p:spPr>
              <a:xfrm>
                <a:off x="7063740" y="4655820"/>
                <a:ext cx="0" cy="922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stCxn id="25" idx="7"/>
                <a:endCxn id="29" idx="3"/>
              </p:cNvCxnSpPr>
              <p:nvPr/>
            </p:nvCxnSpPr>
            <p:spPr>
              <a:xfrm flipV="1">
                <a:off x="7193056" y="3985036"/>
                <a:ext cx="427168" cy="358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>
                <a:stCxn id="26" idx="1"/>
                <a:endCxn id="29" idx="5"/>
              </p:cNvCxnSpPr>
              <p:nvPr/>
            </p:nvCxnSpPr>
            <p:spPr>
              <a:xfrm flipH="1" flipV="1">
                <a:off x="7878856" y="3985036"/>
                <a:ext cx="251908" cy="358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25" idx="1"/>
                <a:endCxn id="30" idx="5"/>
              </p:cNvCxnSpPr>
              <p:nvPr/>
            </p:nvCxnSpPr>
            <p:spPr>
              <a:xfrm flipH="1" flipV="1">
                <a:off x="6598696" y="3992656"/>
                <a:ext cx="335728" cy="35096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26" idx="3"/>
                <a:endCxn id="28" idx="7"/>
              </p:cNvCxnSpPr>
              <p:nvPr/>
            </p:nvCxnSpPr>
            <p:spPr>
              <a:xfrm flipH="1">
                <a:off x="7193056" y="4602256"/>
                <a:ext cx="937708" cy="102914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27" idx="7"/>
                <a:endCxn id="30" idx="3"/>
              </p:cNvCxnSpPr>
              <p:nvPr/>
            </p:nvCxnSpPr>
            <p:spPr>
              <a:xfrm flipV="1">
                <a:off x="6065296" y="3992656"/>
                <a:ext cx="274768" cy="35096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31" idx="6"/>
                <a:endCxn id="28" idx="2"/>
              </p:cNvCxnSpPr>
              <p:nvPr/>
            </p:nvCxnSpPr>
            <p:spPr>
              <a:xfrm>
                <a:off x="6240780" y="5753100"/>
                <a:ext cx="640080" cy="76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31" idx="0"/>
                <a:endCxn id="27" idx="4"/>
              </p:cNvCxnSpPr>
              <p:nvPr/>
            </p:nvCxnSpPr>
            <p:spPr>
              <a:xfrm flipH="1" flipV="1">
                <a:off x="5935980" y="4655820"/>
                <a:ext cx="121920" cy="9144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>
                <a:stCxn id="28" idx="6"/>
                <a:endCxn id="32" idx="2"/>
              </p:cNvCxnSpPr>
              <p:nvPr/>
            </p:nvCxnSpPr>
            <p:spPr>
              <a:xfrm flipV="1">
                <a:off x="7246620" y="5753100"/>
                <a:ext cx="609600" cy="76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32" idx="0"/>
                <a:endCxn id="26" idx="4"/>
              </p:cNvCxnSpPr>
              <p:nvPr/>
            </p:nvCxnSpPr>
            <p:spPr>
              <a:xfrm flipV="1">
                <a:off x="8039100" y="4655820"/>
                <a:ext cx="220980" cy="9144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6880860" y="429006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8077200" y="429006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753100" y="429006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6880860" y="557784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566660" y="367284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6286500" y="368046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875020" y="557022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7856220" y="5570220"/>
                <a:ext cx="365760" cy="3657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797190" y="2000321"/>
              <a:ext cx="4118210" cy="895279"/>
              <a:chOff x="4644790" y="5650480"/>
              <a:chExt cx="4118210" cy="895279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37860" y="5650480"/>
                <a:ext cx="2348701" cy="801394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4644790" y="5911304"/>
                <a:ext cx="122261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3366FF"/>
                    </a:solidFill>
                  </a:rPr>
                  <a:t>P</a:t>
                </a:r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FF0000"/>
                    </a:solidFill>
                  </a:rPr>
                  <a:t>r</a:t>
                </a:r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FADA2C"/>
                    </a:solidFill>
                  </a:rPr>
                  <a:t>e</a:t>
                </a:r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3366FF"/>
                    </a:solidFill>
                  </a:rPr>
                  <a:t>g</a:t>
                </a:r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FF0000"/>
                    </a:solidFill>
                  </a:rPr>
                  <a:t>e</a:t>
                </a:r>
                <a:r>
                  <a:rPr lang="en-US" sz="2800" dirty="0" err="1" smtClean="0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rgbClr val="56B656"/>
                    </a:solidFill>
                  </a:rPr>
                  <a:t>l</a:t>
                </a:r>
                <a:endParaRPr lang="en-US" sz="3600" dirty="0">
                  <a:solidFill>
                    <a:srgbClr val="800000"/>
                  </a:solidFill>
                </a:endParaRPr>
              </a:p>
            </p:txBody>
          </p:sp>
          <p:pic>
            <p:nvPicPr>
              <p:cNvPr id="13" name="Picture 12" descr="ApacheGiraph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22623" y="5654345"/>
                <a:ext cx="740377" cy="89141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/>
          <p:cNvGrpSpPr/>
          <p:nvPr/>
        </p:nvGrpSpPr>
        <p:grpSpPr>
          <a:xfrm>
            <a:off x="228600" y="1828800"/>
            <a:ext cx="4114800" cy="4495800"/>
            <a:chOff x="228600" y="1828800"/>
            <a:chExt cx="4114800" cy="4495800"/>
          </a:xfrm>
        </p:grpSpPr>
        <p:grpSp>
          <p:nvGrpSpPr>
            <p:cNvPr id="38" name="Group 37"/>
            <p:cNvGrpSpPr/>
            <p:nvPr/>
          </p:nvGrpSpPr>
          <p:grpSpPr>
            <a:xfrm>
              <a:off x="2525660" y="3886200"/>
              <a:ext cx="750939" cy="2057400"/>
              <a:chOff x="2743201" y="3048000"/>
              <a:chExt cx="609600" cy="2057400"/>
            </a:xfrm>
          </p:grpSpPr>
          <p:sp>
            <p:nvSpPr>
              <p:cNvPr id="52" name="Isosceles Triangle 51"/>
              <p:cNvSpPr/>
              <p:nvPr/>
            </p:nvSpPr>
            <p:spPr>
              <a:xfrm rot="5400000">
                <a:off x="2019301" y="3771900"/>
                <a:ext cx="2057400" cy="609600"/>
              </a:xfrm>
              <a:prstGeom prst="triangl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Light"/>
                  <a:cs typeface="Gill Sans Light"/>
                </a:endParaRPr>
              </a:p>
            </p:txBody>
          </p:sp>
          <p:sp>
            <p:nvSpPr>
              <p:cNvPr id="53" name="Plus 52"/>
              <p:cNvSpPr/>
              <p:nvPr/>
            </p:nvSpPr>
            <p:spPr>
              <a:xfrm>
                <a:off x="2884540" y="3962400"/>
                <a:ext cx="304800" cy="304800"/>
              </a:xfrm>
              <a:prstGeom prst="mathPlu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39" name="Rectangle 38"/>
            <p:cNvSpPr/>
            <p:nvPr/>
          </p:nvSpPr>
          <p:spPr>
            <a:xfrm>
              <a:off x="685800" y="3048000"/>
              <a:ext cx="1317523" cy="3276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800" dirty="0" smtClean="0">
                  <a:latin typeface="Gill Sans Light"/>
                  <a:cs typeface="Gill Sans Light"/>
                </a:rPr>
                <a:t>Table</a:t>
              </a:r>
              <a:endParaRPr lang="en-US" sz="2800" dirty="0">
                <a:latin typeface="Gill Sans Light"/>
                <a:cs typeface="Gill Sans Light"/>
              </a:endParaRP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773061" y="3505200"/>
              <a:ext cx="1752600" cy="2819400"/>
              <a:chOff x="773061" y="2895600"/>
              <a:chExt cx="1752600" cy="2819400"/>
            </a:xfrm>
          </p:grpSpPr>
          <p:sp>
            <p:nvSpPr>
              <p:cNvPr id="48" name="Right Arrow 47"/>
              <p:cNvSpPr/>
              <p:nvPr/>
            </p:nvSpPr>
            <p:spPr>
              <a:xfrm>
                <a:off x="773061" y="2895600"/>
                <a:ext cx="1752600" cy="762000"/>
              </a:xfrm>
              <a:prstGeom prst="rightArrow">
                <a:avLst>
                  <a:gd name="adj1" fmla="val 70328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49" name="Right Arrow 48"/>
              <p:cNvSpPr/>
              <p:nvPr/>
            </p:nvSpPr>
            <p:spPr>
              <a:xfrm>
                <a:off x="773061" y="3581400"/>
                <a:ext cx="1752600" cy="762000"/>
              </a:xfrm>
              <a:prstGeom prst="rightArrow">
                <a:avLst>
                  <a:gd name="adj1" fmla="val 70328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50" name="Right Arrow 49"/>
              <p:cNvSpPr/>
              <p:nvPr/>
            </p:nvSpPr>
            <p:spPr>
              <a:xfrm>
                <a:off x="773061" y="4267200"/>
                <a:ext cx="1752600" cy="762000"/>
              </a:xfrm>
              <a:prstGeom prst="rightArrow">
                <a:avLst>
                  <a:gd name="adj1" fmla="val 70328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  <p:sp>
            <p:nvSpPr>
              <p:cNvPr id="51" name="Right Arrow 50"/>
              <p:cNvSpPr/>
              <p:nvPr/>
            </p:nvSpPr>
            <p:spPr>
              <a:xfrm>
                <a:off x="773061" y="4953000"/>
                <a:ext cx="1752600" cy="762000"/>
              </a:xfrm>
              <a:prstGeom prst="rightArrow">
                <a:avLst>
                  <a:gd name="adj1" fmla="val 70328"/>
                  <a:gd name="adj2" fmla="val 5000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41" name="Rounded Rectangle 40"/>
            <p:cNvSpPr/>
            <p:nvPr/>
          </p:nvSpPr>
          <p:spPr>
            <a:xfrm>
              <a:off x="3276600" y="4648200"/>
              <a:ext cx="1066800" cy="5334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tIns="0" bIns="45720" rtlCol="0" anchor="ctr"/>
            <a:lstStyle/>
            <a:p>
              <a:pPr algn="ctr"/>
              <a:r>
                <a:rPr lang="en-US" dirty="0" smtClean="0">
                  <a:latin typeface="Gill Sans Light"/>
                  <a:cs typeface="Gill Sans Light"/>
                </a:rPr>
                <a:t>Result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49262" y="3733800"/>
              <a:ext cx="990599" cy="304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45720" rtlCol="0" anchor="ctr"/>
            <a:lstStyle/>
            <a:p>
              <a:pPr algn="ctr"/>
              <a:r>
                <a:rPr lang="en-US" dirty="0" smtClean="0">
                  <a:latin typeface="Gill Sans Light"/>
                  <a:cs typeface="Gill Sans Light"/>
                </a:rPr>
                <a:t>Row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9262" y="4419600"/>
              <a:ext cx="990599" cy="304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45720" rtlCol="0" anchor="ctr"/>
            <a:lstStyle/>
            <a:p>
              <a:pPr algn="ctr"/>
              <a:r>
                <a:rPr lang="en-US" dirty="0" smtClean="0">
                  <a:latin typeface="Gill Sans Light"/>
                  <a:cs typeface="Gill Sans Light"/>
                </a:rPr>
                <a:t>Row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49262" y="5105400"/>
              <a:ext cx="990599" cy="304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45720" rtlCol="0" anchor="ctr"/>
            <a:lstStyle/>
            <a:p>
              <a:pPr algn="ctr"/>
              <a:r>
                <a:rPr lang="en-US" dirty="0" smtClean="0">
                  <a:latin typeface="Gill Sans Light"/>
                  <a:cs typeface="Gill Sans Light"/>
                </a:rPr>
                <a:t>Row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49262" y="5791200"/>
              <a:ext cx="990599" cy="304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45720" rtlCol="0" anchor="ctr"/>
            <a:lstStyle/>
            <a:p>
              <a:pPr algn="ctr"/>
              <a:r>
                <a:rPr lang="en-US" dirty="0" smtClean="0">
                  <a:latin typeface="Gill Sans Light"/>
                  <a:cs typeface="Gill Sans Light"/>
                </a:rPr>
                <a:t>Row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600" y="1828800"/>
              <a:ext cx="2471169" cy="584431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 rotWithShape="1">
            <a:blip r:embed="rId5"/>
            <a:srcRect l="4467" t="4266" r="29708" b="26840"/>
            <a:stretch/>
          </p:blipFill>
          <p:spPr>
            <a:xfrm>
              <a:off x="2590800" y="2074289"/>
              <a:ext cx="1707244" cy="897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4036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78699" y="1905000"/>
            <a:ext cx="1399392" cy="1905000"/>
            <a:chOff x="178699" y="1905000"/>
            <a:chExt cx="1399392" cy="1905000"/>
          </a:xfrm>
        </p:grpSpPr>
        <p:sp>
          <p:nvSpPr>
            <p:cNvPr id="3" name="TextBox 2"/>
            <p:cNvSpPr txBox="1"/>
            <p:nvPr/>
          </p:nvSpPr>
          <p:spPr>
            <a:xfrm>
              <a:off x="178699" y="1905000"/>
              <a:ext cx="13993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Raw 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Wikipedia 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89392" y="2831994"/>
              <a:ext cx="978006" cy="978006"/>
              <a:chOff x="473540" y="2519906"/>
              <a:chExt cx="1166725" cy="1166725"/>
            </a:xfrm>
          </p:grpSpPr>
          <p:sp>
            <p:nvSpPr>
              <p:cNvPr id="5" name="Folded Corner 4"/>
              <p:cNvSpPr/>
              <p:nvPr/>
            </p:nvSpPr>
            <p:spPr>
              <a:xfrm>
                <a:off x="473540" y="2519906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solidFill>
                      <a:prstClr val="black"/>
                    </a:solidFill>
                    <a:latin typeface="Helvetica"/>
                    <a:cs typeface="Helvetica"/>
                  </a:rPr>
                  <a:t>&lt; / &gt;</a:t>
                </a:r>
                <a:endParaRPr lang="en-US" sz="2000" dirty="0">
                  <a:solidFill>
                    <a:prstClr val="black"/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6" name="Folded Corner 5"/>
              <p:cNvSpPr/>
              <p:nvPr/>
            </p:nvSpPr>
            <p:spPr>
              <a:xfrm>
                <a:off x="587323" y="2633689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solidFill>
                      <a:prstClr val="black"/>
                    </a:solidFill>
                    <a:latin typeface="Helvetica"/>
                    <a:cs typeface="Helvetica"/>
                  </a:rPr>
                  <a:t>&lt; / &gt;</a:t>
                </a:r>
                <a:endParaRPr lang="en-US" sz="2000" dirty="0">
                  <a:solidFill>
                    <a:prstClr val="black"/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7" name="Folded Corner 6"/>
              <p:cNvSpPr/>
              <p:nvPr/>
            </p:nvSpPr>
            <p:spPr>
              <a:xfrm>
                <a:off x="701106" y="2747472"/>
                <a:ext cx="939159" cy="939159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 smtClean="0">
                    <a:solidFill>
                      <a:prstClr val="black"/>
                    </a:solidFill>
                    <a:latin typeface="Helvetica"/>
                    <a:cs typeface="Helvetica"/>
                  </a:rPr>
                  <a:t>&lt; / &gt;</a:t>
                </a:r>
                <a:endParaRPr lang="en-US" sz="2000" dirty="0">
                  <a:solidFill>
                    <a:prstClr val="black"/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01105" y="3385784"/>
                <a:ext cx="711594" cy="29181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white"/>
                    </a:solidFill>
                    <a:latin typeface="Helvetica"/>
                    <a:cs typeface="Helvetica"/>
                  </a:rPr>
                  <a:t>XML</a:t>
                </a:r>
                <a:endParaRPr lang="en-US" sz="1200" dirty="0">
                  <a:solidFill>
                    <a:prstClr val="white"/>
                  </a:solidFill>
                  <a:latin typeface="Helvetica"/>
                  <a:cs typeface="Helvetica"/>
                </a:endParaRPr>
              </a:p>
            </p:txBody>
          </p:sp>
        </p:grpSp>
      </p:grpSp>
      <p:cxnSp>
        <p:nvCxnSpPr>
          <p:cNvPr id="9" name="Straight Arrow Connector 8"/>
          <p:cNvCxnSpPr/>
          <p:nvPr/>
        </p:nvCxnSpPr>
        <p:spPr>
          <a:xfrm flipV="1">
            <a:off x="3352800" y="2705947"/>
            <a:ext cx="457200" cy="3168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3808865" y="1228288"/>
            <a:ext cx="1460406" cy="1595656"/>
            <a:chOff x="3808865" y="1228288"/>
            <a:chExt cx="1460406" cy="1595656"/>
          </a:xfrm>
        </p:grpSpPr>
        <p:sp>
          <p:nvSpPr>
            <p:cNvPr id="11" name="TextBox 10"/>
            <p:cNvSpPr txBox="1"/>
            <p:nvPr/>
          </p:nvSpPr>
          <p:spPr>
            <a:xfrm>
              <a:off x="3808865" y="1228288"/>
              <a:ext cx="1460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Hyperlinks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020880" y="1727186"/>
              <a:ext cx="1036376" cy="1096758"/>
              <a:chOff x="2013099" y="2147633"/>
              <a:chExt cx="1339701" cy="1417755"/>
            </a:xfrm>
          </p:grpSpPr>
          <p:cxnSp>
            <p:nvCxnSpPr>
              <p:cNvPr id="13" name="Straight Connector 12"/>
              <p:cNvCxnSpPr>
                <a:stCxn id="20" idx="5"/>
                <a:endCxn id="21" idx="1"/>
              </p:cNvCxnSpPr>
              <p:nvPr/>
            </p:nvCxnSpPr>
            <p:spPr>
              <a:xfrm>
                <a:off x="2655052" y="2818029"/>
                <a:ext cx="126891" cy="2050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>
                <a:stCxn id="22" idx="3"/>
                <a:endCxn id="21" idx="7"/>
              </p:cNvCxnSpPr>
              <p:nvPr/>
            </p:nvCxnSpPr>
            <p:spPr>
              <a:xfrm flipH="1">
                <a:off x="2936315" y="2865494"/>
                <a:ext cx="195578" cy="15760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>
                <a:stCxn id="20" idx="4"/>
                <a:endCxn id="23" idx="0"/>
              </p:cNvCxnSpPr>
              <p:nvPr/>
            </p:nvCxnSpPr>
            <p:spPr>
              <a:xfrm flipH="1">
                <a:off x="2541151" y="2850000"/>
                <a:ext cx="36716" cy="49707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stCxn id="19" idx="5"/>
                <a:endCxn id="23" idx="1"/>
              </p:cNvCxnSpPr>
              <p:nvPr/>
            </p:nvCxnSpPr>
            <p:spPr>
              <a:xfrm>
                <a:off x="2199441" y="3036342"/>
                <a:ext cx="264524" cy="3427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>
                <a:stCxn id="20" idx="2"/>
                <a:endCxn id="19" idx="7"/>
              </p:cNvCxnSpPr>
              <p:nvPr/>
            </p:nvCxnSpPr>
            <p:spPr>
              <a:xfrm flipH="1">
                <a:off x="2199442" y="2740843"/>
                <a:ext cx="269268" cy="14112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21" idx="3"/>
                <a:endCxn id="23" idx="7"/>
              </p:cNvCxnSpPr>
              <p:nvPr/>
            </p:nvCxnSpPr>
            <p:spPr>
              <a:xfrm flipH="1">
                <a:off x="2618335" y="3177470"/>
                <a:ext cx="163609" cy="20157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>
                <a:off x="2013099" y="2850000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468710" y="263168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749972" y="2991128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099922" y="2679151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2431993" y="3347074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655052" y="2147633"/>
                <a:ext cx="218313" cy="21831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25" name="Straight Connector 24"/>
              <p:cNvCxnSpPr>
                <a:stCxn id="24" idx="3"/>
                <a:endCxn id="20" idx="0"/>
              </p:cNvCxnSpPr>
              <p:nvPr/>
            </p:nvCxnSpPr>
            <p:spPr>
              <a:xfrm flipH="1">
                <a:off x="2577867" y="2333975"/>
                <a:ext cx="109157" cy="29771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24" idx="5"/>
                <a:endCxn id="22" idx="1"/>
              </p:cNvCxnSpPr>
              <p:nvPr/>
            </p:nvCxnSpPr>
            <p:spPr>
              <a:xfrm>
                <a:off x="2841394" y="2333975"/>
                <a:ext cx="290499" cy="3771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23" idx="6"/>
                <a:endCxn id="28" idx="3"/>
              </p:cNvCxnSpPr>
              <p:nvPr/>
            </p:nvCxnSpPr>
            <p:spPr>
              <a:xfrm flipV="1">
                <a:off x="2650305" y="3283008"/>
                <a:ext cx="516152" cy="1732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3134487" y="3096666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122255" y="2224818"/>
                <a:ext cx="218313" cy="218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30" name="Straight Connector 29"/>
              <p:cNvCxnSpPr>
                <a:stCxn id="29" idx="6"/>
                <a:endCxn id="22" idx="2"/>
              </p:cNvCxnSpPr>
              <p:nvPr/>
            </p:nvCxnSpPr>
            <p:spPr>
              <a:xfrm>
                <a:off x="2340568" y="2333975"/>
                <a:ext cx="759354" cy="45433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22" idx="4"/>
                <a:endCxn id="28" idx="0"/>
              </p:cNvCxnSpPr>
              <p:nvPr/>
            </p:nvCxnSpPr>
            <p:spPr>
              <a:xfrm>
                <a:off x="3209079" y="2897465"/>
                <a:ext cx="34565" cy="19920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29" idx="3"/>
                <a:endCxn id="19" idx="1"/>
              </p:cNvCxnSpPr>
              <p:nvPr/>
            </p:nvCxnSpPr>
            <p:spPr>
              <a:xfrm flipH="1">
                <a:off x="2045070" y="2411161"/>
                <a:ext cx="109156" cy="47081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29" idx="5"/>
                <a:endCxn id="20" idx="1"/>
              </p:cNvCxnSpPr>
              <p:nvPr/>
            </p:nvCxnSpPr>
            <p:spPr>
              <a:xfrm>
                <a:off x="2308597" y="2411161"/>
                <a:ext cx="192084" cy="25249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/>
          <p:cNvGrpSpPr/>
          <p:nvPr/>
        </p:nvGrpSpPr>
        <p:grpSpPr>
          <a:xfrm>
            <a:off x="5651910" y="1228288"/>
            <a:ext cx="1351652" cy="1595656"/>
            <a:chOff x="5651910" y="1228288"/>
            <a:chExt cx="1351652" cy="1595656"/>
          </a:xfrm>
        </p:grpSpPr>
        <p:sp>
          <p:nvSpPr>
            <p:cNvPr id="35" name="TextBox 34"/>
            <p:cNvSpPr txBox="1"/>
            <p:nvPr/>
          </p:nvSpPr>
          <p:spPr>
            <a:xfrm>
              <a:off x="5651910" y="1228288"/>
              <a:ext cx="13516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PageRank</a:t>
              </a: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5809548" y="1727186"/>
              <a:ext cx="1036376" cy="1096758"/>
              <a:chOff x="2013099" y="2147633"/>
              <a:chExt cx="1339701" cy="1417755"/>
            </a:xfrm>
          </p:grpSpPr>
          <p:cxnSp>
            <p:nvCxnSpPr>
              <p:cNvPr id="37" name="Straight Connector 36"/>
              <p:cNvCxnSpPr>
                <a:stCxn id="44" idx="5"/>
                <a:endCxn id="45" idx="1"/>
              </p:cNvCxnSpPr>
              <p:nvPr/>
            </p:nvCxnSpPr>
            <p:spPr>
              <a:xfrm>
                <a:off x="2655052" y="2818029"/>
                <a:ext cx="126891" cy="20507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46" idx="3"/>
                <a:endCxn id="45" idx="7"/>
              </p:cNvCxnSpPr>
              <p:nvPr/>
            </p:nvCxnSpPr>
            <p:spPr>
              <a:xfrm flipH="1">
                <a:off x="2936315" y="2865494"/>
                <a:ext cx="195578" cy="15760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44" idx="4"/>
                <a:endCxn id="47" idx="0"/>
              </p:cNvCxnSpPr>
              <p:nvPr/>
            </p:nvCxnSpPr>
            <p:spPr>
              <a:xfrm flipH="1">
                <a:off x="2541151" y="2850000"/>
                <a:ext cx="36716" cy="49707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stCxn id="43" idx="5"/>
                <a:endCxn id="47" idx="1"/>
              </p:cNvCxnSpPr>
              <p:nvPr/>
            </p:nvCxnSpPr>
            <p:spPr>
              <a:xfrm>
                <a:off x="2199441" y="3036342"/>
                <a:ext cx="264524" cy="3427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44" idx="2"/>
                <a:endCxn id="43" idx="7"/>
              </p:cNvCxnSpPr>
              <p:nvPr/>
            </p:nvCxnSpPr>
            <p:spPr>
              <a:xfrm flipH="1">
                <a:off x="2199442" y="2740843"/>
                <a:ext cx="269268" cy="14112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45" idx="3"/>
                <a:endCxn id="47" idx="7"/>
              </p:cNvCxnSpPr>
              <p:nvPr/>
            </p:nvCxnSpPr>
            <p:spPr>
              <a:xfrm flipH="1">
                <a:off x="2618335" y="3177470"/>
                <a:ext cx="163609" cy="20157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>
              <a:xfrm>
                <a:off x="2013099" y="2850000"/>
                <a:ext cx="218313" cy="218314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2468710" y="2631686"/>
                <a:ext cx="218313" cy="218314"/>
              </a:xfrm>
              <a:prstGeom prst="ellipse">
                <a:avLst/>
              </a:prstGeom>
              <a:solidFill>
                <a:srgbClr val="0000FF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2749972" y="2991128"/>
                <a:ext cx="218313" cy="218314"/>
              </a:xfrm>
              <a:prstGeom prst="ellipse">
                <a:avLst/>
              </a:prstGeom>
              <a:solidFill>
                <a:srgbClr val="FF00FF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099922" y="2679151"/>
                <a:ext cx="218313" cy="21831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431993" y="3347074"/>
                <a:ext cx="218313" cy="21831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655052" y="2147633"/>
                <a:ext cx="218313" cy="218314"/>
              </a:xfrm>
              <a:prstGeom prst="ellipse">
                <a:avLst/>
              </a:prstGeom>
              <a:solidFill>
                <a:srgbClr val="9BBB59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49" name="Straight Connector 48"/>
              <p:cNvCxnSpPr>
                <a:stCxn id="48" idx="3"/>
                <a:endCxn id="44" idx="0"/>
              </p:cNvCxnSpPr>
              <p:nvPr/>
            </p:nvCxnSpPr>
            <p:spPr>
              <a:xfrm flipH="1">
                <a:off x="2577867" y="2333975"/>
                <a:ext cx="109157" cy="29771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>
                <a:stCxn id="48" idx="5"/>
                <a:endCxn id="46" idx="1"/>
              </p:cNvCxnSpPr>
              <p:nvPr/>
            </p:nvCxnSpPr>
            <p:spPr>
              <a:xfrm>
                <a:off x="2841394" y="2333975"/>
                <a:ext cx="290499" cy="37714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>
                <a:stCxn id="47" idx="6"/>
                <a:endCxn id="52" idx="3"/>
              </p:cNvCxnSpPr>
              <p:nvPr/>
            </p:nvCxnSpPr>
            <p:spPr>
              <a:xfrm flipV="1">
                <a:off x="2650305" y="3283008"/>
                <a:ext cx="516152" cy="1732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Oval 51"/>
              <p:cNvSpPr/>
              <p:nvPr/>
            </p:nvSpPr>
            <p:spPr>
              <a:xfrm>
                <a:off x="3134487" y="3096666"/>
                <a:ext cx="218313" cy="218314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122255" y="2224818"/>
                <a:ext cx="218313" cy="21831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54" name="Straight Connector 53"/>
              <p:cNvCxnSpPr>
                <a:stCxn id="53" idx="6"/>
                <a:endCxn id="46" idx="2"/>
              </p:cNvCxnSpPr>
              <p:nvPr/>
            </p:nvCxnSpPr>
            <p:spPr>
              <a:xfrm>
                <a:off x="2340568" y="2333975"/>
                <a:ext cx="759354" cy="45433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46" idx="4"/>
                <a:endCxn id="52" idx="0"/>
              </p:cNvCxnSpPr>
              <p:nvPr/>
            </p:nvCxnSpPr>
            <p:spPr>
              <a:xfrm>
                <a:off x="3209079" y="2897465"/>
                <a:ext cx="34565" cy="19920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stCxn id="53" idx="3"/>
                <a:endCxn id="43" idx="1"/>
              </p:cNvCxnSpPr>
              <p:nvPr/>
            </p:nvCxnSpPr>
            <p:spPr>
              <a:xfrm flipH="1">
                <a:off x="2045070" y="2411161"/>
                <a:ext cx="109156" cy="47081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stCxn id="53" idx="5"/>
                <a:endCxn id="44" idx="1"/>
              </p:cNvCxnSpPr>
              <p:nvPr/>
            </p:nvCxnSpPr>
            <p:spPr>
              <a:xfrm>
                <a:off x="2308597" y="2411161"/>
                <a:ext cx="192084" cy="25249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Straight Arrow Connector 57"/>
          <p:cNvCxnSpPr/>
          <p:nvPr/>
        </p:nvCxnSpPr>
        <p:spPr>
          <a:xfrm>
            <a:off x="5181600" y="227556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239000" y="227556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7353726" y="1228288"/>
            <a:ext cx="1790274" cy="1498808"/>
            <a:chOff x="7353726" y="1228288"/>
            <a:chExt cx="1790274" cy="1498808"/>
          </a:xfrm>
        </p:grpSpPr>
        <p:sp>
          <p:nvSpPr>
            <p:cNvPr id="61" name="TextBox 60"/>
            <p:cNvSpPr txBox="1"/>
            <p:nvPr/>
          </p:nvSpPr>
          <p:spPr>
            <a:xfrm>
              <a:off x="7353726" y="1228288"/>
              <a:ext cx="1790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Top 20 Pages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791663" y="1824035"/>
              <a:ext cx="914400" cy="903061"/>
              <a:chOff x="7848600" y="2449739"/>
              <a:chExt cx="914400" cy="903061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7848600" y="2449739"/>
                <a:ext cx="914400" cy="903061"/>
                <a:chOff x="7848600" y="2085074"/>
                <a:chExt cx="914400" cy="903061"/>
              </a:xfrm>
            </p:grpSpPr>
            <p:sp>
              <p:nvSpPr>
                <p:cNvPr id="72" name="Rectangle 71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Title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PR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75" name="Straight Connector 74"/>
                <p:cNvCxnSpPr>
                  <a:stCxn id="74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Rectangle 63"/>
              <p:cNvSpPr/>
              <p:nvPr/>
            </p:nvSpPr>
            <p:spPr>
              <a:xfrm>
                <a:off x="7848600" y="26978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7848600" y="28629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7848600" y="31840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78486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8305800" y="2697843"/>
                <a:ext cx="457200" cy="16873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8305800" y="2862932"/>
                <a:ext cx="457200" cy="16873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305800" y="3184066"/>
                <a:ext cx="457200" cy="168734"/>
              </a:xfrm>
              <a:prstGeom prst="rect">
                <a:avLst/>
              </a:prstGeom>
              <a:solidFill>
                <a:srgbClr val="F79646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8305800" y="3015332"/>
                <a:ext cx="457200" cy="168734"/>
              </a:xfrm>
              <a:prstGeom prst="rect">
                <a:avLst/>
              </a:prstGeom>
              <a:solidFill>
                <a:srgbClr val="3366FF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76" name="Straight Arrow Connector 75"/>
          <p:cNvCxnSpPr/>
          <p:nvPr/>
        </p:nvCxnSpPr>
        <p:spPr>
          <a:xfrm>
            <a:off x="1562100" y="3352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2178897" y="1905000"/>
            <a:ext cx="914400" cy="1809621"/>
            <a:chOff x="2178897" y="1905000"/>
            <a:chExt cx="914400" cy="1809621"/>
          </a:xfrm>
        </p:grpSpPr>
        <p:sp>
          <p:nvSpPr>
            <p:cNvPr id="78" name="TextBox 77"/>
            <p:cNvSpPr txBox="1"/>
            <p:nvPr/>
          </p:nvSpPr>
          <p:spPr>
            <a:xfrm>
              <a:off x="2231104" y="1905000"/>
              <a:ext cx="80998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Text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Table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2178897" y="2811560"/>
              <a:ext cx="914400" cy="903061"/>
              <a:chOff x="8001000" y="2602139"/>
              <a:chExt cx="914400" cy="903061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001000" y="2602139"/>
                <a:ext cx="914400" cy="903061"/>
                <a:chOff x="7848600" y="2085074"/>
                <a:chExt cx="914400" cy="903061"/>
              </a:xfrm>
            </p:grpSpPr>
            <p:sp>
              <p:nvSpPr>
                <p:cNvPr id="89" name="Rectangle 88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Title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90" name="Rectangle 89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Body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92" name="Straight Connector 91"/>
                <p:cNvCxnSpPr>
                  <a:stCxn id="91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Rectangle 80"/>
              <p:cNvSpPr/>
              <p:nvPr/>
            </p:nvSpPr>
            <p:spPr>
              <a:xfrm>
                <a:off x="8001000" y="28502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80010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8001000" y="33364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8001000" y="31677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8458200" y="28502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84582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8458200" y="33364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8458200" y="31677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93" name="Straight Arrow Connector 92"/>
          <p:cNvCxnSpPr/>
          <p:nvPr/>
        </p:nvCxnSpPr>
        <p:spPr>
          <a:xfrm>
            <a:off x="5181600" y="4248109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5486400" y="2895600"/>
            <a:ext cx="1682672" cy="1843613"/>
            <a:chOff x="5486400" y="2895600"/>
            <a:chExt cx="1682672" cy="1843613"/>
          </a:xfrm>
        </p:grpSpPr>
        <p:sp>
          <p:nvSpPr>
            <p:cNvPr id="95" name="TextBox 94"/>
            <p:cNvSpPr txBox="1"/>
            <p:nvPr/>
          </p:nvSpPr>
          <p:spPr>
            <a:xfrm>
              <a:off x="5486400" y="2895600"/>
              <a:ext cx="16826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Topic Model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(LDA)</a:t>
              </a:r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5699356" y="3757006"/>
              <a:ext cx="1256760" cy="982207"/>
              <a:chOff x="5764677" y="4199393"/>
              <a:chExt cx="1256760" cy="982207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6040445" y="4199393"/>
                <a:ext cx="706364" cy="982207"/>
                <a:chOff x="4038600" y="3429000"/>
                <a:chExt cx="706364" cy="982207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4038600" y="3429000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cxnSp>
              <p:nvCxnSpPr>
                <p:cNvPr id="106" name="Straight Connector 105"/>
                <p:cNvCxnSpPr>
                  <a:stCxn id="105" idx="6"/>
                  <a:endCxn id="107" idx="2"/>
                </p:cNvCxnSpPr>
                <p:nvPr/>
              </p:nvCxnSpPr>
              <p:spPr>
                <a:xfrm>
                  <a:off x="4207484" y="3513443"/>
                  <a:ext cx="368596" cy="77180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" name="Oval 106"/>
                <p:cNvSpPr/>
                <p:nvPr/>
              </p:nvSpPr>
              <p:spPr>
                <a:xfrm>
                  <a:off x="4576080" y="3506180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038600" y="3700107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09" name="Oval 108"/>
                <p:cNvSpPr/>
                <p:nvPr/>
              </p:nvSpPr>
              <p:spPr>
                <a:xfrm>
                  <a:off x="4576080" y="3818010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4038600" y="3971214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4576080" y="4129840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038600" y="4242322"/>
                  <a:ext cx="168884" cy="168885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sz="180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cxnSp>
              <p:nvCxnSpPr>
                <p:cNvPr id="113" name="Straight Connector 112"/>
                <p:cNvCxnSpPr>
                  <a:stCxn id="108" idx="6"/>
                  <a:endCxn id="107" idx="3"/>
                </p:cNvCxnSpPr>
                <p:nvPr/>
              </p:nvCxnSpPr>
              <p:spPr>
                <a:xfrm flipV="1">
                  <a:off x="4207484" y="3650332"/>
                  <a:ext cx="393328" cy="134218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>
                  <a:stCxn id="110" idx="7"/>
                  <a:endCxn id="107" idx="4"/>
                </p:cNvCxnSpPr>
                <p:nvPr/>
              </p:nvCxnSpPr>
              <p:spPr>
                <a:xfrm flipV="1">
                  <a:off x="4182752" y="3675065"/>
                  <a:ext cx="477770" cy="320882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>
                  <a:stCxn id="105" idx="5"/>
                  <a:endCxn id="109" idx="1"/>
                </p:cNvCxnSpPr>
                <p:nvPr/>
              </p:nvCxnSpPr>
              <p:spPr>
                <a:xfrm>
                  <a:off x="4182752" y="3573152"/>
                  <a:ext cx="418060" cy="269591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>
                  <a:stCxn id="112" idx="7"/>
                  <a:endCxn id="109" idx="3"/>
                </p:cNvCxnSpPr>
                <p:nvPr/>
              </p:nvCxnSpPr>
              <p:spPr>
                <a:xfrm flipV="1">
                  <a:off x="4182752" y="3962162"/>
                  <a:ext cx="418060" cy="304893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>
                  <a:stCxn id="111" idx="1"/>
                  <a:endCxn id="108" idx="5"/>
                </p:cNvCxnSpPr>
                <p:nvPr/>
              </p:nvCxnSpPr>
              <p:spPr>
                <a:xfrm flipH="1" flipV="1">
                  <a:off x="4182752" y="3844259"/>
                  <a:ext cx="418060" cy="310314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>
                  <a:stCxn id="111" idx="2"/>
                  <a:endCxn id="110" idx="5"/>
                </p:cNvCxnSpPr>
                <p:nvPr/>
              </p:nvCxnSpPr>
              <p:spPr>
                <a:xfrm flipH="1" flipV="1">
                  <a:off x="4182752" y="4115366"/>
                  <a:ext cx="393328" cy="98917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>
                  <a:stCxn id="109" idx="2"/>
                  <a:endCxn id="110" idx="6"/>
                </p:cNvCxnSpPr>
                <p:nvPr/>
              </p:nvCxnSpPr>
              <p:spPr>
                <a:xfrm flipH="1">
                  <a:off x="4207484" y="3902453"/>
                  <a:ext cx="368596" cy="153204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>
                  <a:stCxn id="112" idx="6"/>
                  <a:endCxn id="111" idx="3"/>
                </p:cNvCxnSpPr>
                <p:nvPr/>
              </p:nvCxnSpPr>
              <p:spPr>
                <a:xfrm flipV="1">
                  <a:off x="4207484" y="4273992"/>
                  <a:ext cx="393328" cy="52773"/>
                </a:xfrm>
                <a:prstGeom prst="line">
                  <a:avLst/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Rectangle 97"/>
              <p:cNvSpPr/>
              <p:nvPr/>
            </p:nvSpPr>
            <p:spPr>
              <a:xfrm>
                <a:off x="5764677" y="4247913"/>
                <a:ext cx="228594" cy="84444"/>
              </a:xfrm>
              <a:prstGeom prst="rect">
                <a:avLst/>
              </a:prstGeom>
              <a:solidFill>
                <a:srgbClr val="E46C0A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5764677" y="4512589"/>
                <a:ext cx="228594" cy="84444"/>
              </a:xfrm>
              <a:prstGeom prst="rect">
                <a:avLst/>
              </a:prstGeom>
              <a:solidFill>
                <a:srgbClr val="3366FF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5764677" y="4777265"/>
                <a:ext cx="228594" cy="8444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5764677" y="5041941"/>
                <a:ext cx="228594" cy="84444"/>
              </a:xfrm>
              <a:prstGeom prst="rect">
                <a:avLst/>
              </a:prstGeom>
              <a:solidFill>
                <a:srgbClr val="FF0080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6792843" y="4332357"/>
                <a:ext cx="228594" cy="84444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6792843" y="4638556"/>
                <a:ext cx="228594" cy="84444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6792843" y="4944756"/>
                <a:ext cx="228594" cy="84444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grpSp>
        <p:nvGrpSpPr>
          <p:cNvPr id="121" name="Group 120"/>
          <p:cNvGrpSpPr/>
          <p:nvPr/>
        </p:nvGrpSpPr>
        <p:grpSpPr>
          <a:xfrm>
            <a:off x="7398285" y="3264932"/>
            <a:ext cx="1701157" cy="1434708"/>
            <a:chOff x="7398285" y="3264932"/>
            <a:chExt cx="1701157" cy="1434708"/>
          </a:xfrm>
        </p:grpSpPr>
        <p:sp>
          <p:nvSpPr>
            <p:cNvPr id="122" name="TextBox 121"/>
            <p:cNvSpPr txBox="1"/>
            <p:nvPr/>
          </p:nvSpPr>
          <p:spPr>
            <a:xfrm>
              <a:off x="7398285" y="3264932"/>
              <a:ext cx="17011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Word Topics</a:t>
              </a: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7791663" y="3796579"/>
              <a:ext cx="914400" cy="903061"/>
              <a:chOff x="7848600" y="2449739"/>
              <a:chExt cx="914400" cy="903061"/>
            </a:xfrm>
          </p:grpSpPr>
          <p:grpSp>
            <p:nvGrpSpPr>
              <p:cNvPr id="124" name="Group 123"/>
              <p:cNvGrpSpPr/>
              <p:nvPr/>
            </p:nvGrpSpPr>
            <p:grpSpPr>
              <a:xfrm>
                <a:off x="7848600" y="2449739"/>
                <a:ext cx="914400" cy="903061"/>
                <a:chOff x="7848600" y="2085074"/>
                <a:chExt cx="914400" cy="903061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Word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34" name="Rectangle 133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Topic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35" name="Rectangle 134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136" name="Straight Connector 135"/>
                <p:cNvCxnSpPr>
                  <a:stCxn id="135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5" name="Rectangle 124"/>
              <p:cNvSpPr/>
              <p:nvPr/>
            </p:nvSpPr>
            <p:spPr>
              <a:xfrm>
                <a:off x="7848600" y="26978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7848600" y="28629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7848600" y="31840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78486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8305800" y="2697843"/>
                <a:ext cx="457200" cy="16873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8305800" y="2862932"/>
                <a:ext cx="457200" cy="16873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8305800" y="3184066"/>
                <a:ext cx="457200" cy="168734"/>
              </a:xfrm>
              <a:prstGeom prst="rect">
                <a:avLst/>
              </a:prstGeom>
              <a:solidFill>
                <a:srgbClr val="F79646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8305800" y="3015332"/>
                <a:ext cx="457200" cy="168734"/>
              </a:xfrm>
              <a:prstGeom prst="rect">
                <a:avLst/>
              </a:prstGeom>
              <a:solidFill>
                <a:srgbClr val="3366FF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137" name="Straight Arrow Connector 136"/>
          <p:cNvCxnSpPr/>
          <p:nvPr/>
        </p:nvCxnSpPr>
        <p:spPr>
          <a:xfrm>
            <a:off x="7239000" y="4248109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>
            <a:off x="1533707" y="6229297"/>
            <a:ext cx="43778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/>
          <p:cNvGrpSpPr/>
          <p:nvPr/>
        </p:nvGrpSpPr>
        <p:grpSpPr>
          <a:xfrm>
            <a:off x="1828800" y="5246132"/>
            <a:ext cx="1768633" cy="1459468"/>
            <a:chOff x="1828800" y="5246132"/>
            <a:chExt cx="1768633" cy="1459468"/>
          </a:xfrm>
        </p:grpSpPr>
        <p:sp>
          <p:nvSpPr>
            <p:cNvPr id="140" name="TextBox 139"/>
            <p:cNvSpPr txBox="1"/>
            <p:nvPr/>
          </p:nvSpPr>
          <p:spPr>
            <a:xfrm>
              <a:off x="1828800" y="5246132"/>
              <a:ext cx="17686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Editor Graph</a:t>
              </a:r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2117909" y="5752994"/>
              <a:ext cx="1036376" cy="952606"/>
              <a:chOff x="3999766" y="5601492"/>
              <a:chExt cx="1036376" cy="952606"/>
            </a:xfrm>
          </p:grpSpPr>
          <p:cxnSp>
            <p:nvCxnSpPr>
              <p:cNvPr id="142" name="Straight Connector 141"/>
              <p:cNvCxnSpPr>
                <a:stCxn id="146" idx="7"/>
                <a:endCxn id="147" idx="3"/>
              </p:cNvCxnSpPr>
              <p:nvPr/>
            </p:nvCxnSpPr>
            <p:spPr>
              <a:xfrm flipV="1">
                <a:off x="4673411" y="5993688"/>
                <a:ext cx="191840" cy="15114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>
                <a:stCxn id="146" idx="3"/>
                <a:endCxn id="148" idx="0"/>
              </p:cNvCxnSpPr>
              <p:nvPr/>
            </p:nvCxnSpPr>
            <p:spPr>
              <a:xfrm flipH="1">
                <a:off x="4383136" y="6264253"/>
                <a:ext cx="170855" cy="12096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>
                <a:stCxn id="146" idx="2"/>
                <a:endCxn id="145" idx="6"/>
              </p:cNvCxnSpPr>
              <p:nvPr/>
            </p:nvCxnSpPr>
            <p:spPr>
              <a:xfrm flipH="1">
                <a:off x="4168650" y="6204544"/>
                <a:ext cx="360609" cy="2473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5" name="Oval 144"/>
              <p:cNvSpPr/>
              <p:nvPr/>
            </p:nvSpPr>
            <p:spPr>
              <a:xfrm>
                <a:off x="3999766" y="6144835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4529259" y="6120101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4840519" y="5849536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4298694" y="6385213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4496373" y="5601492"/>
                <a:ext cx="168884" cy="16888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150" name="Straight Connector 149"/>
              <p:cNvCxnSpPr>
                <a:stCxn id="149" idx="4"/>
                <a:endCxn id="146" idx="0"/>
              </p:cNvCxnSpPr>
              <p:nvPr/>
            </p:nvCxnSpPr>
            <p:spPr>
              <a:xfrm>
                <a:off x="4580815" y="5770377"/>
                <a:ext cx="32886" cy="3497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>
                <a:stCxn id="148" idx="6"/>
                <a:endCxn id="152" idx="3"/>
              </p:cNvCxnSpPr>
              <p:nvPr/>
            </p:nvCxnSpPr>
            <p:spPr>
              <a:xfrm flipV="1">
                <a:off x="4467578" y="6395361"/>
                <a:ext cx="424412" cy="7429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Oval 151"/>
              <p:cNvSpPr/>
              <p:nvPr/>
            </p:nvSpPr>
            <p:spPr>
              <a:xfrm>
                <a:off x="4867258" y="6251209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4084208" y="5661201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154" name="Straight Connector 153"/>
              <p:cNvCxnSpPr>
                <a:stCxn id="153" idx="6"/>
                <a:endCxn id="149" idx="2"/>
              </p:cNvCxnSpPr>
              <p:nvPr/>
            </p:nvCxnSpPr>
            <p:spPr>
              <a:xfrm flipV="1">
                <a:off x="4253092" y="5685935"/>
                <a:ext cx="243281" cy="59709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>
                <a:stCxn id="147" idx="4"/>
                <a:endCxn id="152" idx="0"/>
              </p:cNvCxnSpPr>
              <p:nvPr/>
            </p:nvCxnSpPr>
            <p:spPr>
              <a:xfrm>
                <a:off x="4924961" y="6018421"/>
                <a:ext cx="26739" cy="23278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>
                <a:stCxn id="153" idx="3"/>
                <a:endCxn id="145" idx="1"/>
              </p:cNvCxnSpPr>
              <p:nvPr/>
            </p:nvCxnSpPr>
            <p:spPr>
              <a:xfrm flipH="1">
                <a:off x="4024498" y="5805354"/>
                <a:ext cx="84442" cy="36421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>
                <a:stCxn id="145" idx="7"/>
                <a:endCxn id="149" idx="3"/>
              </p:cNvCxnSpPr>
              <p:nvPr/>
            </p:nvCxnSpPr>
            <p:spPr>
              <a:xfrm flipV="1">
                <a:off x="4143918" y="5745644"/>
                <a:ext cx="377187" cy="4239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>
                <a:stCxn id="153" idx="5"/>
                <a:endCxn id="146" idx="1"/>
              </p:cNvCxnSpPr>
              <p:nvPr/>
            </p:nvCxnSpPr>
            <p:spPr>
              <a:xfrm>
                <a:off x="4228360" y="5805353"/>
                <a:ext cx="325631" cy="33948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>
                <a:stCxn id="146" idx="6"/>
                <a:endCxn id="152" idx="1"/>
              </p:cNvCxnSpPr>
              <p:nvPr/>
            </p:nvCxnSpPr>
            <p:spPr>
              <a:xfrm>
                <a:off x="4698143" y="6204544"/>
                <a:ext cx="193847" cy="7139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0" name="Straight Arrow Connector 159"/>
          <p:cNvCxnSpPr/>
          <p:nvPr/>
        </p:nvCxnSpPr>
        <p:spPr>
          <a:xfrm>
            <a:off x="3516614" y="6241116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1" name="Group 160"/>
          <p:cNvGrpSpPr/>
          <p:nvPr/>
        </p:nvGrpSpPr>
        <p:grpSpPr>
          <a:xfrm>
            <a:off x="3733800" y="4876800"/>
            <a:ext cx="1610537" cy="1828800"/>
            <a:chOff x="3733800" y="4876800"/>
            <a:chExt cx="1610537" cy="1828800"/>
          </a:xfrm>
        </p:grpSpPr>
        <p:sp>
          <p:nvSpPr>
            <p:cNvPr id="162" name="TextBox 161"/>
            <p:cNvSpPr txBox="1"/>
            <p:nvPr/>
          </p:nvSpPr>
          <p:spPr>
            <a:xfrm>
              <a:off x="3733800" y="4876800"/>
              <a:ext cx="1610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Community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Detection</a:t>
              </a:r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4020880" y="5752994"/>
              <a:ext cx="1036376" cy="952606"/>
              <a:chOff x="3999766" y="5601492"/>
              <a:chExt cx="1036376" cy="952606"/>
            </a:xfrm>
          </p:grpSpPr>
          <p:cxnSp>
            <p:nvCxnSpPr>
              <p:cNvPr id="164" name="Straight Connector 163"/>
              <p:cNvCxnSpPr>
                <a:stCxn id="168" idx="7"/>
                <a:endCxn id="169" idx="3"/>
              </p:cNvCxnSpPr>
              <p:nvPr/>
            </p:nvCxnSpPr>
            <p:spPr>
              <a:xfrm flipV="1">
                <a:off x="4673411" y="5993688"/>
                <a:ext cx="191840" cy="151146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>
                <a:stCxn id="168" idx="3"/>
                <a:endCxn id="170" idx="0"/>
              </p:cNvCxnSpPr>
              <p:nvPr/>
            </p:nvCxnSpPr>
            <p:spPr>
              <a:xfrm flipH="1">
                <a:off x="4383136" y="6264253"/>
                <a:ext cx="170855" cy="12096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>
                <a:stCxn id="168" idx="2"/>
                <a:endCxn id="167" idx="6"/>
              </p:cNvCxnSpPr>
              <p:nvPr/>
            </p:nvCxnSpPr>
            <p:spPr>
              <a:xfrm flipH="1">
                <a:off x="4168650" y="6204544"/>
                <a:ext cx="360609" cy="2473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7" name="Oval 166"/>
              <p:cNvSpPr/>
              <p:nvPr/>
            </p:nvSpPr>
            <p:spPr>
              <a:xfrm>
                <a:off x="3999766" y="6144835"/>
                <a:ext cx="168884" cy="168885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4529259" y="6120101"/>
                <a:ext cx="168884" cy="168885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4840519" y="5849536"/>
                <a:ext cx="168884" cy="16888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4298694" y="6385213"/>
                <a:ext cx="168884" cy="16888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4496373" y="5601492"/>
                <a:ext cx="168884" cy="168885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172" name="Straight Connector 171"/>
              <p:cNvCxnSpPr>
                <a:stCxn id="171" idx="4"/>
                <a:endCxn id="168" idx="0"/>
              </p:cNvCxnSpPr>
              <p:nvPr/>
            </p:nvCxnSpPr>
            <p:spPr>
              <a:xfrm>
                <a:off x="4580815" y="5770377"/>
                <a:ext cx="32886" cy="3497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>
                <a:stCxn id="170" idx="6"/>
                <a:endCxn id="174" idx="3"/>
              </p:cNvCxnSpPr>
              <p:nvPr/>
            </p:nvCxnSpPr>
            <p:spPr>
              <a:xfrm flipV="1">
                <a:off x="4467578" y="6395361"/>
                <a:ext cx="424412" cy="74295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Oval 173"/>
              <p:cNvSpPr/>
              <p:nvPr/>
            </p:nvSpPr>
            <p:spPr>
              <a:xfrm>
                <a:off x="4867258" y="6251209"/>
                <a:ext cx="168884" cy="168885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4084208" y="5661201"/>
                <a:ext cx="168884" cy="168885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176" name="Straight Connector 175"/>
              <p:cNvCxnSpPr>
                <a:stCxn id="175" idx="6"/>
                <a:endCxn id="171" idx="2"/>
              </p:cNvCxnSpPr>
              <p:nvPr/>
            </p:nvCxnSpPr>
            <p:spPr>
              <a:xfrm flipV="1">
                <a:off x="4253092" y="5685935"/>
                <a:ext cx="243281" cy="59709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>
                <a:stCxn id="169" idx="4"/>
                <a:endCxn id="174" idx="0"/>
              </p:cNvCxnSpPr>
              <p:nvPr/>
            </p:nvCxnSpPr>
            <p:spPr>
              <a:xfrm>
                <a:off x="4924961" y="6018421"/>
                <a:ext cx="26739" cy="23278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>
                <a:stCxn id="175" idx="3"/>
                <a:endCxn id="167" idx="1"/>
              </p:cNvCxnSpPr>
              <p:nvPr/>
            </p:nvCxnSpPr>
            <p:spPr>
              <a:xfrm flipH="1">
                <a:off x="4024498" y="5805354"/>
                <a:ext cx="84442" cy="36421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>
                <a:stCxn id="167" idx="7"/>
                <a:endCxn id="171" idx="3"/>
              </p:cNvCxnSpPr>
              <p:nvPr/>
            </p:nvCxnSpPr>
            <p:spPr>
              <a:xfrm flipV="1">
                <a:off x="4143918" y="5745644"/>
                <a:ext cx="377187" cy="42392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>
                <a:stCxn id="175" idx="5"/>
                <a:endCxn id="168" idx="1"/>
              </p:cNvCxnSpPr>
              <p:nvPr/>
            </p:nvCxnSpPr>
            <p:spPr>
              <a:xfrm>
                <a:off x="4228360" y="5805353"/>
                <a:ext cx="325631" cy="33948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>
                <a:stCxn id="168" idx="6"/>
                <a:endCxn id="174" idx="1"/>
              </p:cNvCxnSpPr>
              <p:nvPr/>
            </p:nvCxnSpPr>
            <p:spPr>
              <a:xfrm>
                <a:off x="4698143" y="6204544"/>
                <a:ext cx="193847" cy="7139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2" name="Group 181"/>
          <p:cNvGrpSpPr/>
          <p:nvPr/>
        </p:nvGrpSpPr>
        <p:grpSpPr>
          <a:xfrm>
            <a:off x="5522468" y="4876800"/>
            <a:ext cx="1610537" cy="1804028"/>
            <a:chOff x="5522468" y="4876800"/>
            <a:chExt cx="1610537" cy="1804028"/>
          </a:xfrm>
        </p:grpSpPr>
        <p:sp>
          <p:nvSpPr>
            <p:cNvPr id="183" name="TextBox 182"/>
            <p:cNvSpPr txBox="1"/>
            <p:nvPr/>
          </p:nvSpPr>
          <p:spPr>
            <a:xfrm>
              <a:off x="5522468" y="4876800"/>
              <a:ext cx="1610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User 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Community</a:t>
              </a:r>
            </a:p>
          </p:txBody>
        </p:sp>
        <p:grpSp>
          <p:nvGrpSpPr>
            <p:cNvPr id="184" name="Group 183"/>
            <p:cNvGrpSpPr/>
            <p:nvPr/>
          </p:nvGrpSpPr>
          <p:grpSpPr>
            <a:xfrm>
              <a:off x="5870536" y="5777767"/>
              <a:ext cx="914400" cy="903061"/>
              <a:chOff x="7848600" y="2449739"/>
              <a:chExt cx="914400" cy="903061"/>
            </a:xfrm>
          </p:grpSpPr>
          <p:grpSp>
            <p:nvGrpSpPr>
              <p:cNvPr id="185" name="Group 184"/>
              <p:cNvGrpSpPr/>
              <p:nvPr/>
            </p:nvGrpSpPr>
            <p:grpSpPr>
              <a:xfrm>
                <a:off x="7848600" y="2449739"/>
                <a:ext cx="914400" cy="903061"/>
                <a:chOff x="7848600" y="2085074"/>
                <a:chExt cx="914400" cy="903061"/>
              </a:xfrm>
            </p:grpSpPr>
            <p:sp>
              <p:nvSpPr>
                <p:cNvPr id="194" name="Rectangle 193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User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95" name="Rectangle 194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Com.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196" name="Rectangle 195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197" name="Straight Connector 196"/>
                <p:cNvCxnSpPr>
                  <a:stCxn id="196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6" name="Rectangle 185"/>
              <p:cNvSpPr/>
              <p:nvPr/>
            </p:nvSpPr>
            <p:spPr>
              <a:xfrm>
                <a:off x="7848600" y="26978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7848600" y="28629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7848600" y="31840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78486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8305800" y="2697843"/>
                <a:ext cx="457200" cy="16873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8305800" y="2862932"/>
                <a:ext cx="457200" cy="16873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8305800" y="3184066"/>
                <a:ext cx="457200" cy="16873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8305800" y="3015332"/>
                <a:ext cx="457200" cy="16873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198" name="Straight Arrow Connector 197"/>
          <p:cNvCxnSpPr/>
          <p:nvPr/>
        </p:nvCxnSpPr>
        <p:spPr>
          <a:xfrm>
            <a:off x="5181600" y="622929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/>
          <p:cNvGrpSpPr/>
          <p:nvPr/>
        </p:nvGrpSpPr>
        <p:grpSpPr>
          <a:xfrm>
            <a:off x="3821414" y="2895600"/>
            <a:ext cx="1435309" cy="1843613"/>
            <a:chOff x="3821414" y="2895600"/>
            <a:chExt cx="1435309" cy="1843613"/>
          </a:xfrm>
        </p:grpSpPr>
        <p:grpSp>
          <p:nvGrpSpPr>
            <p:cNvPr id="200" name="Group 199"/>
            <p:cNvGrpSpPr/>
            <p:nvPr/>
          </p:nvGrpSpPr>
          <p:grpSpPr>
            <a:xfrm>
              <a:off x="4185886" y="3757006"/>
              <a:ext cx="706364" cy="982207"/>
              <a:chOff x="4038600" y="3429000"/>
              <a:chExt cx="706364" cy="982207"/>
            </a:xfrm>
          </p:grpSpPr>
          <p:sp>
            <p:nvSpPr>
              <p:cNvPr id="202" name="Oval 201"/>
              <p:cNvSpPr/>
              <p:nvPr/>
            </p:nvSpPr>
            <p:spPr>
              <a:xfrm>
                <a:off x="4038600" y="3429000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203" name="Straight Connector 202"/>
              <p:cNvCxnSpPr>
                <a:stCxn id="202" idx="6"/>
                <a:endCxn id="204" idx="2"/>
              </p:cNvCxnSpPr>
              <p:nvPr/>
            </p:nvCxnSpPr>
            <p:spPr>
              <a:xfrm>
                <a:off x="4207484" y="3513443"/>
                <a:ext cx="368596" cy="7718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4" name="Oval 203"/>
              <p:cNvSpPr/>
              <p:nvPr/>
            </p:nvSpPr>
            <p:spPr>
              <a:xfrm>
                <a:off x="4576080" y="3506180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5" name="Oval 204"/>
              <p:cNvSpPr/>
              <p:nvPr/>
            </p:nvSpPr>
            <p:spPr>
              <a:xfrm>
                <a:off x="4038600" y="3700107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6" name="Oval 205"/>
              <p:cNvSpPr/>
              <p:nvPr/>
            </p:nvSpPr>
            <p:spPr>
              <a:xfrm>
                <a:off x="4576080" y="3818010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4038600" y="3971214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4576080" y="4129840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09" name="Oval 208"/>
              <p:cNvSpPr/>
              <p:nvPr/>
            </p:nvSpPr>
            <p:spPr>
              <a:xfrm>
                <a:off x="4038600" y="4242322"/>
                <a:ext cx="168884" cy="168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cxnSp>
            <p:nvCxnSpPr>
              <p:cNvPr id="210" name="Straight Connector 209"/>
              <p:cNvCxnSpPr>
                <a:stCxn id="205" idx="6"/>
                <a:endCxn id="204" idx="3"/>
              </p:cNvCxnSpPr>
              <p:nvPr/>
            </p:nvCxnSpPr>
            <p:spPr>
              <a:xfrm flipV="1">
                <a:off x="4207484" y="3650332"/>
                <a:ext cx="393328" cy="134218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/>
              <p:cNvCxnSpPr>
                <a:stCxn id="207" idx="7"/>
                <a:endCxn id="204" idx="4"/>
              </p:cNvCxnSpPr>
              <p:nvPr/>
            </p:nvCxnSpPr>
            <p:spPr>
              <a:xfrm flipV="1">
                <a:off x="4182752" y="3675065"/>
                <a:ext cx="477770" cy="320882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/>
              <p:cNvCxnSpPr>
                <a:stCxn id="202" idx="5"/>
                <a:endCxn id="206" idx="1"/>
              </p:cNvCxnSpPr>
              <p:nvPr/>
            </p:nvCxnSpPr>
            <p:spPr>
              <a:xfrm>
                <a:off x="4182752" y="3573152"/>
                <a:ext cx="418060" cy="269591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/>
              <p:cNvCxnSpPr>
                <a:stCxn id="209" idx="7"/>
                <a:endCxn id="206" idx="3"/>
              </p:cNvCxnSpPr>
              <p:nvPr/>
            </p:nvCxnSpPr>
            <p:spPr>
              <a:xfrm flipV="1">
                <a:off x="4182752" y="3962162"/>
                <a:ext cx="418060" cy="30489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>
                <a:stCxn id="208" idx="1"/>
                <a:endCxn id="205" idx="5"/>
              </p:cNvCxnSpPr>
              <p:nvPr/>
            </p:nvCxnSpPr>
            <p:spPr>
              <a:xfrm flipH="1" flipV="1">
                <a:off x="4182752" y="3844259"/>
                <a:ext cx="418060" cy="31031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/>
              <p:cNvCxnSpPr>
                <a:stCxn id="208" idx="2"/>
                <a:endCxn id="207" idx="5"/>
              </p:cNvCxnSpPr>
              <p:nvPr/>
            </p:nvCxnSpPr>
            <p:spPr>
              <a:xfrm flipH="1" flipV="1">
                <a:off x="4182752" y="4115366"/>
                <a:ext cx="393328" cy="98917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/>
              <p:cNvCxnSpPr>
                <a:stCxn id="206" idx="2"/>
                <a:endCxn id="207" idx="6"/>
              </p:cNvCxnSpPr>
              <p:nvPr/>
            </p:nvCxnSpPr>
            <p:spPr>
              <a:xfrm flipH="1">
                <a:off x="4207484" y="3902453"/>
                <a:ext cx="368596" cy="153204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/>
              <p:cNvCxnSpPr>
                <a:stCxn id="209" idx="6"/>
                <a:endCxn id="208" idx="3"/>
              </p:cNvCxnSpPr>
              <p:nvPr/>
            </p:nvCxnSpPr>
            <p:spPr>
              <a:xfrm flipV="1">
                <a:off x="4207484" y="4273992"/>
                <a:ext cx="393328" cy="52773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1" name="TextBox 200"/>
            <p:cNvSpPr txBox="1"/>
            <p:nvPr/>
          </p:nvSpPr>
          <p:spPr>
            <a:xfrm>
              <a:off x="3821414" y="2895600"/>
              <a:ext cx="14353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Term-Doc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Graph</a:t>
              </a:r>
            </a:p>
          </p:txBody>
        </p:sp>
      </p:grpSp>
      <p:cxnSp>
        <p:nvCxnSpPr>
          <p:cNvPr id="218" name="Straight Arrow Connector 217"/>
          <p:cNvCxnSpPr/>
          <p:nvPr/>
        </p:nvCxnSpPr>
        <p:spPr>
          <a:xfrm>
            <a:off x="3352800" y="3721796"/>
            <a:ext cx="457200" cy="3168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/>
          <p:cNvGrpSpPr/>
          <p:nvPr/>
        </p:nvGrpSpPr>
        <p:grpSpPr>
          <a:xfrm>
            <a:off x="152400" y="4953000"/>
            <a:ext cx="1451990" cy="1727828"/>
            <a:chOff x="152400" y="4953000"/>
            <a:chExt cx="1451990" cy="1727828"/>
          </a:xfrm>
        </p:grpSpPr>
        <p:sp>
          <p:nvSpPr>
            <p:cNvPr id="220" name="TextBox 219"/>
            <p:cNvSpPr txBox="1"/>
            <p:nvPr/>
          </p:nvSpPr>
          <p:spPr>
            <a:xfrm>
              <a:off x="152400" y="4953000"/>
              <a:ext cx="14519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Discussion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Table</a:t>
              </a:r>
            </a:p>
          </p:txBody>
        </p:sp>
        <p:grpSp>
          <p:nvGrpSpPr>
            <p:cNvPr id="221" name="Group 220"/>
            <p:cNvGrpSpPr/>
            <p:nvPr/>
          </p:nvGrpSpPr>
          <p:grpSpPr>
            <a:xfrm>
              <a:off x="421195" y="5777767"/>
              <a:ext cx="914400" cy="903061"/>
              <a:chOff x="8001000" y="2602139"/>
              <a:chExt cx="914400" cy="903061"/>
            </a:xfrm>
          </p:grpSpPr>
          <p:grpSp>
            <p:nvGrpSpPr>
              <p:cNvPr id="222" name="Group 221"/>
              <p:cNvGrpSpPr/>
              <p:nvPr/>
            </p:nvGrpSpPr>
            <p:grpSpPr>
              <a:xfrm>
                <a:off x="8001000" y="2602139"/>
                <a:ext cx="914400" cy="903061"/>
                <a:chOff x="7848600" y="2085074"/>
                <a:chExt cx="914400" cy="903061"/>
              </a:xfrm>
            </p:grpSpPr>
            <p:sp>
              <p:nvSpPr>
                <p:cNvPr id="231" name="Rectangle 230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User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232" name="Rectangle 231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Disc.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233" name="Rectangle 232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234" name="Straight Connector 233"/>
                <p:cNvCxnSpPr>
                  <a:stCxn id="233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3" name="Rectangle 222"/>
              <p:cNvSpPr/>
              <p:nvPr/>
            </p:nvSpPr>
            <p:spPr>
              <a:xfrm>
                <a:off x="8001000" y="28502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4" name="Rectangle 223"/>
              <p:cNvSpPr/>
              <p:nvPr/>
            </p:nvSpPr>
            <p:spPr>
              <a:xfrm>
                <a:off x="80010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8001000" y="33364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8001000" y="31677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8458200" y="2850243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8" name="Rectangle 227"/>
              <p:cNvSpPr/>
              <p:nvPr/>
            </p:nvSpPr>
            <p:spPr>
              <a:xfrm>
                <a:off x="8458200" y="30153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8458200" y="3336466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8458200" y="3167732"/>
                <a:ext cx="457200" cy="1687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235" name="Straight Arrow Connector 234"/>
          <p:cNvCxnSpPr/>
          <p:nvPr/>
        </p:nvCxnSpPr>
        <p:spPr>
          <a:xfrm flipH="1">
            <a:off x="860688" y="4128493"/>
            <a:ext cx="12624" cy="93313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/>
          <p:cNvGrpSpPr/>
          <p:nvPr/>
        </p:nvGrpSpPr>
        <p:grpSpPr>
          <a:xfrm>
            <a:off x="7443595" y="4876800"/>
            <a:ext cx="1610537" cy="1804028"/>
            <a:chOff x="7443595" y="4876800"/>
            <a:chExt cx="1610537" cy="1804028"/>
          </a:xfrm>
        </p:grpSpPr>
        <p:sp>
          <p:nvSpPr>
            <p:cNvPr id="237" name="TextBox 236"/>
            <p:cNvSpPr txBox="1"/>
            <p:nvPr/>
          </p:nvSpPr>
          <p:spPr>
            <a:xfrm>
              <a:off x="7443595" y="4876800"/>
              <a:ext cx="1610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Community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Topic</a:t>
              </a:r>
            </a:p>
          </p:txBody>
        </p:sp>
        <p:grpSp>
          <p:nvGrpSpPr>
            <p:cNvPr id="238" name="Group 237"/>
            <p:cNvGrpSpPr/>
            <p:nvPr/>
          </p:nvGrpSpPr>
          <p:grpSpPr>
            <a:xfrm>
              <a:off x="7791663" y="5777767"/>
              <a:ext cx="914400" cy="903061"/>
              <a:chOff x="7848600" y="2449739"/>
              <a:chExt cx="914400" cy="903061"/>
            </a:xfrm>
          </p:grpSpPr>
          <p:grpSp>
            <p:nvGrpSpPr>
              <p:cNvPr id="239" name="Group 238"/>
              <p:cNvGrpSpPr/>
              <p:nvPr/>
            </p:nvGrpSpPr>
            <p:grpSpPr>
              <a:xfrm>
                <a:off x="7848600" y="2449739"/>
                <a:ext cx="914400" cy="903061"/>
                <a:chOff x="7848600" y="2085074"/>
                <a:chExt cx="914400" cy="903061"/>
              </a:xfrm>
            </p:grpSpPr>
            <p:sp>
              <p:nvSpPr>
                <p:cNvPr id="248" name="Rectangle 247"/>
                <p:cNvSpPr/>
                <p:nvPr/>
              </p:nvSpPr>
              <p:spPr>
                <a:xfrm>
                  <a:off x="78486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Topic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249" name="Rectangle 248"/>
                <p:cNvSpPr/>
                <p:nvPr/>
              </p:nvSpPr>
              <p:spPr>
                <a:xfrm>
                  <a:off x="8305800" y="2085074"/>
                  <a:ext cx="457200" cy="232534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 smtClean="0">
                      <a:solidFill>
                        <a:prstClr val="white"/>
                      </a:solidFill>
                      <a:latin typeface="Gill Sans Light"/>
                      <a:cs typeface="Gill Sans Light"/>
                    </a:rPr>
                    <a:t>Com.</a:t>
                  </a:r>
                  <a:endParaRPr lang="en-US" sz="1400" dirty="0">
                    <a:solidFill>
                      <a:prstClr val="white"/>
                    </a:solidFill>
                    <a:latin typeface="Gill Sans Light"/>
                    <a:cs typeface="Gill Sans Light"/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>
                <a:xfrm>
                  <a:off x="7848600" y="2085075"/>
                  <a:ext cx="914400" cy="90306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black"/>
                    </a:solidFill>
                    <a:latin typeface="Corbel"/>
                  </a:endParaRPr>
                </a:p>
              </p:txBody>
            </p:sp>
            <p:cxnSp>
              <p:nvCxnSpPr>
                <p:cNvPr id="251" name="Straight Connector 250"/>
                <p:cNvCxnSpPr>
                  <a:stCxn id="250" idx="0"/>
                </p:cNvCxnSpPr>
                <p:nvPr/>
              </p:nvCxnSpPr>
              <p:spPr>
                <a:xfrm>
                  <a:off x="8305800" y="2085075"/>
                  <a:ext cx="0" cy="27955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0" name="Rectangle 239"/>
              <p:cNvSpPr/>
              <p:nvPr/>
            </p:nvSpPr>
            <p:spPr>
              <a:xfrm>
                <a:off x="7848600" y="2697843"/>
                <a:ext cx="457200" cy="16873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1" name="Rectangle 240"/>
              <p:cNvSpPr/>
              <p:nvPr/>
            </p:nvSpPr>
            <p:spPr>
              <a:xfrm>
                <a:off x="7848600" y="2862932"/>
                <a:ext cx="457200" cy="16873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2" name="Rectangle 241"/>
              <p:cNvSpPr/>
              <p:nvPr/>
            </p:nvSpPr>
            <p:spPr>
              <a:xfrm>
                <a:off x="7848600" y="3184066"/>
                <a:ext cx="457200" cy="168734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3" name="Rectangle 242"/>
              <p:cNvSpPr/>
              <p:nvPr/>
            </p:nvSpPr>
            <p:spPr>
              <a:xfrm>
                <a:off x="7848600" y="3015332"/>
                <a:ext cx="457200" cy="168734"/>
              </a:xfrm>
              <a:prstGeom prst="rect">
                <a:avLst/>
              </a:prstGeom>
              <a:solidFill>
                <a:srgbClr val="3366FF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4" name="Rectangle 243"/>
              <p:cNvSpPr/>
              <p:nvPr/>
            </p:nvSpPr>
            <p:spPr>
              <a:xfrm>
                <a:off x="8305800" y="2697843"/>
                <a:ext cx="457200" cy="16873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>
              <a:xfrm>
                <a:off x="8305800" y="2862932"/>
                <a:ext cx="457200" cy="16873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6" name="Rectangle 245"/>
              <p:cNvSpPr/>
              <p:nvPr/>
            </p:nvSpPr>
            <p:spPr>
              <a:xfrm>
                <a:off x="8305800" y="3184066"/>
                <a:ext cx="457200" cy="16873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247" name="Rectangle 246"/>
              <p:cNvSpPr/>
              <p:nvPr/>
            </p:nvSpPr>
            <p:spPr>
              <a:xfrm>
                <a:off x="8305800" y="3015332"/>
                <a:ext cx="457200" cy="16873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</p:grpSp>
      <p:cxnSp>
        <p:nvCxnSpPr>
          <p:cNvPr id="252" name="Straight Arrow Connector 251"/>
          <p:cNvCxnSpPr/>
          <p:nvPr/>
        </p:nvCxnSpPr>
        <p:spPr>
          <a:xfrm>
            <a:off x="7239000" y="6229297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/>
          <p:nvPr/>
        </p:nvCxnSpPr>
        <p:spPr>
          <a:xfrm>
            <a:off x="6980605" y="4800600"/>
            <a:ext cx="486995" cy="589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9353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0787" y="990600"/>
            <a:ext cx="8840813" cy="5796159"/>
            <a:chOff x="150787" y="990600"/>
            <a:chExt cx="8840813" cy="5796159"/>
          </a:xfrm>
        </p:grpSpPr>
        <p:sp>
          <p:nvSpPr>
            <p:cNvPr id="3" name="Rounded Rectangle 2"/>
            <p:cNvSpPr/>
            <p:nvPr/>
          </p:nvSpPr>
          <p:spPr>
            <a:xfrm>
              <a:off x="152400" y="4520194"/>
              <a:ext cx="3755833" cy="2109206"/>
            </a:xfrm>
            <a:prstGeom prst="roundRect">
              <a:avLst>
                <a:gd name="adj" fmla="val 12081"/>
              </a:avLst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r"/>
              <a:r>
                <a:rPr lang="en-US" dirty="0" smtClean="0">
                  <a:latin typeface="Gill Sans Light"/>
                  <a:cs typeface="Gill Sans Light"/>
                </a:rPr>
                <a:t>Part. 2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52400" y="1853194"/>
              <a:ext cx="3755833" cy="2109206"/>
            </a:xfrm>
            <a:prstGeom prst="roundRect">
              <a:avLst>
                <a:gd name="adj" fmla="val 12081"/>
              </a:avLst>
            </a:prstGeom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r"/>
              <a:r>
                <a:rPr lang="en-US" dirty="0" smtClean="0">
                  <a:latin typeface="Gill Sans Light"/>
                  <a:cs typeface="Gill Sans Light"/>
                </a:rPr>
                <a:t>Part. 1</a:t>
              </a:r>
              <a:endParaRPr lang="en-US" dirty="0">
                <a:latin typeface="Gill Sans Light"/>
                <a:cs typeface="Gill Sans Light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4191000" y="990600"/>
              <a:ext cx="1295400" cy="5791052"/>
              <a:chOff x="4191000" y="1138090"/>
              <a:chExt cx="1752600" cy="5567510"/>
            </a:xfrm>
          </p:grpSpPr>
          <p:sp>
            <p:nvSpPr>
              <p:cNvPr id="131" name="Rectangle 130"/>
              <p:cNvSpPr/>
              <p:nvPr/>
            </p:nvSpPr>
            <p:spPr>
              <a:xfrm>
                <a:off x="4191000" y="1143000"/>
                <a:ext cx="1752600" cy="5562600"/>
              </a:xfrm>
              <a:prstGeom prst="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4191000" y="1138090"/>
                <a:ext cx="1752600" cy="120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solidFill>
                      <a:prstClr val="black"/>
                    </a:solidFill>
                    <a:latin typeface="Gill Sans Light"/>
                    <a:cs typeface="Gill Sans Light"/>
                  </a:rPr>
                  <a:t>Vertex Table (RDD)</a:t>
                </a:r>
                <a:endParaRPr lang="en-US" dirty="0">
                  <a:solidFill>
                    <a:prstClr val="black"/>
                  </a:solidFill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07509" y="1971274"/>
              <a:ext cx="3459480" cy="1756352"/>
              <a:chOff x="457200" y="2287562"/>
              <a:chExt cx="3459480" cy="1756352"/>
            </a:xfrm>
          </p:grpSpPr>
          <p:cxnSp>
            <p:nvCxnSpPr>
              <p:cNvPr id="119" name="Straight Connector 118"/>
              <p:cNvCxnSpPr/>
              <p:nvPr/>
            </p:nvCxnSpPr>
            <p:spPr>
              <a:xfrm flipH="1" flipV="1">
                <a:off x="762000" y="2619510"/>
                <a:ext cx="762000" cy="133526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1600200" y="2619510"/>
                <a:ext cx="914400" cy="133526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762000" y="2619510"/>
                <a:ext cx="17526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2514600" y="2619510"/>
                <a:ext cx="1066800" cy="133526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3" name="Oval 122"/>
              <p:cNvSpPr/>
              <p:nvPr/>
            </p:nvSpPr>
            <p:spPr>
              <a:xfrm>
                <a:off x="457200" y="2287562"/>
                <a:ext cx="640080" cy="640080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rgbClr val="FFFFFF"/>
                    </a:solidFill>
                    <a:latin typeface="Gill Sans Light"/>
                    <a:cs typeface="Gill Sans Light"/>
                  </a:rPr>
                  <a:t>B</a:t>
                </a:r>
                <a:endParaRPr lang="en-US" sz="2800" dirty="0">
                  <a:solidFill>
                    <a:srgbClr val="FFFFFF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209800" y="2287562"/>
                <a:ext cx="640080" cy="640080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rgbClr val="FFFFFF"/>
                    </a:solidFill>
                    <a:latin typeface="Gill Sans Light"/>
                    <a:cs typeface="Gill Sans Light"/>
                  </a:rPr>
                  <a:t>C</a:t>
                </a:r>
              </a:p>
            </p:txBody>
          </p:sp>
          <p:sp>
            <p:nvSpPr>
              <p:cNvPr id="125" name="Oval 166"/>
              <p:cNvSpPr/>
              <p:nvPr/>
            </p:nvSpPr>
            <p:spPr>
              <a:xfrm>
                <a:off x="1234440" y="3723874"/>
                <a:ext cx="640080" cy="320040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0 w 640080"/>
                  <a:gd name="connsiteY0" fmla="*/ 320040 h 320040"/>
                  <a:gd name="connsiteX1" fmla="*/ 320040 w 640080"/>
                  <a:gd name="connsiteY1" fmla="*/ 0 h 320040"/>
                  <a:gd name="connsiteX2" fmla="*/ 640080 w 640080"/>
                  <a:gd name="connsiteY2" fmla="*/ 320040 h 320040"/>
                  <a:gd name="connsiteX3" fmla="*/ 0 w 640080"/>
                  <a:gd name="connsiteY3" fmla="*/ 32004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0080" h="320040">
                    <a:moveTo>
                      <a:pt x="0" y="320040"/>
                    </a:moveTo>
                    <a:cubicBezTo>
                      <a:pt x="0" y="143287"/>
                      <a:pt x="143287" y="0"/>
                      <a:pt x="320040" y="0"/>
                    </a:cubicBezTo>
                    <a:cubicBezTo>
                      <a:pt x="496793" y="0"/>
                      <a:pt x="640080" y="143287"/>
                      <a:pt x="640080" y="320040"/>
                    </a:cubicBezTo>
                    <a:cubicBezTo>
                      <a:pt x="586740" y="373380"/>
                      <a:pt x="53340" y="373380"/>
                      <a:pt x="0" y="32004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rgbClr val="FFFFFF"/>
                    </a:solidFill>
                    <a:latin typeface="Gill Sans Light"/>
                    <a:cs typeface="Gill Sans Light"/>
                  </a:rPr>
                  <a:t>A</a:t>
                </a:r>
                <a:endParaRPr lang="en-US" sz="2800" dirty="0">
                  <a:solidFill>
                    <a:srgbClr val="FFFFFF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26" name="Oval 166"/>
              <p:cNvSpPr/>
              <p:nvPr/>
            </p:nvSpPr>
            <p:spPr>
              <a:xfrm>
                <a:off x="3276600" y="3723874"/>
                <a:ext cx="640080" cy="320040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0 w 640080"/>
                  <a:gd name="connsiteY0" fmla="*/ 320040 h 320040"/>
                  <a:gd name="connsiteX1" fmla="*/ 320040 w 640080"/>
                  <a:gd name="connsiteY1" fmla="*/ 0 h 320040"/>
                  <a:gd name="connsiteX2" fmla="*/ 640080 w 640080"/>
                  <a:gd name="connsiteY2" fmla="*/ 320040 h 320040"/>
                  <a:gd name="connsiteX3" fmla="*/ 0 w 640080"/>
                  <a:gd name="connsiteY3" fmla="*/ 32004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0080" h="320040">
                    <a:moveTo>
                      <a:pt x="0" y="320040"/>
                    </a:moveTo>
                    <a:cubicBezTo>
                      <a:pt x="0" y="143287"/>
                      <a:pt x="143287" y="0"/>
                      <a:pt x="320040" y="0"/>
                    </a:cubicBezTo>
                    <a:cubicBezTo>
                      <a:pt x="496793" y="0"/>
                      <a:pt x="640080" y="143287"/>
                      <a:pt x="640080" y="320040"/>
                    </a:cubicBezTo>
                    <a:cubicBezTo>
                      <a:pt x="586740" y="373380"/>
                      <a:pt x="53340" y="373380"/>
                      <a:pt x="0" y="32004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rgbClr val="FFFFFF"/>
                    </a:solidFill>
                    <a:latin typeface="Gill Sans Light"/>
                    <a:cs typeface="Gill Sans Light"/>
                  </a:rPr>
                  <a:t>D</a:t>
                </a:r>
                <a:endParaRPr lang="en-US" sz="2800" dirty="0">
                  <a:solidFill>
                    <a:srgbClr val="FFFFFF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27" name="Can 126"/>
              <p:cNvSpPr/>
              <p:nvPr/>
            </p:nvSpPr>
            <p:spPr>
              <a:xfrm>
                <a:off x="1447800" y="2474194"/>
                <a:ext cx="304800" cy="228600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28" name="Can 127"/>
              <p:cNvSpPr/>
              <p:nvPr/>
            </p:nvSpPr>
            <p:spPr>
              <a:xfrm>
                <a:off x="944880" y="3160445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29" name="Can 128"/>
              <p:cNvSpPr/>
              <p:nvPr/>
            </p:nvSpPr>
            <p:spPr>
              <a:xfrm>
                <a:off x="1905000" y="3160445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30" name="Can 129"/>
              <p:cNvSpPr/>
              <p:nvPr/>
            </p:nvSpPr>
            <p:spPr>
              <a:xfrm>
                <a:off x="2967642" y="3160445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28600" y="4653739"/>
              <a:ext cx="3460552" cy="1862296"/>
              <a:chOff x="457200" y="4038600"/>
              <a:chExt cx="3460552" cy="1862296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 flipH="1">
                <a:off x="2514600" y="4181074"/>
                <a:ext cx="1066800" cy="1402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1600200" y="4181074"/>
                <a:ext cx="914400" cy="140208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62000" y="4181074"/>
                <a:ext cx="762000" cy="14630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762000" y="5583154"/>
                <a:ext cx="17526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Oval 110"/>
              <p:cNvSpPr/>
              <p:nvPr/>
            </p:nvSpPr>
            <p:spPr>
              <a:xfrm>
                <a:off x="457200" y="5260816"/>
                <a:ext cx="640080" cy="640080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chemeClr val="bg1"/>
                    </a:solidFill>
                    <a:latin typeface="Gill Sans Light"/>
                    <a:cs typeface="Gill Sans Light"/>
                  </a:rPr>
                  <a:t>F</a:t>
                </a:r>
                <a:endParaRPr lang="en-US" sz="2800" dirty="0">
                  <a:solidFill>
                    <a:schemeClr val="bg1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2209800" y="5260816"/>
                <a:ext cx="640080" cy="640080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chemeClr val="bg1"/>
                    </a:solidFill>
                    <a:latin typeface="Gill Sans Light"/>
                    <a:cs typeface="Gill Sans Light"/>
                  </a:rPr>
                  <a:t>E</a:t>
                </a:r>
                <a:endParaRPr lang="en-US" sz="2800" dirty="0">
                  <a:solidFill>
                    <a:schemeClr val="bg1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3" name="Oval 167"/>
              <p:cNvSpPr/>
              <p:nvPr/>
            </p:nvSpPr>
            <p:spPr>
              <a:xfrm>
                <a:off x="1232360" y="4038600"/>
                <a:ext cx="648976" cy="320040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0 w 648976"/>
                  <a:gd name="connsiteY0" fmla="*/ 0 h 320040"/>
                  <a:gd name="connsiteX1" fmla="*/ 640080 w 648976"/>
                  <a:gd name="connsiteY1" fmla="*/ 0 h 320040"/>
                  <a:gd name="connsiteX2" fmla="*/ 320040 w 648976"/>
                  <a:gd name="connsiteY2" fmla="*/ 320040 h 320040"/>
                  <a:gd name="connsiteX3" fmla="*/ 0 w 648976"/>
                  <a:gd name="connsiteY3" fmla="*/ 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8976" h="320040">
                    <a:moveTo>
                      <a:pt x="0" y="0"/>
                    </a:moveTo>
                    <a:cubicBezTo>
                      <a:pt x="53340" y="-53340"/>
                      <a:pt x="586740" y="-53340"/>
                      <a:pt x="640080" y="0"/>
                    </a:cubicBezTo>
                    <a:cubicBezTo>
                      <a:pt x="693420" y="53340"/>
                      <a:pt x="496793" y="320040"/>
                      <a:pt x="320040" y="320040"/>
                    </a:cubicBezTo>
                    <a:cubicBezTo>
                      <a:pt x="143287" y="320040"/>
                      <a:pt x="0" y="176753"/>
                      <a:pt x="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tIns="0" bIns="9144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chemeClr val="bg1"/>
                    </a:solidFill>
                    <a:latin typeface="Gill Sans Light"/>
                    <a:cs typeface="Gill Sans Light"/>
                  </a:rPr>
                  <a:t>A</a:t>
                </a:r>
                <a:endParaRPr lang="en-US" sz="2800" dirty="0">
                  <a:solidFill>
                    <a:schemeClr val="bg1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4" name="Oval 167"/>
              <p:cNvSpPr/>
              <p:nvPr/>
            </p:nvSpPr>
            <p:spPr>
              <a:xfrm>
                <a:off x="3268776" y="4051266"/>
                <a:ext cx="648976" cy="320040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0 w 648976"/>
                  <a:gd name="connsiteY0" fmla="*/ 0 h 320040"/>
                  <a:gd name="connsiteX1" fmla="*/ 640080 w 648976"/>
                  <a:gd name="connsiteY1" fmla="*/ 0 h 320040"/>
                  <a:gd name="connsiteX2" fmla="*/ 320040 w 648976"/>
                  <a:gd name="connsiteY2" fmla="*/ 320040 h 320040"/>
                  <a:gd name="connsiteX3" fmla="*/ 0 w 648976"/>
                  <a:gd name="connsiteY3" fmla="*/ 0 h 32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8976" h="320040">
                    <a:moveTo>
                      <a:pt x="0" y="0"/>
                    </a:moveTo>
                    <a:cubicBezTo>
                      <a:pt x="53340" y="-53340"/>
                      <a:pt x="586740" y="-53340"/>
                      <a:pt x="640080" y="0"/>
                    </a:cubicBezTo>
                    <a:cubicBezTo>
                      <a:pt x="693420" y="53340"/>
                      <a:pt x="496793" y="320040"/>
                      <a:pt x="320040" y="320040"/>
                    </a:cubicBezTo>
                    <a:cubicBezTo>
                      <a:pt x="143287" y="320040"/>
                      <a:pt x="0" y="176753"/>
                      <a:pt x="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tIns="0" bIns="9144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 smtClean="0">
                    <a:solidFill>
                      <a:schemeClr val="bg1"/>
                    </a:solidFill>
                    <a:latin typeface="Gill Sans Light"/>
                    <a:cs typeface="Gill Sans Light"/>
                  </a:rPr>
                  <a:t>D</a:t>
                </a:r>
                <a:endParaRPr lang="en-US" sz="2800" dirty="0">
                  <a:solidFill>
                    <a:schemeClr val="bg1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5" name="Can 114"/>
              <p:cNvSpPr/>
              <p:nvPr/>
            </p:nvSpPr>
            <p:spPr>
              <a:xfrm>
                <a:off x="1427867" y="5477712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6" name="Can 115"/>
              <p:cNvSpPr/>
              <p:nvPr/>
            </p:nvSpPr>
            <p:spPr>
              <a:xfrm>
                <a:off x="990600" y="4762500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7" name="Can 116"/>
              <p:cNvSpPr/>
              <p:nvPr/>
            </p:nvSpPr>
            <p:spPr>
              <a:xfrm>
                <a:off x="1905000" y="4762500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18" name="Can 117"/>
              <p:cNvSpPr/>
              <p:nvPr/>
            </p:nvSpPr>
            <p:spPr>
              <a:xfrm>
                <a:off x="2967642" y="4762500"/>
                <a:ext cx="304800" cy="228600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444221" y="1219200"/>
              <a:ext cx="2119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dirty="0" smtClean="0">
                  <a:solidFill>
                    <a:prstClr val="black"/>
                  </a:solidFill>
                  <a:latin typeface="Gill Sans Light"/>
                  <a:cs typeface="Gill Sans Light"/>
                </a:rPr>
                <a:t>Property Graph</a:t>
              </a:r>
              <a:endParaRPr lang="en-US" dirty="0">
                <a:solidFill>
                  <a:prstClr val="black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9" name="Can 8"/>
            <p:cNvSpPr/>
            <p:nvPr/>
          </p:nvSpPr>
          <p:spPr>
            <a:xfrm>
              <a:off x="588509" y="2435153"/>
              <a:ext cx="304800" cy="228600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10" name="Can 9"/>
            <p:cNvSpPr/>
            <p:nvPr/>
          </p:nvSpPr>
          <p:spPr>
            <a:xfrm>
              <a:off x="2341109" y="2438116"/>
              <a:ext cx="304800" cy="228600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11" name="Can 10"/>
            <p:cNvSpPr/>
            <p:nvPr/>
          </p:nvSpPr>
          <p:spPr>
            <a:xfrm>
              <a:off x="2362200" y="6342792"/>
              <a:ext cx="304800" cy="228600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12" name="Can 11"/>
            <p:cNvSpPr/>
            <p:nvPr/>
          </p:nvSpPr>
          <p:spPr>
            <a:xfrm>
              <a:off x="1381305" y="4586642"/>
              <a:ext cx="304800" cy="152503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13" name="Can 12"/>
            <p:cNvSpPr/>
            <p:nvPr/>
          </p:nvSpPr>
          <p:spPr>
            <a:xfrm>
              <a:off x="609600" y="6342792"/>
              <a:ext cx="304800" cy="228600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4267200" y="2281090"/>
              <a:ext cx="1143000" cy="4424510"/>
              <a:chOff x="4495800" y="2133600"/>
              <a:chExt cx="1143000" cy="4424510"/>
            </a:xfrm>
          </p:grpSpPr>
          <p:sp>
            <p:nvSpPr>
              <p:cNvPr id="105" name="Rounded Rectangle 104"/>
              <p:cNvSpPr/>
              <p:nvPr/>
            </p:nvSpPr>
            <p:spPr>
              <a:xfrm>
                <a:off x="4495800" y="2133600"/>
                <a:ext cx="1143000" cy="2181078"/>
              </a:xfrm>
              <a:prstGeom prst="roundRect">
                <a:avLst>
                  <a:gd name="adj" fmla="val 12081"/>
                </a:avLst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ounded Rectangle 105"/>
              <p:cNvSpPr/>
              <p:nvPr/>
            </p:nvSpPr>
            <p:spPr>
              <a:xfrm>
                <a:off x="4495800" y="4424510"/>
                <a:ext cx="1143000" cy="2133600"/>
              </a:xfrm>
              <a:prstGeom prst="roundRect">
                <a:avLst>
                  <a:gd name="adj" fmla="val 12081"/>
                </a:avLst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 rot="20321068" flipH="1">
              <a:off x="150787" y="3855652"/>
              <a:ext cx="113443" cy="478708"/>
              <a:chOff x="2622553" y="5181600"/>
              <a:chExt cx="144462" cy="609600"/>
            </a:xfrm>
          </p:grpSpPr>
          <p:sp>
            <p:nvSpPr>
              <p:cNvPr id="103" name="Right Triangle 102"/>
              <p:cNvSpPr/>
              <p:nvPr/>
            </p:nvSpPr>
            <p:spPr>
              <a:xfrm rot="10800000" flipH="1">
                <a:off x="2622553" y="5599113"/>
                <a:ext cx="144462" cy="192087"/>
              </a:xfrm>
              <a:prstGeom prst="rtTriangle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104" name="Can 103"/>
              <p:cNvSpPr/>
              <p:nvPr/>
            </p:nvSpPr>
            <p:spPr>
              <a:xfrm>
                <a:off x="2651126" y="5181600"/>
                <a:ext cx="76198" cy="457200"/>
              </a:xfrm>
              <a:prstGeom prst="can">
                <a:avLst>
                  <a:gd name="adj" fmla="val 45833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391400" y="990600"/>
              <a:ext cx="1600200" cy="5779852"/>
              <a:chOff x="7391400" y="990600"/>
              <a:chExt cx="1600200" cy="5779852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7391400" y="990600"/>
                <a:ext cx="1600200" cy="5779852"/>
                <a:chOff x="4191000" y="1143000"/>
                <a:chExt cx="1752600" cy="5562600"/>
              </a:xfrm>
            </p:grpSpPr>
            <p:sp>
              <p:nvSpPr>
                <p:cNvPr id="101" name="Rectangle 100"/>
                <p:cNvSpPr/>
                <p:nvPr/>
              </p:nvSpPr>
              <p:spPr>
                <a:xfrm>
                  <a:off x="4191000" y="1143000"/>
                  <a:ext cx="1752600" cy="5562600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>
                  <a:off x="4191000" y="1220272"/>
                  <a:ext cx="175260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4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dirty="0" smtClean="0">
                      <a:solidFill>
                        <a:prstClr val="black"/>
                      </a:solidFill>
                      <a:latin typeface="Gill Sans Light"/>
                      <a:cs typeface="Gill Sans Light"/>
                    </a:rPr>
                    <a:t>Edge Table </a:t>
                  </a:r>
                </a:p>
                <a:p>
                  <a:pPr algn="ctr" defTabSz="9144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dirty="0" smtClean="0">
                      <a:solidFill>
                        <a:prstClr val="black"/>
                      </a:solidFill>
                      <a:latin typeface="Gill Sans Light"/>
                      <a:cs typeface="Gill Sans Light"/>
                    </a:rPr>
                    <a:t>(RDD)</a:t>
                  </a:r>
                  <a:endParaRPr lang="en-US" dirty="0">
                    <a:solidFill>
                      <a:prstClr val="black"/>
                    </a:solidFill>
                    <a:latin typeface="Gill Sans Light"/>
                    <a:cs typeface="Gill Sans Light"/>
                  </a:endParaRPr>
                </a:p>
              </p:txBody>
            </p:sp>
          </p:grpSp>
          <p:sp>
            <p:nvSpPr>
              <p:cNvPr id="58" name="Rounded Rectangle 57"/>
              <p:cNvSpPr/>
              <p:nvPr/>
            </p:nvSpPr>
            <p:spPr>
              <a:xfrm>
                <a:off x="7487492" y="1924484"/>
                <a:ext cx="1408016" cy="2337806"/>
              </a:xfrm>
              <a:prstGeom prst="roundRect">
                <a:avLst>
                  <a:gd name="adj" fmla="val 12081"/>
                </a:avLst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7487492" y="4367794"/>
                <a:ext cx="1408016" cy="2337806"/>
              </a:xfrm>
              <a:prstGeom prst="roundRect">
                <a:avLst>
                  <a:gd name="adj" fmla="val 12081"/>
                </a:avLst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0" name="Group 59"/>
              <p:cNvGrpSpPr/>
              <p:nvPr/>
            </p:nvGrpSpPr>
            <p:grpSpPr>
              <a:xfrm>
                <a:off x="7561997" y="1981200"/>
                <a:ext cx="1259006" cy="4648200"/>
                <a:chOff x="7581878" y="1981200"/>
                <a:chExt cx="1259006" cy="4648200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7581878" y="1981200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97" name="Straight Connector 96"/>
                  <p:cNvCxnSpPr>
                    <a:stCxn id="99" idx="6"/>
                    <a:endCxn id="100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Can 97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99" name="Oval 98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A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B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2" name="Group 61"/>
                <p:cNvGrpSpPr/>
                <p:nvPr/>
              </p:nvGrpSpPr>
              <p:grpSpPr>
                <a:xfrm>
                  <a:off x="7581878" y="2563342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93" name="Straight Connector 92"/>
                  <p:cNvCxnSpPr>
                    <a:stCxn id="95" idx="6"/>
                    <a:endCxn id="96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" name="Can 93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95" name="Oval 94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A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96" name="Oval 95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C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3" name="Group 62"/>
                <p:cNvGrpSpPr/>
                <p:nvPr/>
              </p:nvGrpSpPr>
              <p:grpSpPr>
                <a:xfrm>
                  <a:off x="7581878" y="3727626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89" name="Straight Connector 88"/>
                  <p:cNvCxnSpPr>
                    <a:stCxn id="91" idx="6"/>
                    <a:endCxn id="92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Can 89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91" name="Oval 90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C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92" name="Oval 91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D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4" name="Group 63"/>
                <p:cNvGrpSpPr/>
                <p:nvPr/>
              </p:nvGrpSpPr>
              <p:grpSpPr>
                <a:xfrm>
                  <a:off x="7581878" y="3145484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85" name="Straight Connector 84"/>
                  <p:cNvCxnSpPr>
                    <a:stCxn id="87" idx="6"/>
                    <a:endCxn id="88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Can 85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87" name="Oval 86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B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88" name="Oval 87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C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5" name="Group 64"/>
                <p:cNvGrpSpPr/>
                <p:nvPr/>
              </p:nvGrpSpPr>
              <p:grpSpPr>
                <a:xfrm>
                  <a:off x="7581878" y="4462168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81" name="Straight Connector 80"/>
                  <p:cNvCxnSpPr>
                    <a:stCxn id="83" idx="6"/>
                    <a:endCxn id="84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" name="Can 81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83" name="Oval 82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A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84" name="Oval 83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E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6" name="Group 65"/>
                <p:cNvGrpSpPr/>
                <p:nvPr/>
              </p:nvGrpSpPr>
              <p:grpSpPr>
                <a:xfrm>
                  <a:off x="7581878" y="5044310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77" name="Straight Connector 76"/>
                  <p:cNvCxnSpPr>
                    <a:stCxn id="79" idx="6"/>
                    <a:endCxn id="80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Can 77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79" name="Oval 78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A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80" name="Oval 79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F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7" name="Group 66"/>
                <p:cNvGrpSpPr/>
                <p:nvPr/>
              </p:nvGrpSpPr>
              <p:grpSpPr>
                <a:xfrm>
                  <a:off x="7581878" y="6208593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73" name="Straight Connector 72"/>
                  <p:cNvCxnSpPr>
                    <a:stCxn id="75" idx="6"/>
                    <a:endCxn id="76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Can 73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75" name="Oval 74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E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76" name="Oval 75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F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  <p:grpSp>
              <p:nvGrpSpPr>
                <p:cNvPr id="68" name="Group 67"/>
                <p:cNvGrpSpPr/>
                <p:nvPr/>
              </p:nvGrpSpPr>
              <p:grpSpPr>
                <a:xfrm>
                  <a:off x="7581878" y="5626452"/>
                  <a:ext cx="1259006" cy="420807"/>
                  <a:chOff x="7656394" y="2057400"/>
                  <a:chExt cx="1259006" cy="420807"/>
                </a:xfrm>
              </p:grpSpPr>
              <p:cxnSp>
                <p:nvCxnSpPr>
                  <p:cNvPr id="69" name="Straight Connector 68"/>
                  <p:cNvCxnSpPr>
                    <a:stCxn id="71" idx="6"/>
                    <a:endCxn id="72" idx="2"/>
                  </p:cNvCxnSpPr>
                  <p:nvPr/>
                </p:nvCxnSpPr>
                <p:spPr>
                  <a:xfrm>
                    <a:off x="8077200" y="2267804"/>
                    <a:ext cx="41739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Can 69"/>
                  <p:cNvSpPr/>
                  <p:nvPr/>
                </p:nvSpPr>
                <p:spPr>
                  <a:xfrm>
                    <a:off x="8153400" y="2166790"/>
                    <a:ext cx="228600" cy="228600"/>
                  </a:xfrm>
                  <a:prstGeom prst="can">
                    <a:avLst>
                      <a:gd name="adj" fmla="val 28451"/>
                    </a:avLst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 sz="1800">
                      <a:solidFill>
                        <a:prstClr val="white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  <p:sp>
                <p:nvSpPr>
                  <p:cNvPr id="71" name="Oval 70"/>
                  <p:cNvSpPr/>
                  <p:nvPr/>
                </p:nvSpPr>
                <p:spPr>
                  <a:xfrm>
                    <a:off x="76563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E</a:t>
                    </a:r>
                  </a:p>
                </p:txBody>
              </p:sp>
              <p:sp>
                <p:nvSpPr>
                  <p:cNvPr id="72" name="Oval 71"/>
                  <p:cNvSpPr/>
                  <p:nvPr/>
                </p:nvSpPr>
                <p:spPr>
                  <a:xfrm>
                    <a:off x="8494594" y="2057400"/>
                    <a:ext cx="420806" cy="420807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 defTabSz="914400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2000" dirty="0" smtClean="0">
                        <a:solidFill>
                          <a:srgbClr val="000000"/>
                        </a:solidFill>
                        <a:latin typeface="Gill Sans Light"/>
                        <a:cs typeface="Gill Sans Light"/>
                      </a:rPr>
                      <a:t>D</a:t>
                    </a:r>
                    <a:endParaRPr lang="en-US" sz="2000" dirty="0">
                      <a:solidFill>
                        <a:srgbClr val="000000"/>
                      </a:solidFill>
                      <a:latin typeface="Gill Sans Light"/>
                      <a:cs typeface="Gill Sans Light"/>
                    </a:endParaRPr>
                  </a:p>
                </p:txBody>
              </p:sp>
            </p:grpSp>
          </p:grpSp>
        </p:grpSp>
        <p:grpSp>
          <p:nvGrpSpPr>
            <p:cNvPr id="17" name="Group 16"/>
            <p:cNvGrpSpPr/>
            <p:nvPr/>
          </p:nvGrpSpPr>
          <p:grpSpPr>
            <a:xfrm>
              <a:off x="4615571" y="2357290"/>
              <a:ext cx="450864" cy="4284613"/>
              <a:chOff x="4844171" y="2209800"/>
              <a:chExt cx="450864" cy="428461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844171" y="2975283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B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6" name="Can 45"/>
              <p:cNvSpPr/>
              <p:nvPr/>
            </p:nvSpPr>
            <p:spPr>
              <a:xfrm>
                <a:off x="5094651" y="3282195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844171" y="3740766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C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8" name="Can 47"/>
              <p:cNvSpPr/>
              <p:nvPr/>
            </p:nvSpPr>
            <p:spPr>
              <a:xfrm>
                <a:off x="5094651" y="4047678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844171" y="4506249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D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0" name="Can 49"/>
              <p:cNvSpPr/>
              <p:nvPr/>
            </p:nvSpPr>
            <p:spPr>
              <a:xfrm>
                <a:off x="5094651" y="4813161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4844171" y="5271732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E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2" name="Can 51"/>
              <p:cNvSpPr/>
              <p:nvPr/>
            </p:nvSpPr>
            <p:spPr>
              <a:xfrm>
                <a:off x="5094651" y="5578644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4844171" y="2209800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A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4" name="Can 53"/>
              <p:cNvSpPr/>
              <p:nvPr/>
            </p:nvSpPr>
            <p:spPr>
              <a:xfrm>
                <a:off x="5094651" y="2516712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844171" y="6037213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F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56" name="Can 55"/>
              <p:cNvSpPr/>
              <p:nvPr/>
            </p:nvSpPr>
            <p:spPr>
              <a:xfrm>
                <a:off x="5094651" y="6344125"/>
                <a:ext cx="200384" cy="150288"/>
              </a:xfrm>
              <a:prstGeom prst="can">
                <a:avLst>
                  <a:gd name="adj" fmla="val 28451"/>
                </a:avLst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180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791200" y="995707"/>
              <a:ext cx="1295400" cy="5791052"/>
              <a:chOff x="5791200" y="990600"/>
              <a:chExt cx="1295400" cy="5791052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5791200" y="990600"/>
                <a:ext cx="1295400" cy="5791052"/>
                <a:chOff x="4191000" y="1138090"/>
                <a:chExt cx="1752600" cy="5567510"/>
              </a:xfrm>
            </p:grpSpPr>
            <p:sp>
              <p:nvSpPr>
                <p:cNvPr id="43" name="Rectangle 42"/>
                <p:cNvSpPr/>
                <p:nvPr/>
              </p:nvSpPr>
              <p:spPr>
                <a:xfrm>
                  <a:off x="4191000" y="1143000"/>
                  <a:ext cx="1752600" cy="5562600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4191000" y="1138090"/>
                  <a:ext cx="1752600" cy="1153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4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dirty="0" smtClean="0">
                      <a:solidFill>
                        <a:prstClr val="black"/>
                      </a:solidFill>
                      <a:latin typeface="Gill Sans Light"/>
                      <a:cs typeface="Gill Sans Light"/>
                    </a:rPr>
                    <a:t>Routing</a:t>
                  </a:r>
                </a:p>
                <a:p>
                  <a:pPr algn="ctr" defTabSz="9144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dirty="0">
                      <a:solidFill>
                        <a:prstClr val="black"/>
                      </a:solidFill>
                      <a:latin typeface="Gill Sans Light"/>
                      <a:cs typeface="Gill Sans Light"/>
                    </a:rPr>
                    <a:t>T</a:t>
                  </a:r>
                  <a:r>
                    <a:rPr lang="en-US" dirty="0" smtClean="0">
                      <a:solidFill>
                        <a:prstClr val="black"/>
                      </a:solidFill>
                      <a:latin typeface="Gill Sans Light"/>
                      <a:cs typeface="Gill Sans Light"/>
                    </a:rPr>
                    <a:t>able (RDD)</a:t>
                  </a:r>
                  <a:endParaRPr lang="en-US" dirty="0">
                    <a:solidFill>
                      <a:prstClr val="black"/>
                    </a:solidFill>
                    <a:latin typeface="Gill Sans Light"/>
                    <a:cs typeface="Gill Sans Light"/>
                  </a:endParaRPr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5867400" y="2281090"/>
                <a:ext cx="1143000" cy="4424510"/>
                <a:chOff x="4495800" y="2133600"/>
                <a:chExt cx="1143000" cy="4424510"/>
              </a:xfrm>
            </p:grpSpPr>
            <p:sp>
              <p:nvSpPr>
                <p:cNvPr id="41" name="Rounded Rectangle 40"/>
                <p:cNvSpPr/>
                <p:nvPr/>
              </p:nvSpPr>
              <p:spPr>
                <a:xfrm>
                  <a:off x="4495800" y="2133600"/>
                  <a:ext cx="1143000" cy="2181078"/>
                </a:xfrm>
                <a:prstGeom prst="roundRect">
                  <a:avLst>
                    <a:gd name="adj" fmla="val 12081"/>
                  </a:avLst>
                </a:prstGeom>
                <a:ln>
                  <a:headEnd type="none" w="med" len="med"/>
                  <a:tailEnd type="none"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ounded Rectangle 41"/>
                <p:cNvSpPr/>
                <p:nvPr/>
              </p:nvSpPr>
              <p:spPr>
                <a:xfrm>
                  <a:off x="4495800" y="4424510"/>
                  <a:ext cx="1143000" cy="2133600"/>
                </a:xfrm>
                <a:prstGeom prst="roundRect">
                  <a:avLst>
                    <a:gd name="adj" fmla="val 12081"/>
                  </a:avLst>
                </a:prstGeom>
                <a:ln>
                  <a:headEnd type="none" w="med" len="med"/>
                  <a:tailEnd type="none"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Oval 24"/>
              <p:cNvSpPr/>
              <p:nvPr/>
            </p:nvSpPr>
            <p:spPr>
              <a:xfrm>
                <a:off x="5979994" y="3122773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B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979994" y="3888256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C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979994" y="4653739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D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979994" y="5419222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E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5979994" y="2357290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A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979994" y="6184703"/>
                <a:ext cx="420806" cy="4208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prstClr val="white"/>
                    </a:solidFill>
                    <a:latin typeface="Gill Sans Light"/>
                    <a:cs typeface="Gill Sans Light"/>
                  </a:rPr>
                  <a:t>F</a:t>
                </a:r>
                <a:endParaRPr lang="en-US" sz="2000" dirty="0">
                  <a:solidFill>
                    <a:prstClr val="white"/>
                  </a:solidFill>
                  <a:latin typeface="Gill Sans Light"/>
                  <a:cs typeface="Gill Sans Light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453336" y="3180101"/>
                <a:ext cx="228600" cy="325099"/>
              </a:xfrm>
              <a:prstGeom prst="rect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91440" rtlCol="0" anchor="ctr"/>
              <a:lstStyle/>
              <a:p>
                <a:pPr algn="ctr"/>
                <a:r>
                  <a:rPr lang="en-US" dirty="0" smtClean="0">
                    <a:latin typeface="Corbel"/>
                    <a:cs typeface="Corbel"/>
                  </a:rPr>
                  <a:t>1</a:t>
                </a:r>
                <a:endParaRPr lang="en-US" dirty="0">
                  <a:latin typeface="Corbel"/>
                  <a:cs typeface="Corbel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453336" y="5466101"/>
                <a:ext cx="228600" cy="325099"/>
              </a:xfrm>
              <a:prstGeom prst="rect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91440" rtlCol="0" anchor="ctr"/>
              <a:lstStyle/>
              <a:p>
                <a:pPr algn="ctr"/>
                <a:r>
                  <a:rPr lang="en-US" dirty="0">
                    <a:latin typeface="Corbel"/>
                    <a:cs typeface="Corbel"/>
                  </a:rPr>
                  <a:t>2</a:t>
                </a:r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6453336" y="2418101"/>
                <a:ext cx="480864" cy="325099"/>
                <a:chOff x="9653736" y="3827467"/>
                <a:chExt cx="480864" cy="325099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9653736" y="3827467"/>
                  <a:ext cx="228600" cy="325099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91440" rtlCol="0" anchor="ctr"/>
                <a:lstStyle/>
                <a:p>
                  <a:pPr algn="ctr"/>
                  <a:r>
                    <a:rPr lang="en-US" dirty="0" smtClean="0">
                      <a:latin typeface="Corbel"/>
                      <a:cs typeface="Corbel"/>
                    </a:rPr>
                    <a:t>1</a:t>
                  </a:r>
                  <a:endParaRPr lang="en-US" dirty="0">
                    <a:latin typeface="Corbel"/>
                    <a:cs typeface="Corbel"/>
                  </a:endParaRPr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9906000" y="3827467"/>
                  <a:ext cx="228600" cy="325099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lIns="0" tIns="0" rIns="0" bIns="91440" rtlCol="0" anchor="ctr"/>
                <a:lstStyle/>
                <a:p>
                  <a:pPr algn="ctr"/>
                  <a:r>
                    <a:rPr lang="en-US" dirty="0">
                      <a:latin typeface="Corbel"/>
                      <a:cs typeface="Corbel"/>
                    </a:rPr>
                    <a:t>2</a:t>
                  </a:r>
                </a:p>
              </p:txBody>
            </p:sp>
          </p:grpSp>
          <p:grpSp>
            <p:nvGrpSpPr>
              <p:cNvPr id="34" name="Group 33"/>
              <p:cNvGrpSpPr/>
              <p:nvPr/>
            </p:nvGrpSpPr>
            <p:grpSpPr>
              <a:xfrm>
                <a:off x="6453336" y="4708929"/>
                <a:ext cx="480864" cy="325099"/>
                <a:chOff x="9653736" y="3827467"/>
                <a:chExt cx="480864" cy="325099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653736" y="3827467"/>
                  <a:ext cx="228600" cy="325099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91440" rtlCol="0" anchor="ctr"/>
                <a:lstStyle/>
                <a:p>
                  <a:pPr algn="ctr"/>
                  <a:r>
                    <a:rPr lang="en-US" dirty="0" smtClean="0">
                      <a:latin typeface="Corbel"/>
                      <a:cs typeface="Corbel"/>
                    </a:rPr>
                    <a:t>1</a:t>
                  </a:r>
                  <a:endParaRPr lang="en-US" dirty="0">
                    <a:latin typeface="Corbel"/>
                    <a:cs typeface="Corbel"/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9906000" y="3827467"/>
                  <a:ext cx="228600" cy="325099"/>
                </a:xfrm>
                <a:prstGeom prst="rect">
                  <a:avLst/>
                </a:prstGeom>
                <a:ln>
                  <a:headEnd type="none" w="med" len="med"/>
                  <a:tailEnd type="none"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lIns="0" tIns="0" rIns="0" bIns="91440" rtlCol="0" anchor="ctr"/>
                <a:lstStyle/>
                <a:p>
                  <a:pPr algn="ctr"/>
                  <a:r>
                    <a:rPr lang="en-US" dirty="0">
                      <a:latin typeface="Corbel"/>
                      <a:cs typeface="Corbel"/>
                    </a:rPr>
                    <a:t>2</a:t>
                  </a:r>
                </a:p>
              </p:txBody>
            </p:sp>
          </p:grpSp>
          <p:sp>
            <p:nvSpPr>
              <p:cNvPr id="35" name="Rectangle 34"/>
              <p:cNvSpPr/>
              <p:nvPr/>
            </p:nvSpPr>
            <p:spPr>
              <a:xfrm>
                <a:off x="6453336" y="3937191"/>
                <a:ext cx="228600" cy="325099"/>
              </a:xfrm>
              <a:prstGeom prst="rect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91440" rtlCol="0" anchor="ctr"/>
              <a:lstStyle/>
              <a:p>
                <a:pPr algn="ctr"/>
                <a:r>
                  <a:rPr lang="en-US" dirty="0" smtClean="0">
                    <a:latin typeface="Corbel"/>
                    <a:cs typeface="Corbel"/>
                  </a:rPr>
                  <a:t>1</a:t>
                </a:r>
                <a:endParaRPr lang="en-US" dirty="0">
                  <a:latin typeface="Corbel"/>
                  <a:cs typeface="Corbel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6453336" y="6248400"/>
                <a:ext cx="228600" cy="325099"/>
              </a:xfrm>
              <a:prstGeom prst="rect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0" tIns="0" rIns="0" bIns="91440" rtlCol="0" anchor="ctr"/>
              <a:lstStyle/>
              <a:p>
                <a:pPr algn="ctr"/>
                <a:r>
                  <a:rPr lang="en-US" dirty="0">
                    <a:latin typeface="Corbel"/>
                    <a:cs typeface="Corbel"/>
                  </a:rPr>
                  <a:t>2</a:t>
                </a: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13121" y="4000503"/>
              <a:ext cx="3131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Gill Sans Light"/>
                  <a:cs typeface="Gill Sans Light"/>
                </a:rPr>
                <a:t>2D Vertex Cut Heuristic</a:t>
              </a:r>
            </a:p>
          </p:txBody>
        </p:sp>
        <p:sp>
          <p:nvSpPr>
            <p:cNvPr id="20" name="Can 19"/>
            <p:cNvSpPr/>
            <p:nvPr/>
          </p:nvSpPr>
          <p:spPr>
            <a:xfrm>
              <a:off x="1371600" y="3649963"/>
              <a:ext cx="304800" cy="152503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21" name="Can 20"/>
            <p:cNvSpPr/>
            <p:nvPr/>
          </p:nvSpPr>
          <p:spPr>
            <a:xfrm>
              <a:off x="3454062" y="4588053"/>
              <a:ext cx="304800" cy="152503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  <p:sp>
          <p:nvSpPr>
            <p:cNvPr id="22" name="Can 21"/>
            <p:cNvSpPr/>
            <p:nvPr/>
          </p:nvSpPr>
          <p:spPr>
            <a:xfrm>
              <a:off x="3444357" y="3651374"/>
              <a:ext cx="304800" cy="152503"/>
            </a:xfrm>
            <a:prstGeom prst="can">
              <a:avLst>
                <a:gd name="adj" fmla="val 28451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Gill Sans Light"/>
                <a:cs typeface="Gill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248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/>
          <p:cNvGrpSpPr/>
          <p:nvPr/>
        </p:nvGrpSpPr>
        <p:grpSpPr>
          <a:xfrm>
            <a:off x="882022" y="1601547"/>
            <a:ext cx="3277365" cy="2553765"/>
            <a:chOff x="882022" y="1570634"/>
            <a:chExt cx="3277365" cy="2553765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891629" y="2057410"/>
              <a:ext cx="1270094" cy="182879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1891629" y="2057411"/>
              <a:ext cx="1270094" cy="1828789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12" idx="6"/>
              <a:endCxn id="13" idx="2"/>
            </p:cNvCxnSpPr>
            <p:nvPr/>
          </p:nvCxnSpPr>
          <p:spPr>
            <a:xfrm>
              <a:off x="1422487" y="2969263"/>
              <a:ext cx="2196435" cy="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628937" y="1814127"/>
              <a:ext cx="540465" cy="540465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872007" y="1814127"/>
              <a:ext cx="540465" cy="54046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250472" y="2699030"/>
              <a:ext cx="540465" cy="54046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882022" y="2699030"/>
              <a:ext cx="540465" cy="540465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618922" y="2699030"/>
              <a:ext cx="540465" cy="54046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872007" y="3583934"/>
              <a:ext cx="540465" cy="540465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628937" y="3583934"/>
              <a:ext cx="540465" cy="540465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 rot="11901084">
              <a:off x="2527975" y="1570634"/>
              <a:ext cx="241783" cy="622794"/>
              <a:chOff x="1033695" y="3531726"/>
              <a:chExt cx="540447" cy="1392104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1141102" y="3531726"/>
                <a:ext cx="426250" cy="1018767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231446" y="3531726"/>
                <a:ext cx="221950" cy="1087963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 rot="20700000">
                <a:off x="1314438" y="4248332"/>
                <a:ext cx="259704" cy="67549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 rot="306903">
                <a:off x="1033695" y="4354468"/>
                <a:ext cx="248011" cy="37236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" name="Straight Connector 33"/>
            <p:cNvCxnSpPr/>
            <p:nvPr/>
          </p:nvCxnSpPr>
          <p:spPr>
            <a:xfrm flipH="1">
              <a:off x="1628939" y="2174290"/>
              <a:ext cx="858414" cy="1230223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1864605" y="3404513"/>
              <a:ext cx="1364675" cy="0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 rot="15300000">
              <a:off x="3226506" y="3068656"/>
              <a:ext cx="241783" cy="622794"/>
              <a:chOff x="1033695" y="3531726"/>
              <a:chExt cx="540447" cy="1392104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flipH="1">
                <a:off x="1141102" y="3531726"/>
                <a:ext cx="426250" cy="1018767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1231446" y="3531726"/>
                <a:ext cx="221950" cy="1087963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Oval 38"/>
              <p:cNvSpPr/>
              <p:nvPr/>
            </p:nvSpPr>
            <p:spPr>
              <a:xfrm rot="20700000">
                <a:off x="1314438" y="4248332"/>
                <a:ext cx="259704" cy="67549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 rot="306903">
                <a:off x="1033695" y="4354468"/>
                <a:ext cx="248011" cy="37236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8" name="Group 47"/>
          <p:cNvGrpSpPr/>
          <p:nvPr/>
        </p:nvGrpSpPr>
        <p:grpSpPr>
          <a:xfrm>
            <a:off x="5141978" y="1557124"/>
            <a:ext cx="3277365" cy="2598188"/>
            <a:chOff x="5141978" y="1557124"/>
            <a:chExt cx="3277365" cy="2598188"/>
          </a:xfrm>
        </p:grpSpPr>
        <p:cxnSp>
          <p:nvCxnSpPr>
            <p:cNvPr id="2" name="Straight Connector 1"/>
            <p:cNvCxnSpPr/>
            <p:nvPr/>
          </p:nvCxnSpPr>
          <p:spPr>
            <a:xfrm>
              <a:off x="6172200" y="2133600"/>
              <a:ext cx="609600" cy="838200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Connector 2"/>
            <p:cNvCxnSpPr/>
            <p:nvPr/>
          </p:nvCxnSpPr>
          <p:spPr>
            <a:xfrm flipV="1">
              <a:off x="6172200" y="3000176"/>
              <a:ext cx="615645" cy="886024"/>
            </a:xfrm>
            <a:prstGeom prst="line">
              <a:avLst/>
            </a:prstGeom>
            <a:ln>
              <a:solidFill>
                <a:schemeClr val="accent6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/>
            <p:cNvCxnSpPr/>
            <p:nvPr/>
          </p:nvCxnSpPr>
          <p:spPr>
            <a:xfrm>
              <a:off x="6787845" y="2971800"/>
              <a:ext cx="603555" cy="914400"/>
            </a:xfrm>
            <a:prstGeom prst="line">
              <a:avLst/>
            </a:prstGeom>
            <a:ln>
              <a:solidFill>
                <a:schemeClr val="accent6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V="1">
              <a:off x="6787845" y="2133600"/>
              <a:ext cx="603555" cy="866576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4" idx="6"/>
              <a:endCxn id="26" idx="2"/>
            </p:cNvCxnSpPr>
            <p:nvPr/>
          </p:nvCxnSpPr>
          <p:spPr>
            <a:xfrm>
              <a:off x="7050893" y="3000176"/>
              <a:ext cx="827985" cy="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5888893" y="1845040"/>
              <a:ext cx="540465" cy="540465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7131963" y="1845040"/>
              <a:ext cx="540465" cy="54046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510428" y="2729943"/>
              <a:ext cx="540465" cy="540465"/>
            </a:xfrm>
            <a:prstGeom prst="ellipse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5141978" y="2729943"/>
              <a:ext cx="540465" cy="540465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7878878" y="2729943"/>
              <a:ext cx="540465" cy="54046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7131963" y="3614847"/>
              <a:ext cx="540465" cy="540465"/>
            </a:xfrm>
            <a:prstGeom prst="ellipse">
              <a:avLst/>
            </a:prstGeom>
            <a:solidFill>
              <a:srgbClr val="F79646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888893" y="3614847"/>
              <a:ext cx="540465" cy="540465"/>
            </a:xfrm>
            <a:prstGeom prst="ellipse">
              <a:avLst/>
            </a:prstGeom>
            <a:solidFill>
              <a:srgbClr val="F79646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 rot="11901084">
              <a:off x="6828467" y="1557124"/>
              <a:ext cx="241783" cy="622794"/>
              <a:chOff x="1033695" y="3531726"/>
              <a:chExt cx="540447" cy="1392104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>
                <a:off x="1141102" y="3531726"/>
                <a:ext cx="426250" cy="1018767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231446" y="3531726"/>
                <a:ext cx="221950" cy="1087963"/>
              </a:xfrm>
              <a:prstGeom prst="line">
                <a:avLst/>
              </a:prstGeom>
              <a:ln w="38100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Oval 31"/>
              <p:cNvSpPr/>
              <p:nvPr/>
            </p:nvSpPr>
            <p:spPr>
              <a:xfrm rot="20700000">
                <a:off x="1314438" y="4248332"/>
                <a:ext cx="259704" cy="67549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 rot="306903">
                <a:off x="1033695" y="4354468"/>
                <a:ext cx="248011" cy="37236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/>
            <p:cNvCxnSpPr>
              <a:stCxn id="25" idx="6"/>
              <a:endCxn id="24" idx="2"/>
            </p:cNvCxnSpPr>
            <p:nvPr/>
          </p:nvCxnSpPr>
          <p:spPr>
            <a:xfrm>
              <a:off x="5682443" y="3000176"/>
              <a:ext cx="827985" cy="0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Pie 41"/>
            <p:cNvSpPr/>
            <p:nvPr/>
          </p:nvSpPr>
          <p:spPr>
            <a:xfrm>
              <a:off x="6510428" y="2729943"/>
              <a:ext cx="540465" cy="540465"/>
            </a:xfrm>
            <a:prstGeom prst="pie">
              <a:avLst>
                <a:gd name="adj1" fmla="val 8898790"/>
                <a:gd name="adj2" fmla="val 16200000"/>
              </a:avLst>
            </a:prstGeom>
            <a:solidFill>
              <a:schemeClr val="tx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Pie 42"/>
            <p:cNvSpPr/>
            <p:nvPr/>
          </p:nvSpPr>
          <p:spPr>
            <a:xfrm>
              <a:off x="6511567" y="2729943"/>
              <a:ext cx="540465" cy="540465"/>
            </a:xfrm>
            <a:prstGeom prst="pie">
              <a:avLst>
                <a:gd name="adj1" fmla="val 1687876"/>
                <a:gd name="adj2" fmla="val 8694318"/>
              </a:avLst>
            </a:prstGeom>
            <a:solidFill>
              <a:srgbClr val="F79646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/>
            <p:nvPr/>
          </p:nvCxnSpPr>
          <p:spPr>
            <a:xfrm flipH="1">
              <a:off x="6787845" y="2057410"/>
              <a:ext cx="58526" cy="942766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5985729" y="3000176"/>
              <a:ext cx="802116" cy="491791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6787845" y="3000176"/>
              <a:ext cx="884583" cy="475788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5777822" y="4506983"/>
            <a:ext cx="20056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Gill Sans Light"/>
                <a:cs typeface="Gill Sans Light"/>
              </a:rPr>
              <a:t>Vertex Cut</a:t>
            </a:r>
            <a:endParaRPr lang="en-US" sz="3200" dirty="0">
              <a:latin typeface="Gill Sans Light"/>
              <a:cs typeface="Gill Sans Ligh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78166" y="4506983"/>
            <a:ext cx="16850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Gill Sans Light"/>
                <a:cs typeface="Gill Sans Light"/>
              </a:rPr>
              <a:t>Edge Cut</a:t>
            </a:r>
            <a:endParaRPr lang="en-US" sz="3200" dirty="0">
              <a:latin typeface="Gill Sans Light"/>
              <a:cs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090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286</Words>
  <Application>Microsoft Macintosh PowerPoint</Application>
  <PresentationFormat>On-screen Show (4:3)</PresentationFormat>
  <Paragraphs>184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AMPLab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Gonzalez</dc:creator>
  <cp:lastModifiedBy>Joseph Gonzalez</cp:lastModifiedBy>
  <cp:revision>9</cp:revision>
  <dcterms:created xsi:type="dcterms:W3CDTF">2014-01-10T07:35:33Z</dcterms:created>
  <dcterms:modified xsi:type="dcterms:W3CDTF">2014-01-11T20:37:03Z</dcterms:modified>
</cp:coreProperties>
</file>